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7.png"/><Relationship Id="rId7" Type="http://schemas.openxmlformats.org/officeDocument/2006/relationships/image" Target="../media/image18.png"/><Relationship Id="rId8" Type="http://schemas.openxmlformats.org/officeDocument/2006/relationships/image" Target="../media/image10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22.png"/><Relationship Id="rId6" Type="http://schemas.openxmlformats.org/officeDocument/2006/relationships/image" Target="../media/image3.png"/><Relationship Id="rId7" Type="http://schemas.openxmlformats.org/officeDocument/2006/relationships/image" Target="../media/image11.png"/><Relationship Id="rId8" Type="http://schemas.openxmlformats.org/officeDocument/2006/relationships/image" Target="../media/image18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19.png"/><Relationship Id="rId13" Type="http://schemas.openxmlformats.org/officeDocument/2006/relationships/image" Target="../media/image14.png"/><Relationship Id="rId14" Type="http://schemas.openxmlformats.org/officeDocument/2006/relationships/image" Target="../media/image26.png"/><Relationship Id="rId15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15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Relationship Id="rId12" Type="http://schemas.openxmlformats.org/officeDocument/2006/relationships/image" Target="../media/image35.png"/><Relationship Id="rId13" Type="http://schemas.openxmlformats.org/officeDocument/2006/relationships/image" Target="../media/image36.png"/><Relationship Id="rId14" Type="http://schemas.openxmlformats.org/officeDocument/2006/relationships/image" Target="../media/image3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326880" cy="2076450"/>
          </a:xfrm>
        </p:spPr>
        <p:txBody>
          <a:bodyPr/>
          <a:lstStyle/>
          <a:p>
            <a:r>
              <a:rPr lang="en-US" sz="36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6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240280"/>
            <a:ext cx="566928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sz="1700" b="0">
                <a:solidFill>
                  <a:srgbClr val="0070C0"/>
                </a:solidFill>
                <a:latin typeface="Arial"/>
              </a:rPr>
              <a:t> SIH26263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sz="1500" b="0">
                <a:solidFill>
                  <a:srgbClr val="0070C0"/>
                </a:solidFill>
                <a:latin typeface="Arial"/>
              </a:rPr>
              <a:t> Development of an APAAR ID-Based Student Data Management and Verification Platform for AICTE-Approved Institutions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sz="1700" b="0">
                <a:solidFill>
                  <a:srgbClr val="0070C0"/>
                </a:solidFill>
                <a:latin typeface="Arial"/>
              </a:rPr>
              <a:t> Smart Automation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sz="1700" b="0">
                <a:solidFill>
                  <a:srgbClr val="0070C0"/>
                </a:solidFill>
                <a:latin typeface="Arial"/>
              </a:rPr>
              <a:t>Software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r>
              <a:rPr sz="1700" b="0">
                <a:solidFill>
                  <a:srgbClr val="0070C0"/>
                </a:solidFill>
                <a:latin typeface="Arial"/>
              </a:rPr>
              <a:t> 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sz="1700" b="0">
                <a:solidFill>
                  <a:srgbClr val="0070C0"/>
                </a:solidFill>
                <a:latin typeface="Arial"/>
              </a:rPr>
              <a:t> AI Riders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411480" y="539496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548640" y="5550408"/>
            <a:ext cx="694944" cy="69494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LuShield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527" y="5703295"/>
            <a:ext cx="389168" cy="38916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389888" y="5440680"/>
            <a:ext cx="4709160" cy="9144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VIDYA PRAMAAN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Arial"/>
              </a:rPr>
              <a:t>One student. One APAAR ID. One verifiable record.</a:t>
            </a:r>
          </a:p>
          <a:p>
            <a:pPr algn="l"/>
            <a:r>
              <a:rPr sz="1100" b="0" i="0">
                <a:solidFill>
                  <a:srgbClr val="595959"/>
                </a:solidFill>
                <a:latin typeface="Arial"/>
              </a:rPr>
              <a:t>Working prototype: </a:t>
            </a:r>
            <a:r>
              <a:rPr sz="1100" b="0" i="0">
                <a:solidFill>
                  <a:srgbClr val="0070C0"/>
                </a:solidFill>
                <a:latin typeface="Arial"/>
              </a:rPr>
              <a:t>https://vidya-pramaan-sih26263.onrender.com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274320"/>
            <a:ext cx="10972800" cy="502920"/>
          </a:xfrm>
        </p:spPr>
        <p:txBody>
          <a:bodyPr anchor="ctr" tIns="0" bIns="0"/>
          <a:lstStyle/>
          <a:p>
            <a:pPr eaLnBrk="1" hangingPunct="1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VIDYA PRAMAAN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AI Riders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2926080" y="731520"/>
            <a:ext cx="6309360" cy="31089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APAAR-linked student data, validation &amp; verification platform for AICTE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274320" y="1097280"/>
            <a:ext cx="11612880" cy="34747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700" b="1" i="0">
                <a:solidFill>
                  <a:srgbClr val="0070C0"/>
                </a:solidFill>
                <a:latin typeface="Arial"/>
              </a:rPr>
              <a:t>❖ </a:t>
            </a:r>
            <a:r>
              <a:rPr sz="1700" b="1" i="0">
                <a:solidFill>
                  <a:srgbClr val="1F3864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320040" y="1517904"/>
            <a:ext cx="4206240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Detailed explanation of the proposed solution</a:t>
            </a:r>
          </a:p>
        </p:txBody>
      </p:sp>
      <p:sp>
        <p:nvSpPr>
          <p:cNvPr id="15366" name="Oval 15365"/>
          <p:cNvSpPr/>
          <p:nvPr/>
        </p:nvSpPr>
        <p:spPr>
          <a:xfrm>
            <a:off x="1058417" y="1920240"/>
            <a:ext cx="603504" cy="603504"/>
          </a:xfrm>
          <a:prstGeom prst="ellipse">
            <a:avLst/>
          </a:prstGeom>
          <a:solidFill>
            <a:srgbClr val="E4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67" name="Picture 15366" descr="LuUploa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1188" y="2053010"/>
            <a:ext cx="337962" cy="337962"/>
          </a:xfrm>
          <a:prstGeom prst="rect">
            <a:avLst/>
          </a:prstGeom>
        </p:spPr>
      </p:pic>
      <p:cxnSp>
        <p:nvCxnSpPr>
          <p:cNvPr id="15368" name="Connector 15367"/>
          <p:cNvCxnSpPr/>
          <p:nvPr/>
        </p:nvCxnSpPr>
        <p:spPr>
          <a:xfrm>
            <a:off x="1744217" y="2221992"/>
            <a:ext cx="1129284" cy="0"/>
          </a:xfrm>
          <a:prstGeom prst="line">
            <a:avLst/>
          </a:prstGeom>
          <a:ln w="2540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9" name="TextBox 15368"/>
          <p:cNvSpPr txBox="1"/>
          <p:nvPr/>
        </p:nvSpPr>
        <p:spPr>
          <a:xfrm>
            <a:off x="411479" y="2560320"/>
            <a:ext cx="1897379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Institution upload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411479" y="2798064"/>
            <a:ext cx="1897379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Excel · CSV · ERP API</a:t>
            </a:r>
          </a:p>
        </p:txBody>
      </p:sp>
      <p:sp>
        <p:nvSpPr>
          <p:cNvPr id="15371" name="Oval 15370"/>
          <p:cNvSpPr/>
          <p:nvPr/>
        </p:nvSpPr>
        <p:spPr>
          <a:xfrm>
            <a:off x="2955798" y="1920240"/>
            <a:ext cx="603504" cy="60350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2" name="Picture 15371" descr="LuFingerprin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8568" y="2053010"/>
            <a:ext cx="337962" cy="337962"/>
          </a:xfrm>
          <a:prstGeom prst="rect">
            <a:avLst/>
          </a:prstGeom>
        </p:spPr>
      </p:pic>
      <p:cxnSp>
        <p:nvCxnSpPr>
          <p:cNvPr id="15373" name="Connector 15372"/>
          <p:cNvCxnSpPr/>
          <p:nvPr/>
        </p:nvCxnSpPr>
        <p:spPr>
          <a:xfrm>
            <a:off x="3641598" y="2221992"/>
            <a:ext cx="1129283" cy="0"/>
          </a:xfrm>
          <a:prstGeom prst="line">
            <a:avLst/>
          </a:prstGeom>
          <a:ln w="2540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4" name="TextBox 15373"/>
          <p:cNvSpPr txBox="1"/>
          <p:nvPr/>
        </p:nvSpPr>
        <p:spPr>
          <a:xfrm>
            <a:off x="2308860" y="2560320"/>
            <a:ext cx="1897379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APAAR validation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2308860" y="2798064"/>
            <a:ext cx="1897379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registry + consent</a:t>
            </a:r>
          </a:p>
        </p:txBody>
      </p:sp>
      <p:sp>
        <p:nvSpPr>
          <p:cNvPr id="15376" name="Oval 15375"/>
          <p:cNvSpPr/>
          <p:nvPr/>
        </p:nvSpPr>
        <p:spPr>
          <a:xfrm>
            <a:off x="4853177" y="1920240"/>
            <a:ext cx="603504" cy="60350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7" name="Picture 15376" descr="LuListCheck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5948" y="2053010"/>
            <a:ext cx="337962" cy="337962"/>
          </a:xfrm>
          <a:prstGeom prst="rect">
            <a:avLst/>
          </a:prstGeom>
        </p:spPr>
      </p:pic>
      <p:cxnSp>
        <p:nvCxnSpPr>
          <p:cNvPr id="15378" name="Connector 15377"/>
          <p:cNvCxnSpPr/>
          <p:nvPr/>
        </p:nvCxnSpPr>
        <p:spPr>
          <a:xfrm>
            <a:off x="5538977" y="2221992"/>
            <a:ext cx="1129284" cy="0"/>
          </a:xfrm>
          <a:prstGeom prst="line">
            <a:avLst/>
          </a:prstGeom>
          <a:ln w="2540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9" name="TextBox 15378"/>
          <p:cNvSpPr txBox="1"/>
          <p:nvPr/>
        </p:nvSpPr>
        <p:spPr>
          <a:xfrm>
            <a:off x="4206240" y="2560320"/>
            <a:ext cx="1897379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Data verification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4206240" y="2798064"/>
            <a:ext cx="1897379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31 explained rules</a:t>
            </a:r>
          </a:p>
        </p:txBody>
      </p:sp>
      <p:sp>
        <p:nvSpPr>
          <p:cNvPr id="15381" name="Oval 15380"/>
          <p:cNvSpPr/>
          <p:nvPr/>
        </p:nvSpPr>
        <p:spPr>
          <a:xfrm>
            <a:off x="6750557" y="1920240"/>
            <a:ext cx="603504" cy="60350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2" name="Picture 15381" descr="LuDatabas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3328" y="2053010"/>
            <a:ext cx="337962" cy="337962"/>
          </a:xfrm>
          <a:prstGeom prst="rect">
            <a:avLst/>
          </a:prstGeom>
        </p:spPr>
      </p:pic>
      <p:cxnSp>
        <p:nvCxnSpPr>
          <p:cNvPr id="15383" name="Connector 15382"/>
          <p:cNvCxnSpPr/>
          <p:nvPr/>
        </p:nvCxnSpPr>
        <p:spPr>
          <a:xfrm>
            <a:off x="7436358" y="2221992"/>
            <a:ext cx="1129284" cy="0"/>
          </a:xfrm>
          <a:prstGeom prst="line">
            <a:avLst/>
          </a:prstGeom>
          <a:ln w="2540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4" name="TextBox 15383"/>
          <p:cNvSpPr txBox="1"/>
          <p:nvPr/>
        </p:nvSpPr>
        <p:spPr>
          <a:xfrm>
            <a:off x="6103620" y="2560320"/>
            <a:ext cx="1897379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Central repository</a:t>
            </a:r>
          </a:p>
        </p:txBody>
      </p:sp>
      <p:sp>
        <p:nvSpPr>
          <p:cNvPr id="15385" name="TextBox 15384"/>
          <p:cNvSpPr txBox="1"/>
          <p:nvPr/>
        </p:nvSpPr>
        <p:spPr>
          <a:xfrm>
            <a:off x="6103620" y="2798064"/>
            <a:ext cx="1897379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one record per student</a:t>
            </a:r>
          </a:p>
        </p:txBody>
      </p:sp>
      <p:sp>
        <p:nvSpPr>
          <p:cNvPr id="15386" name="Oval 15385"/>
          <p:cNvSpPr/>
          <p:nvPr/>
        </p:nvSpPr>
        <p:spPr>
          <a:xfrm>
            <a:off x="8647937" y="1920240"/>
            <a:ext cx="603504" cy="60350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7" name="Picture 15386" descr="LuActivity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0708" y="2053010"/>
            <a:ext cx="337962" cy="337962"/>
          </a:xfrm>
          <a:prstGeom prst="rect">
            <a:avLst/>
          </a:prstGeom>
        </p:spPr>
      </p:pic>
      <p:cxnSp>
        <p:nvCxnSpPr>
          <p:cNvPr id="15388" name="Connector 15387"/>
          <p:cNvCxnSpPr/>
          <p:nvPr/>
        </p:nvCxnSpPr>
        <p:spPr>
          <a:xfrm>
            <a:off x="9333737" y="2221992"/>
            <a:ext cx="1129284" cy="0"/>
          </a:xfrm>
          <a:prstGeom prst="line">
            <a:avLst/>
          </a:prstGeom>
          <a:ln w="2540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9" name="TextBox 15388"/>
          <p:cNvSpPr txBox="1"/>
          <p:nvPr/>
        </p:nvSpPr>
        <p:spPr>
          <a:xfrm>
            <a:off x="8000999" y="2560320"/>
            <a:ext cx="1897379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Analytics &amp; monitoring</a:t>
            </a:r>
          </a:p>
        </p:txBody>
      </p:sp>
      <p:sp>
        <p:nvSpPr>
          <p:cNvPr id="15390" name="TextBox 15389"/>
          <p:cNvSpPr txBox="1"/>
          <p:nvPr/>
        </p:nvSpPr>
        <p:spPr>
          <a:xfrm>
            <a:off x="8000999" y="2798064"/>
            <a:ext cx="1897379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live, case by case</a:t>
            </a:r>
          </a:p>
        </p:txBody>
      </p:sp>
      <p:sp>
        <p:nvSpPr>
          <p:cNvPr id="15391" name="Oval 15390"/>
          <p:cNvSpPr/>
          <p:nvPr/>
        </p:nvSpPr>
        <p:spPr>
          <a:xfrm>
            <a:off x="10545317" y="1920240"/>
            <a:ext cx="603504" cy="603504"/>
          </a:xfrm>
          <a:prstGeom prst="ellipse">
            <a:avLst/>
          </a:prstGeom>
          <a:solidFill>
            <a:srgbClr val="E4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92" name="Picture 15391" descr="LuQrCod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78088" y="2053010"/>
            <a:ext cx="337962" cy="337962"/>
          </a:xfrm>
          <a:prstGeom prst="rect">
            <a:avLst/>
          </a:prstGeom>
        </p:spPr>
      </p:pic>
      <p:sp>
        <p:nvSpPr>
          <p:cNvPr id="15393" name="TextBox 15392"/>
          <p:cNvSpPr txBox="1"/>
          <p:nvPr/>
        </p:nvSpPr>
        <p:spPr>
          <a:xfrm>
            <a:off x="9898379" y="2560320"/>
            <a:ext cx="1897379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Authorised verification</a:t>
            </a:r>
          </a:p>
        </p:txBody>
      </p:sp>
      <p:sp>
        <p:nvSpPr>
          <p:cNvPr id="15394" name="TextBox 15393"/>
          <p:cNvSpPr txBox="1"/>
          <p:nvPr/>
        </p:nvSpPr>
        <p:spPr>
          <a:xfrm>
            <a:off x="9898379" y="2798064"/>
            <a:ext cx="1897379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consent + signed QR</a:t>
            </a:r>
          </a:p>
        </p:txBody>
      </p:sp>
      <p:sp>
        <p:nvSpPr>
          <p:cNvPr id="15395" name="Rounded Rectangle 15394"/>
          <p:cNvSpPr/>
          <p:nvPr/>
        </p:nvSpPr>
        <p:spPr>
          <a:xfrm>
            <a:off x="320040" y="3200400"/>
            <a:ext cx="5669280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320040" y="3639312"/>
            <a:ext cx="2514600" cy="548640"/>
          </a:xfrm>
          <a:prstGeom prst="roundRect">
            <a:avLst>
              <a:gd name="adj" fmla="val 16666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100" b="1" i="0">
                <a:solidFill>
                  <a:srgbClr val="B42B2B"/>
                </a:solidFill>
                <a:latin typeface="Arial"/>
              </a:rPr>
              <a:t>✖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Only totals reach AICTE; AISHE is 2–3 years late</a:t>
            </a:r>
          </a:p>
        </p:txBody>
      </p:sp>
      <p:cxnSp>
        <p:nvCxnSpPr>
          <p:cNvPr id="15397" name="Connector 15396"/>
          <p:cNvCxnSpPr/>
          <p:nvPr/>
        </p:nvCxnSpPr>
        <p:spPr>
          <a:xfrm>
            <a:off x="2880360" y="3913632"/>
            <a:ext cx="45720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8" name="Rounded Rectangle 15397"/>
          <p:cNvSpPr/>
          <p:nvPr/>
        </p:nvSpPr>
        <p:spPr>
          <a:xfrm>
            <a:off x="3383280" y="3639312"/>
            <a:ext cx="2606040" cy="548640"/>
          </a:xfrm>
          <a:prstGeom prst="roundRect">
            <a:avLst>
              <a:gd name="adj" fmla="val 16666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1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Student-level records keyed on APAAR, live</a:t>
            </a:r>
          </a:p>
        </p:txBody>
      </p:sp>
      <p:sp>
        <p:nvSpPr>
          <p:cNvPr id="15399" name="Rounded Rectangle 15398"/>
          <p:cNvSpPr/>
          <p:nvPr/>
        </p:nvSpPr>
        <p:spPr>
          <a:xfrm>
            <a:off x="320040" y="4297680"/>
            <a:ext cx="2514600" cy="548640"/>
          </a:xfrm>
          <a:prstGeom prst="roundRect">
            <a:avLst>
              <a:gd name="adj" fmla="val 16666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100" b="1" i="0">
                <a:solidFill>
                  <a:srgbClr val="B42B2B"/>
                </a:solidFill>
                <a:latin typeface="Arial"/>
              </a:rPr>
              <a:t>✖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Excess admission = 5× fee fine per student, found late</a:t>
            </a:r>
          </a:p>
        </p:txBody>
      </p:sp>
      <p:cxnSp>
        <p:nvCxnSpPr>
          <p:cNvPr id="15400" name="Connector 15399"/>
          <p:cNvCxnSpPr/>
          <p:nvPr/>
        </p:nvCxnSpPr>
        <p:spPr>
          <a:xfrm>
            <a:off x="2880360" y="4572000"/>
            <a:ext cx="45720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01" name="Rounded Rectangle 15400"/>
          <p:cNvSpPr/>
          <p:nvPr/>
        </p:nvSpPr>
        <p:spPr>
          <a:xfrm>
            <a:off x="3383280" y="4297680"/>
            <a:ext cx="2606040" cy="548640"/>
          </a:xfrm>
          <a:prstGeom prst="roundRect">
            <a:avLst>
              <a:gd name="adj" fmla="val 16666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1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Seat #61 of 60 blocked at upload and at submit</a:t>
            </a:r>
          </a:p>
        </p:txBody>
      </p:sp>
      <p:sp>
        <p:nvSpPr>
          <p:cNvPr id="15402" name="Rounded Rectangle 15401"/>
          <p:cNvSpPr/>
          <p:nvPr/>
        </p:nvSpPr>
        <p:spPr>
          <a:xfrm>
            <a:off x="320040" y="4956048"/>
            <a:ext cx="2514600" cy="548640"/>
          </a:xfrm>
          <a:prstGeom prst="roundRect">
            <a:avLst>
              <a:gd name="adj" fmla="val 16666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100" b="1" i="0">
                <a:solidFill>
                  <a:srgbClr val="B42B2B"/>
                </a:solidFill>
                <a:latin typeface="Arial"/>
              </a:rPr>
              <a:t>✖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Same student at 2 colleges; agent-filled admissions</a:t>
            </a:r>
          </a:p>
        </p:txBody>
      </p:sp>
      <p:cxnSp>
        <p:nvCxnSpPr>
          <p:cNvPr id="15403" name="Connector 15402"/>
          <p:cNvCxnSpPr/>
          <p:nvPr/>
        </p:nvCxnSpPr>
        <p:spPr>
          <a:xfrm>
            <a:off x="2880360" y="5230368"/>
            <a:ext cx="45720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04" name="Rounded Rectangle 15403"/>
          <p:cNvSpPr/>
          <p:nvPr/>
        </p:nvSpPr>
        <p:spPr>
          <a:xfrm>
            <a:off x="3383280" y="4956048"/>
            <a:ext cx="2606040" cy="548640"/>
          </a:xfrm>
          <a:prstGeom prst="roundRect">
            <a:avLst>
              <a:gd name="adj" fmla="val 16666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1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Cross-college match + shared-contact rings</a:t>
            </a:r>
          </a:p>
        </p:txBody>
      </p:sp>
      <p:sp>
        <p:nvSpPr>
          <p:cNvPr id="15405" name="Rounded Rectangle 15404"/>
          <p:cNvSpPr/>
          <p:nvPr/>
        </p:nvSpPr>
        <p:spPr>
          <a:xfrm>
            <a:off x="320040" y="5614416"/>
            <a:ext cx="2514600" cy="548640"/>
          </a:xfrm>
          <a:prstGeom prst="roundRect">
            <a:avLst>
              <a:gd name="adj" fmla="val 16666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100" b="1" i="0">
                <a:solidFill>
                  <a:srgbClr val="B42B2B"/>
                </a:solidFill>
                <a:latin typeface="Arial"/>
              </a:rPr>
              <a:t>✖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Records can't be verified at source</a:t>
            </a:r>
          </a:p>
        </p:txBody>
      </p:sp>
      <p:cxnSp>
        <p:nvCxnSpPr>
          <p:cNvPr id="15406" name="Connector 15405"/>
          <p:cNvCxnSpPr/>
          <p:nvPr/>
        </p:nvCxnSpPr>
        <p:spPr>
          <a:xfrm>
            <a:off x="2880360" y="5888736"/>
            <a:ext cx="45720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07" name="Rounded Rectangle 15406"/>
          <p:cNvSpPr/>
          <p:nvPr/>
        </p:nvSpPr>
        <p:spPr>
          <a:xfrm>
            <a:off x="3383280" y="5614416"/>
            <a:ext cx="2606040" cy="548640"/>
          </a:xfrm>
          <a:prstGeom prst="roundRect">
            <a:avLst>
              <a:gd name="adj" fmla="val 16666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1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Signed QR (checks offline) + consent for more</a:t>
            </a:r>
          </a:p>
        </p:txBody>
      </p:sp>
      <p:sp>
        <p:nvSpPr>
          <p:cNvPr id="15408" name="Rounded Rectangle 15407"/>
          <p:cNvSpPr/>
          <p:nvPr/>
        </p:nvSpPr>
        <p:spPr>
          <a:xfrm>
            <a:off x="6217920" y="3200400"/>
            <a:ext cx="5650992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409" name="Rounded Rectangle 15408"/>
          <p:cNvSpPr/>
          <p:nvPr/>
        </p:nvSpPr>
        <p:spPr>
          <a:xfrm>
            <a:off x="6217920" y="3639312"/>
            <a:ext cx="1810512" cy="1243584"/>
          </a:xfrm>
          <a:prstGeom prst="roundRect">
            <a:avLst>
              <a:gd name="adj" fmla="val 8823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0" name="Oval 15409"/>
          <p:cNvSpPr/>
          <p:nvPr/>
        </p:nvSpPr>
        <p:spPr>
          <a:xfrm>
            <a:off x="6876288" y="3730752"/>
            <a:ext cx="493776" cy="49377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11" name="Picture 15410" descr="LuUsers2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84918" y="3839382"/>
            <a:ext cx="276514" cy="276514"/>
          </a:xfrm>
          <a:prstGeom prst="rect">
            <a:avLst/>
          </a:prstGeom>
        </p:spPr>
      </p:pic>
      <p:sp>
        <p:nvSpPr>
          <p:cNvPr id="15412" name="TextBox 15411"/>
          <p:cNvSpPr txBox="1"/>
          <p:nvPr/>
        </p:nvSpPr>
        <p:spPr>
          <a:xfrm>
            <a:off x="6263640" y="4242816"/>
            <a:ext cx="1719072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Twin-safe matching</a:t>
            </a:r>
          </a:p>
        </p:txBody>
      </p:sp>
      <p:sp>
        <p:nvSpPr>
          <p:cNvPr id="15413" name="TextBox 15412"/>
          <p:cNvSpPr txBox="1"/>
          <p:nvPr/>
        </p:nvSpPr>
        <p:spPr>
          <a:xfrm>
            <a:off x="6263640" y="4489704"/>
            <a:ext cx="1719072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Mohd = Mohammed,
but Rohit ≠ Mohit</a:t>
            </a:r>
          </a:p>
        </p:txBody>
      </p:sp>
      <p:sp>
        <p:nvSpPr>
          <p:cNvPr id="15414" name="Rounded Rectangle 15413"/>
          <p:cNvSpPr/>
          <p:nvPr/>
        </p:nvSpPr>
        <p:spPr>
          <a:xfrm>
            <a:off x="8138160" y="3639312"/>
            <a:ext cx="1810512" cy="1243584"/>
          </a:xfrm>
          <a:prstGeom prst="roundRect">
            <a:avLst>
              <a:gd name="adj" fmla="val 8823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5" name="Oval 15414"/>
          <p:cNvSpPr/>
          <p:nvPr/>
        </p:nvSpPr>
        <p:spPr>
          <a:xfrm>
            <a:off x="8796528" y="3730752"/>
            <a:ext cx="493776" cy="49377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16" name="Picture 15415" descr="LuNetwork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05158" y="3839382"/>
            <a:ext cx="276514" cy="276514"/>
          </a:xfrm>
          <a:prstGeom prst="rect">
            <a:avLst/>
          </a:prstGeom>
        </p:spPr>
      </p:pic>
      <p:sp>
        <p:nvSpPr>
          <p:cNvPr id="15417" name="TextBox 15416"/>
          <p:cNvSpPr txBox="1"/>
          <p:nvPr/>
        </p:nvSpPr>
        <p:spPr>
          <a:xfrm>
            <a:off x="8183880" y="4242816"/>
            <a:ext cx="1719072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Ghost-admission map</a:t>
            </a:r>
          </a:p>
        </p:txBody>
      </p:sp>
      <p:sp>
        <p:nvSpPr>
          <p:cNvPr id="15418" name="TextBox 15417"/>
          <p:cNvSpPr txBox="1"/>
          <p:nvPr/>
        </p:nvSpPr>
        <p:spPr>
          <a:xfrm>
            <a:off x="8183880" y="4489704"/>
            <a:ext cx="1719072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1 phone, 8 students,
2 colleges: flagged</a:t>
            </a:r>
          </a:p>
        </p:txBody>
      </p:sp>
      <p:sp>
        <p:nvSpPr>
          <p:cNvPr id="15419" name="Rounded Rectangle 15418"/>
          <p:cNvSpPr/>
          <p:nvPr/>
        </p:nvSpPr>
        <p:spPr>
          <a:xfrm>
            <a:off x="10058400" y="3639312"/>
            <a:ext cx="1810512" cy="1243584"/>
          </a:xfrm>
          <a:prstGeom prst="roundRect">
            <a:avLst>
              <a:gd name="adj" fmla="val 8823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20" name="Oval 15419"/>
          <p:cNvSpPr/>
          <p:nvPr/>
        </p:nvSpPr>
        <p:spPr>
          <a:xfrm>
            <a:off x="10716768" y="3730752"/>
            <a:ext cx="493776" cy="49377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21" name="Picture 15420" descr="LuHistory_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5398" y="3839382"/>
            <a:ext cx="276514" cy="276514"/>
          </a:xfrm>
          <a:prstGeom prst="rect">
            <a:avLst/>
          </a:prstGeom>
        </p:spPr>
      </p:pic>
      <p:sp>
        <p:nvSpPr>
          <p:cNvPr id="15422" name="TextBox 15421"/>
          <p:cNvSpPr txBox="1"/>
          <p:nvPr/>
        </p:nvSpPr>
        <p:spPr>
          <a:xfrm>
            <a:off x="10104120" y="4242816"/>
            <a:ext cx="1719072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Decisions kept</a:t>
            </a:r>
          </a:p>
        </p:txBody>
      </p:sp>
      <p:sp>
        <p:nvSpPr>
          <p:cNvPr id="15423" name="TextBox 15422"/>
          <p:cNvSpPr txBox="1"/>
          <p:nvPr/>
        </p:nvSpPr>
        <p:spPr>
          <a:xfrm>
            <a:off x="10104120" y="4489704"/>
            <a:ext cx="1719072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reason required;
never re-flagged</a:t>
            </a:r>
          </a:p>
        </p:txBody>
      </p:sp>
      <p:sp>
        <p:nvSpPr>
          <p:cNvPr id="15424" name="Rounded Rectangle 15423"/>
          <p:cNvSpPr/>
          <p:nvPr/>
        </p:nvSpPr>
        <p:spPr>
          <a:xfrm>
            <a:off x="6217920" y="4992624"/>
            <a:ext cx="1810512" cy="1243584"/>
          </a:xfrm>
          <a:prstGeom prst="roundRect">
            <a:avLst>
              <a:gd name="adj" fmla="val 8823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25" name="Oval 15424"/>
          <p:cNvSpPr/>
          <p:nvPr/>
        </p:nvSpPr>
        <p:spPr>
          <a:xfrm>
            <a:off x="6876288" y="5084064"/>
            <a:ext cx="493776" cy="49377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26" name="Picture 15425" descr="LuStamp_whi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84918" y="5192694"/>
            <a:ext cx="276514" cy="276514"/>
          </a:xfrm>
          <a:prstGeom prst="rect">
            <a:avLst/>
          </a:prstGeom>
        </p:spPr>
      </p:pic>
      <p:sp>
        <p:nvSpPr>
          <p:cNvPr id="15427" name="TextBox 15426"/>
          <p:cNvSpPr txBox="1"/>
          <p:nvPr/>
        </p:nvSpPr>
        <p:spPr>
          <a:xfrm>
            <a:off x="6263640" y="5596128"/>
            <a:ext cx="1719072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Signed checkpoints</a:t>
            </a:r>
          </a:p>
        </p:txBody>
      </p:sp>
      <p:sp>
        <p:nvSpPr>
          <p:cNvPr id="15428" name="TextBox 15427"/>
          <p:cNvSpPr txBox="1"/>
          <p:nvPr/>
        </p:nvSpPr>
        <p:spPr>
          <a:xfrm>
            <a:off x="6263640" y="5843016"/>
            <a:ext cx="1719072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even a full history
rewrite is caught</a:t>
            </a:r>
          </a:p>
        </p:txBody>
      </p:sp>
      <p:sp>
        <p:nvSpPr>
          <p:cNvPr id="15429" name="Rounded Rectangle 15428"/>
          <p:cNvSpPr/>
          <p:nvPr/>
        </p:nvSpPr>
        <p:spPr>
          <a:xfrm>
            <a:off x="8138160" y="4992624"/>
            <a:ext cx="1810512" cy="1243584"/>
          </a:xfrm>
          <a:prstGeom prst="roundRect">
            <a:avLst>
              <a:gd name="adj" fmla="val 8823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0" name="Oval 15429"/>
          <p:cNvSpPr/>
          <p:nvPr/>
        </p:nvSpPr>
        <p:spPr>
          <a:xfrm>
            <a:off x="8796528" y="5084064"/>
            <a:ext cx="493776" cy="49377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31" name="Picture 15430" descr="LuScale_whi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905158" y="5192694"/>
            <a:ext cx="276514" cy="276514"/>
          </a:xfrm>
          <a:prstGeom prst="rect">
            <a:avLst/>
          </a:prstGeom>
        </p:spPr>
      </p:pic>
      <p:sp>
        <p:nvSpPr>
          <p:cNvPr id="15432" name="TextBox 15431"/>
          <p:cNvSpPr txBox="1"/>
          <p:nvPr/>
        </p:nvSpPr>
        <p:spPr>
          <a:xfrm>
            <a:off x="8183880" y="5596128"/>
            <a:ext cx="1719072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Rules as data</a:t>
            </a:r>
          </a:p>
        </p:txBody>
      </p:sp>
      <p:sp>
        <p:nvSpPr>
          <p:cNvPr id="15433" name="TextBox 15432"/>
          <p:cNvSpPr txBox="1"/>
          <p:nvPr/>
        </p:nvSpPr>
        <p:spPr>
          <a:xfrm>
            <a:off x="8183880" y="5843016"/>
            <a:ext cx="1719072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2026-27 caps by level,
each with its source</a:t>
            </a:r>
          </a:p>
        </p:txBody>
      </p:sp>
      <p:sp>
        <p:nvSpPr>
          <p:cNvPr id="15434" name="Rounded Rectangle 15433"/>
          <p:cNvSpPr/>
          <p:nvPr/>
        </p:nvSpPr>
        <p:spPr>
          <a:xfrm>
            <a:off x="10058400" y="4992624"/>
            <a:ext cx="1810512" cy="1243584"/>
          </a:xfrm>
          <a:prstGeom prst="roundRect">
            <a:avLst>
              <a:gd name="adj" fmla="val 8823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5" name="Oval 15434"/>
          <p:cNvSpPr/>
          <p:nvPr/>
        </p:nvSpPr>
        <p:spPr>
          <a:xfrm>
            <a:off x="10716768" y="5084064"/>
            <a:ext cx="493776" cy="49377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36" name="Picture 15435" descr="LuGraduationCap_whit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25398" y="5192694"/>
            <a:ext cx="276514" cy="276514"/>
          </a:xfrm>
          <a:prstGeom prst="rect">
            <a:avLst/>
          </a:prstGeom>
        </p:spPr>
      </p:pic>
      <p:sp>
        <p:nvSpPr>
          <p:cNvPr id="15437" name="TextBox 15436"/>
          <p:cNvSpPr txBox="1"/>
          <p:nvPr/>
        </p:nvSpPr>
        <p:spPr>
          <a:xfrm>
            <a:off x="10104120" y="5596128"/>
            <a:ext cx="1719072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APAAR on degrees</a:t>
            </a:r>
          </a:p>
        </p:txBody>
      </p:sp>
      <p:sp>
        <p:nvSpPr>
          <p:cNvPr id="15438" name="TextBox 15437"/>
          <p:cNvSpPr txBox="1"/>
          <p:nvPr/>
        </p:nvSpPr>
        <p:spPr>
          <a:xfrm>
            <a:off x="10104120" y="5843016"/>
            <a:ext cx="1719072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university print feed
with verification QR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AI Riders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097280"/>
            <a:ext cx="11548872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56615" y="1508760"/>
            <a:ext cx="1851660" cy="713232"/>
          </a:xfrm>
          <a:prstGeom prst="roundRect">
            <a:avLst>
              <a:gd name="adj" fmla="val 15384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Oval 17411"/>
          <p:cNvSpPr/>
          <p:nvPr/>
        </p:nvSpPr>
        <p:spPr>
          <a:xfrm>
            <a:off x="429768" y="1664208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LuServ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281" y="1752721"/>
            <a:ext cx="225308" cy="225308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868680" y="1572768"/>
            <a:ext cx="1321307" cy="31089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Python · FastAPI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68680" y="1865376"/>
            <a:ext cx="1321307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50" b="0" i="0">
                <a:solidFill>
                  <a:srgbClr val="595959"/>
                </a:solidFill>
                <a:latin typeface="Arial"/>
              </a:rPr>
              <a:t>REST · OpenAPI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281428" y="1508760"/>
            <a:ext cx="1851660" cy="713232"/>
          </a:xfrm>
          <a:prstGeom prst="roundRect">
            <a:avLst>
              <a:gd name="adj" fmla="val 15384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Oval 17416"/>
          <p:cNvSpPr/>
          <p:nvPr/>
        </p:nvSpPr>
        <p:spPr>
          <a:xfrm>
            <a:off x="2354580" y="1664208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LuAtom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3093" y="1752721"/>
            <a:ext cx="225308" cy="225308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2793492" y="1572768"/>
            <a:ext cx="1321307" cy="31089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React · TypeScript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2793492" y="1865376"/>
            <a:ext cx="1321307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50" b="0" i="0">
                <a:solidFill>
                  <a:srgbClr val="595959"/>
                </a:solidFill>
                <a:latin typeface="Arial"/>
              </a:rPr>
              <a:t>installable PWA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206240" y="1508760"/>
            <a:ext cx="1851660" cy="713232"/>
          </a:xfrm>
          <a:prstGeom prst="roundRect">
            <a:avLst>
              <a:gd name="adj" fmla="val 15384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4279392" y="1664208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LuDatabas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7905" y="1752721"/>
            <a:ext cx="225308" cy="225308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4718303" y="1572768"/>
            <a:ext cx="1321307" cy="31089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PostgreSQL 16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718303" y="1865376"/>
            <a:ext cx="1321307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50" b="0" i="0">
                <a:solidFill>
                  <a:srgbClr val="595959"/>
                </a:solidFill>
                <a:latin typeface="Arial"/>
              </a:rPr>
              <a:t>SQLite in the demo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131051" y="1508760"/>
            <a:ext cx="1851660" cy="713232"/>
          </a:xfrm>
          <a:prstGeom prst="roundRect">
            <a:avLst>
              <a:gd name="adj" fmla="val 15384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6204203" y="1664208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8" name="Picture 17427" descr="LuBrainCircui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2717" y="1752721"/>
            <a:ext cx="225308" cy="225308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6643115" y="1572768"/>
            <a:ext cx="1321307" cy="31089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scikit-learn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643115" y="1865376"/>
            <a:ext cx="1321307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50" b="0" i="0">
                <a:solidFill>
                  <a:srgbClr val="595959"/>
                </a:solidFill>
                <a:latin typeface="Arial"/>
              </a:rPr>
              <a:t>Isolation Forest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8055863" y="1508760"/>
            <a:ext cx="1851660" cy="713232"/>
          </a:xfrm>
          <a:prstGeom prst="roundRect">
            <a:avLst>
              <a:gd name="adj" fmla="val 15384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8129015" y="1664208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3" name="Picture 17432" descr="LuUsers2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7529" y="1752721"/>
            <a:ext cx="225308" cy="225308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8567928" y="1572768"/>
            <a:ext cx="1321307" cy="31089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Name matcher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8567928" y="1865376"/>
            <a:ext cx="1321307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50" b="0" i="0">
                <a:solidFill>
                  <a:srgbClr val="595959"/>
                </a:solidFill>
                <a:latin typeface="Arial"/>
              </a:rPr>
              <a:t>twin-safe · Indic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9980676" y="1508760"/>
            <a:ext cx="1851660" cy="713232"/>
          </a:xfrm>
          <a:prstGeom prst="roundRect">
            <a:avLst>
              <a:gd name="adj" fmla="val 15384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10053828" y="1664208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LuLock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2341" y="1752721"/>
            <a:ext cx="225308" cy="225308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10492740" y="1572768"/>
            <a:ext cx="1321307" cy="31089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Ed25519 · W3C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492740" y="1865376"/>
            <a:ext cx="1321307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50" b="0" i="0">
                <a:solidFill>
                  <a:srgbClr val="595959"/>
                </a:solidFill>
                <a:latin typeface="Arial"/>
              </a:rPr>
              <a:t>signed QR + audit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320040" y="2377440"/>
            <a:ext cx="11548872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320040" y="283464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1  Upload
Excel / CSV / API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1920240" y="3118104"/>
            <a:ext cx="2286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Rounded Rectangle 17443"/>
          <p:cNvSpPr/>
          <p:nvPr/>
        </p:nvSpPr>
        <p:spPr>
          <a:xfrm>
            <a:off x="2148840" y="2834640"/>
            <a:ext cx="1783080" cy="566928"/>
          </a:xfrm>
          <a:prstGeom prst="roundRect">
            <a:avLst>
              <a:gd name="adj" fmla="val 16129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2  Check 31 rules
+ APAAR registry</a:t>
            </a:r>
          </a:p>
        </p:txBody>
      </p:sp>
      <p:cxnSp>
        <p:nvCxnSpPr>
          <p:cNvPr id="17445" name="Connector 17444"/>
          <p:cNvCxnSpPr/>
          <p:nvPr/>
        </p:nvCxnSpPr>
        <p:spPr>
          <a:xfrm>
            <a:off x="3931920" y="3118104"/>
            <a:ext cx="13716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6" name="Diamond 17445"/>
          <p:cNvSpPr/>
          <p:nvPr/>
        </p:nvSpPr>
        <p:spPr>
          <a:xfrm>
            <a:off x="4069080" y="2724912"/>
            <a:ext cx="1280160" cy="786384"/>
          </a:xfrm>
          <a:prstGeom prst="diamond">
            <a:avLst/>
          </a:prstGeom>
          <a:solidFill>
            <a:srgbClr val="FDF1E6"/>
          </a:solidFill>
          <a:ln w="9525">
            <a:solidFill>
              <a:srgbClr val="E46C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/>
            <a:r>
              <a:rPr sz="1100" b="1" i="0">
                <a:solidFill>
                  <a:srgbClr val="E46C0A"/>
                </a:solidFill>
                <a:latin typeface="Arial"/>
              </a:rPr>
              <a:t>Errors?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5349240" y="3118104"/>
            <a:ext cx="91440" cy="0"/>
          </a:xfrm>
          <a:prstGeom prst="line">
            <a:avLst/>
          </a:prstGeom>
          <a:ln w="19050">
            <a:solidFill>
              <a:srgbClr val="1E7B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TextBox 17447"/>
          <p:cNvSpPr txBox="1"/>
          <p:nvPr/>
        </p:nvSpPr>
        <p:spPr>
          <a:xfrm>
            <a:off x="5102352" y="2816352"/>
            <a:ext cx="329184" cy="20116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E7B3E"/>
                </a:solidFill>
                <a:latin typeface="Arial"/>
              </a:rPr>
              <a:t>no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5440680" y="2834640"/>
            <a:ext cx="914400" cy="566928"/>
          </a:xfrm>
          <a:prstGeom prst="roundRect">
            <a:avLst>
              <a:gd name="adj" fmla="val 16129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1E7B3E"/>
                </a:solidFill>
                <a:latin typeface="Arial"/>
              </a:rPr>
              <a:t>3  Commit</a:t>
            </a:r>
          </a:p>
        </p:txBody>
      </p:sp>
      <p:cxnSp>
        <p:nvCxnSpPr>
          <p:cNvPr id="17450" name="Connector 17449"/>
          <p:cNvCxnSpPr/>
          <p:nvPr/>
        </p:nvCxnSpPr>
        <p:spPr>
          <a:xfrm>
            <a:off x="4709160" y="3511296"/>
            <a:ext cx="0" cy="256032"/>
          </a:xfrm>
          <a:prstGeom prst="line">
            <a:avLst/>
          </a:prstGeom>
          <a:ln w="19050">
            <a:solidFill>
              <a:srgbClr val="B42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1" name="TextBox 17450"/>
          <p:cNvSpPr txBox="1"/>
          <p:nvPr/>
        </p:nvSpPr>
        <p:spPr>
          <a:xfrm>
            <a:off x="4754880" y="3511296"/>
            <a:ext cx="365760" cy="20116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B42B2B"/>
                </a:solidFill>
                <a:latin typeface="Arial"/>
              </a:rPr>
              <a:t>yes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3657600" y="37673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B42B2B"/>
                </a:solidFill>
                <a:latin typeface="Arial"/>
              </a:rPr>
              <a:t>Row returned with reason</a:t>
            </a:r>
          </a:p>
        </p:txBody>
      </p:sp>
      <p:cxnSp>
        <p:nvCxnSpPr>
          <p:cNvPr id="17453" name="Connector 17452"/>
          <p:cNvCxnSpPr/>
          <p:nvPr/>
        </p:nvCxnSpPr>
        <p:spPr>
          <a:xfrm flipH="1">
            <a:off x="1115568" y="3995928"/>
            <a:ext cx="2542032" cy="0"/>
          </a:xfrm>
          <a:prstGeom prst="line">
            <a:avLst/>
          </a:prstGeom>
          <a:ln w="19050">
            <a:solidFill>
              <a:srgbClr val="B4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4" name="Connector 17453"/>
          <p:cNvCxnSpPr/>
          <p:nvPr/>
        </p:nvCxnSpPr>
        <p:spPr>
          <a:xfrm flipV="1">
            <a:off x="1115568" y="3401568"/>
            <a:ext cx="0" cy="594360"/>
          </a:xfrm>
          <a:prstGeom prst="line">
            <a:avLst/>
          </a:prstGeom>
          <a:ln w="19050">
            <a:solidFill>
              <a:srgbClr val="B42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5" name="TextBox 17454"/>
          <p:cNvSpPr txBox="1"/>
          <p:nvPr/>
        </p:nvSpPr>
        <p:spPr>
          <a:xfrm>
            <a:off x="1188720" y="3611880"/>
            <a:ext cx="1828800" cy="20116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0" i="0">
                <a:solidFill>
                  <a:srgbClr val="B42B2B"/>
                </a:solidFill>
                <a:latin typeface="Arial"/>
              </a:rPr>
              <a:t>fix &amp; re-upload</a:t>
            </a:r>
          </a:p>
        </p:txBody>
      </p:sp>
      <p:cxnSp>
        <p:nvCxnSpPr>
          <p:cNvPr id="17456" name="Connector 17455"/>
          <p:cNvCxnSpPr/>
          <p:nvPr/>
        </p:nvCxnSpPr>
        <p:spPr>
          <a:xfrm>
            <a:off x="5897880" y="3401568"/>
            <a:ext cx="0" cy="1033272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7" name="Rounded Rectangle 17456"/>
          <p:cNvSpPr/>
          <p:nvPr/>
        </p:nvSpPr>
        <p:spPr>
          <a:xfrm>
            <a:off x="4526280" y="4434840"/>
            <a:ext cx="1828800" cy="603504"/>
          </a:xfrm>
          <a:prstGeom prst="roundRect">
            <a:avLst>
              <a:gd name="adj" fmla="val 15151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4  National scan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dupes · intake · contacts</a:t>
            </a:r>
          </a:p>
        </p:txBody>
      </p:sp>
      <p:cxnSp>
        <p:nvCxnSpPr>
          <p:cNvPr id="17458" name="Connector 17457"/>
          <p:cNvCxnSpPr/>
          <p:nvPr/>
        </p:nvCxnSpPr>
        <p:spPr>
          <a:xfrm flipH="1">
            <a:off x="4251960" y="4736592"/>
            <a:ext cx="27432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9" name="Rounded Rectangle 17458"/>
          <p:cNvSpPr/>
          <p:nvPr/>
        </p:nvSpPr>
        <p:spPr>
          <a:xfrm>
            <a:off x="2423160" y="4434840"/>
            <a:ext cx="1828800" cy="603504"/>
          </a:xfrm>
          <a:prstGeom prst="roundRect">
            <a:avLst>
              <a:gd name="adj" fmla="val 15151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5  ML risk score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vs peers, with reasons</a:t>
            </a:r>
          </a:p>
        </p:txBody>
      </p:sp>
      <p:cxnSp>
        <p:nvCxnSpPr>
          <p:cNvPr id="17460" name="Connector 17459"/>
          <p:cNvCxnSpPr/>
          <p:nvPr/>
        </p:nvCxnSpPr>
        <p:spPr>
          <a:xfrm flipH="1">
            <a:off x="2148840" y="4736592"/>
            <a:ext cx="27432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1" name="Rounded Rectangle 17460"/>
          <p:cNvSpPr/>
          <p:nvPr/>
        </p:nvSpPr>
        <p:spPr>
          <a:xfrm>
            <a:off x="320040" y="4434840"/>
            <a:ext cx="1828800" cy="603504"/>
          </a:xfrm>
          <a:prstGeom prst="roundRect">
            <a:avLst>
              <a:gd name="adj" fmla="val 15151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6  Live dashboard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decisions remembered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320040" y="5349240"/>
            <a:ext cx="2880360" cy="603504"/>
          </a:xfrm>
          <a:prstGeom prst="roundRect">
            <a:avLst>
              <a:gd name="adj" fmla="val 15151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1E7B3E"/>
                </a:solidFill>
                <a:latin typeface="Arial"/>
              </a:rPr>
              <a:t>7  Student consent (OTP)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verifier sees only approved fields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3429000" y="5349240"/>
            <a:ext cx="2926080" cy="603504"/>
          </a:xfrm>
          <a:prstGeom prst="roundRect">
            <a:avLst>
              <a:gd name="adj" fmla="val 15151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1E7B3E"/>
                </a:solidFill>
                <a:latin typeface="Arial"/>
              </a:rPr>
              <a:t>8  Signed QR · degree feed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APAAR + student ID; forgery fails</a:t>
            </a:r>
          </a:p>
        </p:txBody>
      </p:sp>
      <p:cxnSp>
        <p:nvCxnSpPr>
          <p:cNvPr id="17464" name="Connector 17463"/>
          <p:cNvCxnSpPr/>
          <p:nvPr/>
        </p:nvCxnSpPr>
        <p:spPr>
          <a:xfrm>
            <a:off x="1234440" y="5038344"/>
            <a:ext cx="0" cy="310896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5" name="Connector 17464"/>
          <p:cNvCxnSpPr/>
          <p:nvPr/>
        </p:nvCxnSpPr>
        <p:spPr>
          <a:xfrm>
            <a:off x="4892040" y="5038344"/>
            <a:ext cx="0" cy="310896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6" name="Rounded Rectangle 17465"/>
          <p:cNvSpPr/>
          <p:nvPr/>
        </p:nvSpPr>
        <p:spPr>
          <a:xfrm>
            <a:off x="6601968" y="2825496"/>
            <a:ext cx="5266944" cy="2361304"/>
          </a:xfrm>
          <a:prstGeom prst="roundRect">
            <a:avLst>
              <a:gd name="adj" fmla="val 1548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7" name="Picture 17466" descr="03_upload_validation.png"/>
          <p:cNvPicPr>
            <a:picLocks noChangeAspect="1"/>
          </p:cNvPicPr>
          <p:nvPr/>
        </p:nvPicPr>
        <p:blipFill>
          <a:blip r:embed="rId10"/>
          <a:srcRect l="17800" t="5800" b="36000"/>
          <a:stretch>
            <a:fillRect/>
          </a:stretch>
        </p:blipFill>
        <p:spPr>
          <a:xfrm>
            <a:off x="6629400" y="2852928"/>
            <a:ext cx="5212080" cy="2306440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6629400" y="5214232"/>
            <a:ext cx="5212080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0" i="0">
                <a:solidFill>
                  <a:srgbClr val="595959"/>
                </a:solidFill>
                <a:latin typeface="Arial"/>
              </a:rPr>
              <a:t>Working prototype: 77-row upload → 65 accepted, 12 returned with rule codes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6601968" y="5506840"/>
            <a:ext cx="5266944" cy="756799"/>
          </a:xfrm>
          <a:prstGeom prst="roundRect">
            <a:avLst>
              <a:gd name="adj" fmla="val 14498"/>
            </a:avLst>
          </a:prstGeom>
          <a:solidFill>
            <a:srgbClr val="FDF1E6"/>
          </a:solidFill>
          <a:ln w="9525">
            <a:solidFill>
              <a:srgbClr val="E46C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0" name="Picture 17469" descr="qr_liv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93408" y="5570848"/>
            <a:ext cx="628783" cy="628783"/>
          </a:xfrm>
          <a:prstGeom prst="rect">
            <a:avLst/>
          </a:prstGeom>
        </p:spPr>
      </p:pic>
      <p:sp>
        <p:nvSpPr>
          <p:cNvPr id="17471" name="TextBox 17470"/>
          <p:cNvSpPr txBox="1"/>
          <p:nvPr/>
        </p:nvSpPr>
        <p:spPr>
          <a:xfrm>
            <a:off x="7431919" y="5552560"/>
            <a:ext cx="4206240" cy="665359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Try it live: </a:t>
            </a:r>
            <a:r>
              <a:rPr sz="1200" b="0" i="0">
                <a:solidFill>
                  <a:srgbClr val="0070C0"/>
                </a:solidFill>
                <a:latin typeface="Arial"/>
              </a:rPr>
              <a:t>https://vidya-pramaan-sih26263.onrender.com</a:t>
            </a:r>
          </a:p>
          <a:p>
            <a:pPr algn="l"/>
            <a:r>
              <a:rPr sz="1100" b="0" i="0">
                <a:solidFill>
                  <a:srgbClr val="595959"/>
                </a:solidFill>
                <a:latin typeface="Arial"/>
              </a:rPr>
              <a:t>7 demo roles · synthetic data · installable on phones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AI Riders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097280"/>
            <a:ext cx="11548872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59" y="1481328"/>
            <a:ext cx="1833372" cy="1097280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Oval 17411"/>
          <p:cNvSpPr/>
          <p:nvPr/>
        </p:nvSpPr>
        <p:spPr>
          <a:xfrm>
            <a:off x="457200" y="1572768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LuUsers2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0" y="1657258"/>
            <a:ext cx="215066" cy="215066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886968" y="1536192"/>
            <a:ext cx="128473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800" b="1" i="0">
                <a:solidFill>
                  <a:srgbClr val="1F3864"/>
                </a:solidFill>
                <a:latin typeface="Arial"/>
              </a:rPr>
              <a:t>0.79 / 0.92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57200" y="2048256"/>
            <a:ext cx="1696212" cy="51206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held-out precision / recall
(old matcher 0.65 / 0.68)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290572" y="1481328"/>
            <a:ext cx="1833372" cy="1097280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Oval 17416"/>
          <p:cNvSpPr/>
          <p:nvPr/>
        </p:nvSpPr>
        <p:spPr>
          <a:xfrm>
            <a:off x="2382012" y="1572768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LuUser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6502" y="1657258"/>
            <a:ext cx="215066" cy="215066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2811780" y="1536192"/>
            <a:ext cx="128473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100" b="1" i="0">
                <a:solidFill>
                  <a:srgbClr val="1F3864"/>
                </a:solidFill>
                <a:latin typeface="Arial"/>
              </a:rPr>
              <a:t>0 / 80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2382012" y="2048256"/>
            <a:ext cx="1696212" cy="51206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same-day twins
wrongly merged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215383" y="1481328"/>
            <a:ext cx="1833372" cy="1097280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4306824" y="1572768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LuShieldChec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1314" y="1657258"/>
            <a:ext cx="215066" cy="215066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4736592" y="1536192"/>
            <a:ext cx="128473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100" b="1" i="0">
                <a:solidFill>
                  <a:srgbClr val="1F3864"/>
                </a:solidFill>
                <a:latin typeface="Arial"/>
              </a:rPr>
              <a:t>17/17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306824" y="2048256"/>
            <a:ext cx="1696212" cy="51206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planted error types; 0 false
flags on 56 clean rows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140195" y="1481328"/>
            <a:ext cx="1833372" cy="1097280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6231636" y="1572768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8" name="Picture 17427" descr="LuNetwork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6126" y="1657258"/>
            <a:ext cx="215066" cy="215066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6661403" y="1536192"/>
            <a:ext cx="128473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800" b="1" i="0">
                <a:solidFill>
                  <a:srgbClr val="1F3864"/>
                </a:solidFill>
                <a:latin typeface="Arial"/>
              </a:rPr>
              <a:t>164 · 57 · 4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231636" y="2048256"/>
            <a:ext cx="1696212" cy="51206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planted dual enrolments,
identity dupes, contact rings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8065008" y="1481328"/>
            <a:ext cx="1833372" cy="1097280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8156448" y="1572768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3" name="Picture 17432" descr="LuBrainCircuit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0938" y="1657258"/>
            <a:ext cx="215066" cy="215066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8586215" y="1536192"/>
            <a:ext cx="128473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100" b="1" i="0">
                <a:solidFill>
                  <a:srgbClr val="1F3864"/>
                </a:solidFill>
                <a:latin typeface="Arial"/>
              </a:rPr>
              <a:t>42/46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8156448" y="2048256"/>
            <a:ext cx="1696212" cy="51206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top-ranked colleges
truly anomalous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9989820" y="1481328"/>
            <a:ext cx="1833372" cy="1097280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10081260" y="1572768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LuFlaskConical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5750" y="1657258"/>
            <a:ext cx="215066" cy="215066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10511028" y="1536192"/>
            <a:ext cx="128473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800" b="1" i="0">
                <a:solidFill>
                  <a:srgbClr val="1F3864"/>
                </a:solidFill>
                <a:latin typeface="Arial"/>
              </a:rPr>
              <a:t>58 tests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081260" y="2048256"/>
            <a:ext cx="1696212" cy="51206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SQLite + PostgreSQL 16;
7-role browser walkthrough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320040" y="2615184"/>
            <a:ext cx="11548872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Planted cases are regression checks on synthetic data, not real-world accuracy · precision / recall come from independent hand-labelled name pairs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320040" y="3035808"/>
            <a:ext cx="5486400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6382512" y="3035808"/>
            <a:ext cx="5486400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320040" y="3419856"/>
            <a:ext cx="5486400" cy="374904"/>
          </a:xfrm>
          <a:prstGeom prst="roundRect">
            <a:avLst>
              <a:gd name="adj" fmla="val 29268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Oval 17444"/>
          <p:cNvSpPr/>
          <p:nvPr/>
        </p:nvSpPr>
        <p:spPr>
          <a:xfrm>
            <a:off x="374904" y="3456432"/>
            <a:ext cx="301752" cy="301752"/>
          </a:xfrm>
          <a:prstGeom prst="ellipse">
            <a:avLst/>
          </a:prstGeom>
          <a:solidFill>
            <a:srgbClr val="B4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LuPlugZa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1289" y="3522817"/>
            <a:ext cx="168981" cy="168981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777240" y="3419856"/>
            <a:ext cx="4983480" cy="37490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No public APAAR API</a:t>
            </a:r>
          </a:p>
        </p:txBody>
      </p:sp>
      <p:cxnSp>
        <p:nvCxnSpPr>
          <p:cNvPr id="17448" name="Connector 17447"/>
          <p:cNvCxnSpPr/>
          <p:nvPr/>
        </p:nvCxnSpPr>
        <p:spPr>
          <a:xfrm>
            <a:off x="5852160" y="3602736"/>
            <a:ext cx="484632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9" name="Rounded Rectangle 17448"/>
          <p:cNvSpPr/>
          <p:nvPr/>
        </p:nvSpPr>
        <p:spPr>
          <a:xfrm>
            <a:off x="6382512" y="3419856"/>
            <a:ext cx="5486400" cy="374904"/>
          </a:xfrm>
          <a:prstGeom prst="roundRect">
            <a:avLst>
              <a:gd name="adj" fmla="val 29268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6446520" y="3419856"/>
            <a:ext cx="5376672" cy="37490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Registry adapter: mock now → DigiLocker / API Setu after partner onboarding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320040" y="3849624"/>
            <a:ext cx="5486400" cy="374904"/>
          </a:xfrm>
          <a:prstGeom prst="roundRect">
            <a:avLst>
              <a:gd name="adj" fmla="val 29268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2" name="Oval 17451"/>
          <p:cNvSpPr/>
          <p:nvPr/>
        </p:nvSpPr>
        <p:spPr>
          <a:xfrm>
            <a:off x="374904" y="3886200"/>
            <a:ext cx="301752" cy="301752"/>
          </a:xfrm>
          <a:prstGeom prst="ellipse">
            <a:avLst/>
          </a:prstGeom>
          <a:solidFill>
            <a:srgbClr val="B4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3" name="Picture 17452" descr="LuUserX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1289" y="3952585"/>
            <a:ext cx="168981" cy="168981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777240" y="3849624"/>
            <a:ext cx="4983480" cy="37490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Students without APAAR (opt-out, FN / OCI)</a:t>
            </a:r>
          </a:p>
        </p:txBody>
      </p:sp>
      <p:cxnSp>
        <p:nvCxnSpPr>
          <p:cNvPr id="17455" name="Connector 17454"/>
          <p:cNvCxnSpPr/>
          <p:nvPr/>
        </p:nvCxnSpPr>
        <p:spPr>
          <a:xfrm>
            <a:off x="5852160" y="4032504"/>
            <a:ext cx="484632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6" name="Rounded Rectangle 17455"/>
          <p:cNvSpPr/>
          <p:nvPr/>
        </p:nvSpPr>
        <p:spPr>
          <a:xfrm>
            <a:off x="6382512" y="3849624"/>
            <a:ext cx="5486400" cy="374904"/>
          </a:xfrm>
          <a:prstGeom prst="roundRect">
            <a:avLst>
              <a:gd name="adj" fmla="val 29268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7" name="TextBox 17456"/>
          <p:cNvSpPr txBox="1"/>
          <p:nvPr/>
        </p:nvSpPr>
        <p:spPr>
          <a:xfrm>
            <a:off x="6446520" y="3849624"/>
            <a:ext cx="5376672" cy="37490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Provisional ID, never rejected; mother's or guardian's name accepted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320040" y="4279392"/>
            <a:ext cx="5486400" cy="374904"/>
          </a:xfrm>
          <a:prstGeom prst="roundRect">
            <a:avLst>
              <a:gd name="adj" fmla="val 29268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9" name="Oval 17458"/>
          <p:cNvSpPr/>
          <p:nvPr/>
        </p:nvSpPr>
        <p:spPr>
          <a:xfrm>
            <a:off x="374904" y="4315968"/>
            <a:ext cx="301752" cy="301752"/>
          </a:xfrm>
          <a:prstGeom prst="ellipse">
            <a:avLst/>
          </a:prstGeom>
          <a:solidFill>
            <a:srgbClr val="B4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0" name="Picture 17459" descr="LuLock_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289" y="4382353"/>
            <a:ext cx="168981" cy="168981"/>
          </a:xfrm>
          <a:prstGeom prst="rect">
            <a:avLst/>
          </a:prstGeom>
        </p:spPr>
      </p:pic>
      <p:sp>
        <p:nvSpPr>
          <p:cNvPr id="17461" name="TextBox 17460"/>
          <p:cNvSpPr txBox="1"/>
          <p:nvPr/>
        </p:nvSpPr>
        <p:spPr>
          <a:xfrm>
            <a:off x="777240" y="4279392"/>
            <a:ext cx="4983480" cy="37490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Student privacy (DPDP Act; APAAR is voluntary)</a:t>
            </a:r>
          </a:p>
        </p:txBody>
      </p:sp>
      <p:cxnSp>
        <p:nvCxnSpPr>
          <p:cNvPr id="17462" name="Connector 17461"/>
          <p:cNvCxnSpPr/>
          <p:nvPr/>
        </p:nvCxnSpPr>
        <p:spPr>
          <a:xfrm>
            <a:off x="5852160" y="4462272"/>
            <a:ext cx="484632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3" name="Rounded Rectangle 17462"/>
          <p:cNvSpPr/>
          <p:nvPr/>
        </p:nvSpPr>
        <p:spPr>
          <a:xfrm>
            <a:off x="6382512" y="4279392"/>
            <a:ext cx="5486400" cy="374904"/>
          </a:xfrm>
          <a:prstGeom prst="roundRect">
            <a:avLst>
              <a:gd name="adj" fmla="val 29268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4" name="TextBox 17463"/>
          <p:cNvSpPr txBox="1"/>
          <p:nvPr/>
        </p:nvSpPr>
        <p:spPr>
          <a:xfrm>
            <a:off x="6446520" y="4279392"/>
            <a:ext cx="5376672" cy="37490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Consent per field, masked IDs, no Aadhaar stored, access log</a:t>
            </a:r>
          </a:p>
        </p:txBody>
      </p:sp>
      <p:sp>
        <p:nvSpPr>
          <p:cNvPr id="17465" name="Rounded Rectangle 17464"/>
          <p:cNvSpPr/>
          <p:nvPr/>
        </p:nvSpPr>
        <p:spPr>
          <a:xfrm>
            <a:off x="320040" y="4709160"/>
            <a:ext cx="5486400" cy="374904"/>
          </a:xfrm>
          <a:prstGeom prst="roundRect">
            <a:avLst>
              <a:gd name="adj" fmla="val 29268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6" name="Oval 17465"/>
          <p:cNvSpPr/>
          <p:nvPr/>
        </p:nvSpPr>
        <p:spPr>
          <a:xfrm>
            <a:off x="374904" y="4745736"/>
            <a:ext cx="301752" cy="301752"/>
          </a:xfrm>
          <a:prstGeom prst="ellipse">
            <a:avLst/>
          </a:prstGeom>
          <a:solidFill>
            <a:srgbClr val="B4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7" name="Picture 17466" descr="LuScale_whi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1289" y="4812121"/>
            <a:ext cx="168981" cy="168981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777240" y="4709160"/>
            <a:ext cx="4983480" cy="37490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Wrong flags: twins, spelling variants</a:t>
            </a:r>
          </a:p>
        </p:txBody>
      </p:sp>
      <p:cxnSp>
        <p:nvCxnSpPr>
          <p:cNvPr id="17469" name="Connector 17468"/>
          <p:cNvCxnSpPr/>
          <p:nvPr/>
        </p:nvCxnSpPr>
        <p:spPr>
          <a:xfrm>
            <a:off x="5852160" y="4892040"/>
            <a:ext cx="484632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0" name="Rounded Rectangle 17469"/>
          <p:cNvSpPr/>
          <p:nvPr/>
        </p:nvSpPr>
        <p:spPr>
          <a:xfrm>
            <a:off x="6382512" y="4709160"/>
            <a:ext cx="5486400" cy="374904"/>
          </a:xfrm>
          <a:prstGeom prst="roundRect">
            <a:avLst>
              <a:gd name="adj" fmla="val 29268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1" name="TextBox 17470"/>
          <p:cNvSpPr txBox="1"/>
          <p:nvPr/>
        </p:nvSpPr>
        <p:spPr>
          <a:xfrm>
            <a:off x="6446520" y="4709160"/>
            <a:ext cx="5376672" cy="37490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Twin-safe matcher; officer decides with a reason; decision remembered</a:t>
            </a:r>
          </a:p>
        </p:txBody>
      </p:sp>
      <p:sp>
        <p:nvSpPr>
          <p:cNvPr id="17472" name="Rounded Rectangle 17471"/>
          <p:cNvSpPr/>
          <p:nvPr/>
        </p:nvSpPr>
        <p:spPr>
          <a:xfrm>
            <a:off x="320040" y="5138928"/>
            <a:ext cx="5486400" cy="374904"/>
          </a:xfrm>
          <a:prstGeom prst="roundRect">
            <a:avLst>
              <a:gd name="adj" fmla="val 29268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3" name="Oval 17472"/>
          <p:cNvSpPr/>
          <p:nvPr/>
        </p:nvSpPr>
        <p:spPr>
          <a:xfrm>
            <a:off x="374904" y="5175504"/>
            <a:ext cx="301752" cy="301752"/>
          </a:xfrm>
          <a:prstGeom prst="ellipse">
            <a:avLst/>
          </a:prstGeom>
          <a:solidFill>
            <a:srgbClr val="B4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4" name="Picture 17473" descr="LuCalendarClock_whi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1289" y="5241889"/>
            <a:ext cx="168981" cy="168981"/>
          </a:xfrm>
          <a:prstGeom prst="rect">
            <a:avLst/>
          </a:prstGeom>
        </p:spPr>
      </p:pic>
      <p:sp>
        <p:nvSpPr>
          <p:cNvPr id="17475" name="TextBox 17474"/>
          <p:cNvSpPr txBox="1"/>
          <p:nvPr/>
        </p:nvSpPr>
        <p:spPr>
          <a:xfrm>
            <a:off x="777240" y="5138928"/>
            <a:ext cx="4983480" cy="37490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Rules change every year by circular</a:t>
            </a:r>
          </a:p>
        </p:txBody>
      </p:sp>
      <p:cxnSp>
        <p:nvCxnSpPr>
          <p:cNvPr id="17476" name="Connector 17475"/>
          <p:cNvCxnSpPr/>
          <p:nvPr/>
        </p:nvCxnSpPr>
        <p:spPr>
          <a:xfrm>
            <a:off x="5852160" y="5321808"/>
            <a:ext cx="484632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7" name="Rounded Rectangle 17476"/>
          <p:cNvSpPr/>
          <p:nvPr/>
        </p:nvSpPr>
        <p:spPr>
          <a:xfrm>
            <a:off x="6382512" y="5138928"/>
            <a:ext cx="5486400" cy="374904"/>
          </a:xfrm>
          <a:prstGeom prst="roundRect">
            <a:avLst>
              <a:gd name="adj" fmla="val 29268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8" name="TextBox 17477"/>
          <p:cNvSpPr txBox="1"/>
          <p:nvPr/>
        </p:nvSpPr>
        <p:spPr>
          <a:xfrm>
            <a:off x="6446520" y="5138928"/>
            <a:ext cx="5376672" cy="37490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Rules file per academic year, each value with its source</a:t>
            </a:r>
          </a:p>
        </p:txBody>
      </p:sp>
      <p:sp>
        <p:nvSpPr>
          <p:cNvPr id="17479" name="Rounded Rectangle 17478"/>
          <p:cNvSpPr/>
          <p:nvPr/>
        </p:nvSpPr>
        <p:spPr>
          <a:xfrm>
            <a:off x="320040" y="5568696"/>
            <a:ext cx="5486400" cy="374904"/>
          </a:xfrm>
          <a:prstGeom prst="roundRect">
            <a:avLst>
              <a:gd name="adj" fmla="val 29268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0" name="Oval 17479"/>
          <p:cNvSpPr/>
          <p:nvPr/>
        </p:nvSpPr>
        <p:spPr>
          <a:xfrm>
            <a:off x="374904" y="5605272"/>
            <a:ext cx="301752" cy="301752"/>
          </a:xfrm>
          <a:prstGeom prst="ellipse">
            <a:avLst/>
          </a:prstGeom>
          <a:solidFill>
            <a:srgbClr val="B4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1" name="Picture 17480" descr="LuSmartphone_whit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1289" y="5671657"/>
            <a:ext cx="168981" cy="168981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777240" y="5568696"/>
            <a:ext cx="4983480" cy="37490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ERP formats, low digital readiness</a:t>
            </a:r>
          </a:p>
        </p:txBody>
      </p:sp>
      <p:cxnSp>
        <p:nvCxnSpPr>
          <p:cNvPr id="17483" name="Connector 17482"/>
          <p:cNvCxnSpPr/>
          <p:nvPr/>
        </p:nvCxnSpPr>
        <p:spPr>
          <a:xfrm>
            <a:off x="5852160" y="5751576"/>
            <a:ext cx="484632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4" name="Rounded Rectangle 17483"/>
          <p:cNvSpPr/>
          <p:nvPr/>
        </p:nvSpPr>
        <p:spPr>
          <a:xfrm>
            <a:off x="6382512" y="5568696"/>
            <a:ext cx="5486400" cy="374904"/>
          </a:xfrm>
          <a:prstGeom prst="roundRect">
            <a:avLst>
              <a:gd name="adj" fmla="val 29268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5" name="TextBox 17484"/>
          <p:cNvSpPr txBox="1"/>
          <p:nvPr/>
        </p:nvSpPr>
        <p:spPr>
          <a:xfrm>
            <a:off x="6446520" y="5568696"/>
            <a:ext cx="5376672" cy="37490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ERP headers auto-mapped, Excel template, API keys, Hindi, phone app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320040" y="6035040"/>
            <a:ext cx="11548872" cy="274320"/>
          </a:xfrm>
          <a:prstGeom prst="roundRect">
            <a:avLst>
              <a:gd name="adj" fmla="val 20000"/>
            </a:avLst>
          </a:prstGeom>
          <a:solidFill>
            <a:srgbClr val="FDF1E6"/>
          </a:solidFill>
          <a:ln w="9525">
            <a:solidFill>
              <a:srgbClr val="E46C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7" name="TextBox 17486"/>
          <p:cNvSpPr txBox="1"/>
          <p:nvPr/>
        </p:nvSpPr>
        <p:spPr>
          <a:xfrm>
            <a:off x="411480" y="6035040"/>
            <a:ext cx="11384280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00" b="1" i="0">
                <a:solidFill>
                  <a:srgbClr val="E46C0A"/>
                </a:solidFill>
                <a:latin typeface="Arial"/>
              </a:rPr>
              <a:t>Roadmap  </a:t>
            </a:r>
            <a:r>
              <a:rPr sz="1000" b="0" i="0">
                <a:solidFill>
                  <a:srgbClr val="1A1A1A"/>
                </a:solidFill>
                <a:latin typeface="Arial"/>
              </a:rPr>
              <a:t>M1–3 pilot: 1 state, 50 colleges → M4–6 API Setu, SSO, STQC audit → M7–12 national   </a:t>
            </a:r>
            <a:r>
              <a:rPr sz="1000" b="1" i="0">
                <a:solidFill>
                  <a:srgbClr val="E46C0A"/>
                </a:solidFill>
                <a:latin typeface="Arial"/>
              </a:rPr>
              <a:t>Cost  </a:t>
            </a:r>
            <a:r>
              <a:rPr sz="1000" b="0" i="0">
                <a:solidFill>
                  <a:srgbClr val="1A1A1A"/>
                </a:solidFill>
                <a:latin typeface="Arial"/>
              </a:rPr>
              <a:t>open source, no licence fees; est. ₹20–25 lakh/yr MeitY-empanelled cloud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AI Riders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097280"/>
            <a:ext cx="6035040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Potential impact on the target audience</a:t>
            </a:r>
          </a:p>
        </p:txBody>
      </p:sp>
      <p:cxnSp>
        <p:nvCxnSpPr>
          <p:cNvPr id="17411" name="Connector 17410"/>
          <p:cNvCxnSpPr/>
          <p:nvPr/>
        </p:nvCxnSpPr>
        <p:spPr>
          <a:xfrm flipH="1" flipV="1">
            <a:off x="1216152" y="2039112"/>
            <a:ext cx="2121408" cy="1618488"/>
          </a:xfrm>
          <a:prstGeom prst="line">
            <a:avLst/>
          </a:prstGeom>
          <a:ln w="31750">
            <a:solidFill>
              <a:srgbClr val="C9D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2" name="Connector 17411"/>
          <p:cNvCxnSpPr/>
          <p:nvPr/>
        </p:nvCxnSpPr>
        <p:spPr>
          <a:xfrm flipV="1">
            <a:off x="3337560" y="2039112"/>
            <a:ext cx="2084832" cy="1618488"/>
          </a:xfrm>
          <a:prstGeom prst="line">
            <a:avLst/>
          </a:prstGeom>
          <a:ln w="31750">
            <a:solidFill>
              <a:srgbClr val="C9D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3" name="Connector 17412"/>
          <p:cNvCxnSpPr/>
          <p:nvPr/>
        </p:nvCxnSpPr>
        <p:spPr>
          <a:xfrm flipH="1">
            <a:off x="1216152" y="3657600"/>
            <a:ext cx="2121408" cy="0"/>
          </a:xfrm>
          <a:prstGeom prst="line">
            <a:avLst/>
          </a:prstGeom>
          <a:ln w="31750">
            <a:solidFill>
              <a:srgbClr val="C9D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4" name="Connector 17413"/>
          <p:cNvCxnSpPr/>
          <p:nvPr/>
        </p:nvCxnSpPr>
        <p:spPr>
          <a:xfrm>
            <a:off x="3337560" y="3657600"/>
            <a:ext cx="2084832" cy="0"/>
          </a:xfrm>
          <a:prstGeom prst="line">
            <a:avLst/>
          </a:prstGeom>
          <a:ln w="31750">
            <a:solidFill>
              <a:srgbClr val="C9D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5" name="Connector 17414"/>
          <p:cNvCxnSpPr/>
          <p:nvPr/>
        </p:nvCxnSpPr>
        <p:spPr>
          <a:xfrm>
            <a:off x="3337560" y="3657600"/>
            <a:ext cx="9144" cy="2011680"/>
          </a:xfrm>
          <a:prstGeom prst="line">
            <a:avLst/>
          </a:prstGeom>
          <a:ln w="31750">
            <a:solidFill>
              <a:srgbClr val="C9D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Rounded Rectangle 17415"/>
          <p:cNvSpPr/>
          <p:nvPr/>
        </p:nvSpPr>
        <p:spPr>
          <a:xfrm>
            <a:off x="2167128" y="2852928"/>
            <a:ext cx="2340864" cy="1483614"/>
          </a:xfrm>
          <a:prstGeom prst="roundRect">
            <a:avLst>
              <a:gd name="adj" fmla="val 2465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7" name="Picture 17416" descr="10_aicte_dashboard.png"/>
          <p:cNvPicPr>
            <a:picLocks noChangeAspect="1"/>
          </p:cNvPicPr>
          <p:nvPr/>
        </p:nvPicPr>
        <p:blipFill>
          <a:blip r:embed="rId4"/>
          <a:srcRect l="17800" t="5800" b="12000"/>
          <a:stretch>
            <a:fillRect/>
          </a:stretch>
        </p:blipFill>
        <p:spPr>
          <a:xfrm>
            <a:off x="2194560" y="2880360"/>
            <a:ext cx="2286000" cy="1428750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2194560" y="4345686"/>
            <a:ext cx="2286000" cy="21945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Arial"/>
              </a:rPr>
              <a:t>One national view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20040" y="1536192"/>
            <a:ext cx="17830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Oval 17419"/>
          <p:cNvSpPr/>
          <p:nvPr/>
        </p:nvSpPr>
        <p:spPr>
          <a:xfrm>
            <a:off x="393192" y="1627632"/>
            <a:ext cx="420624" cy="42062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1" name="Picture 17420" descr="LuLandmar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729" y="1720169"/>
            <a:ext cx="235549" cy="235549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868680" y="1609344"/>
            <a:ext cx="121615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F3864"/>
                </a:solidFill>
                <a:latin typeface="Arial"/>
              </a:rPr>
              <a:t>AICTE &amp; regulators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93192" y="2084831"/>
            <a:ext cx="169164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excess &amp; dual enrolment
caught at submission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526280" y="1536192"/>
            <a:ext cx="17830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Oval 17424"/>
          <p:cNvSpPr/>
          <p:nvPr/>
        </p:nvSpPr>
        <p:spPr>
          <a:xfrm>
            <a:off x="4599432" y="1627632"/>
            <a:ext cx="420624" cy="42062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6" name="Picture 17425" descr="LuBuilding2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1969" y="1720169"/>
            <a:ext cx="235549" cy="235549"/>
          </a:xfrm>
          <a:prstGeom prst="rect">
            <a:avLst/>
          </a:prstGeom>
        </p:spPr>
      </p:pic>
      <p:sp>
        <p:nvSpPr>
          <p:cNvPr id="17427" name="TextBox 17426"/>
          <p:cNvSpPr txBox="1"/>
          <p:nvPr/>
        </p:nvSpPr>
        <p:spPr>
          <a:xfrm>
            <a:off x="5074920" y="1609344"/>
            <a:ext cx="121615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F3864"/>
                </a:solidFill>
                <a:latin typeface="Arial"/>
              </a:rPr>
              <a:t>Institutions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599432" y="2084831"/>
            <a:ext cx="169164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one upload; errors and
corrections explained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320040" y="3154680"/>
            <a:ext cx="17830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Oval 17429"/>
          <p:cNvSpPr/>
          <p:nvPr/>
        </p:nvSpPr>
        <p:spPr>
          <a:xfrm>
            <a:off x="393192" y="3246120"/>
            <a:ext cx="420624" cy="42062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1" name="Picture 17430" descr="LuGraduationCap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729" y="3338657"/>
            <a:ext cx="235549" cy="235549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868680" y="3227832"/>
            <a:ext cx="121615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F3864"/>
                </a:solidFill>
                <a:latin typeface="Arial"/>
              </a:rPr>
              <a:t>Universities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393192" y="3703320"/>
            <a:ext cx="169164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APAAR + student ID
printed on degrees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4526280" y="3154680"/>
            <a:ext cx="17830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Oval 17434"/>
          <p:cNvSpPr/>
          <p:nvPr/>
        </p:nvSpPr>
        <p:spPr>
          <a:xfrm>
            <a:off x="4599432" y="3246120"/>
            <a:ext cx="420624" cy="42062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6" name="Picture 17435" descr="LuBriefcas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1969" y="3338657"/>
            <a:ext cx="235549" cy="235549"/>
          </a:xfrm>
          <a:prstGeom prst="rect">
            <a:avLst/>
          </a:prstGeom>
        </p:spPr>
      </p:pic>
      <p:sp>
        <p:nvSpPr>
          <p:cNvPr id="17437" name="TextBox 17436"/>
          <p:cNvSpPr txBox="1"/>
          <p:nvPr/>
        </p:nvSpPr>
        <p:spPr>
          <a:xfrm>
            <a:off x="5074920" y="3227832"/>
            <a:ext cx="121615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F3864"/>
                </a:solidFill>
                <a:latin typeface="Arial"/>
              </a:rPr>
              <a:t>Employers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599432" y="3703320"/>
            <a:ext cx="169164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instant QR check, even
offline; consent for more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2450592" y="5166360"/>
            <a:ext cx="17830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0" name="Oval 17439"/>
          <p:cNvSpPr/>
          <p:nvPr/>
        </p:nvSpPr>
        <p:spPr>
          <a:xfrm>
            <a:off x="2523744" y="5257800"/>
            <a:ext cx="420624" cy="420624"/>
          </a:xfrm>
          <a:prstGeom prst="ellipse">
            <a:avLst/>
          </a:prstGeom>
          <a:solidFill>
            <a:srgbClr val="E4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1" name="Picture 17440" descr="LuUsers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16281" y="5350337"/>
            <a:ext cx="235549" cy="235549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2999232" y="5239512"/>
            <a:ext cx="121615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F3864"/>
                </a:solidFill>
                <a:latin typeface="Arial"/>
              </a:rPr>
              <a:t>Students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2523744" y="5715000"/>
            <a:ext cx="169164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own record; control
over who sees it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6583680" y="1097280"/>
            <a:ext cx="5285232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6583680" y="1508760"/>
            <a:ext cx="2587752" cy="1261872"/>
          </a:xfrm>
          <a:prstGeom prst="roundRect">
            <a:avLst>
              <a:gd name="adj" fmla="val 8695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Oval 17445"/>
          <p:cNvSpPr/>
          <p:nvPr/>
        </p:nvSpPr>
        <p:spPr>
          <a:xfrm>
            <a:off x="6693408" y="1618488"/>
            <a:ext cx="457200" cy="457200"/>
          </a:xfrm>
          <a:prstGeom prst="ellipse">
            <a:avLst/>
          </a:prstGeom>
          <a:solidFill>
            <a:srgbClr val="1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7" name="Picture 17446" descr="LuHeartHandshake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93992" y="1719072"/>
            <a:ext cx="256032" cy="256032"/>
          </a:xfrm>
          <a:prstGeom prst="rect">
            <a:avLst/>
          </a:prstGeom>
        </p:spPr>
      </p:pic>
      <p:sp>
        <p:nvSpPr>
          <p:cNvPr id="17448" name="TextBox 17447"/>
          <p:cNvSpPr txBox="1"/>
          <p:nvPr/>
        </p:nvSpPr>
        <p:spPr>
          <a:xfrm>
            <a:off x="7242048" y="1618488"/>
            <a:ext cx="185623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Social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693408" y="2148839"/>
            <a:ext cx="2404872" cy="56692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fair admissions; no student
excluded for opting out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9281160" y="1508760"/>
            <a:ext cx="2587752" cy="1261872"/>
          </a:xfrm>
          <a:prstGeom prst="roundRect">
            <a:avLst>
              <a:gd name="adj" fmla="val 8695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Oval 17450"/>
          <p:cNvSpPr/>
          <p:nvPr/>
        </p:nvSpPr>
        <p:spPr>
          <a:xfrm>
            <a:off x="9390888" y="1618488"/>
            <a:ext cx="457200" cy="4572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2" name="Picture 17451" descr="LuIndianRupee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91472" y="1719072"/>
            <a:ext cx="256032" cy="256032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9939528" y="1618488"/>
            <a:ext cx="185623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Economic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9390888" y="2148839"/>
            <a:ext cx="2404872" cy="56692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no licence cost; one upload
replaces repeated returns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6583680" y="2862072"/>
            <a:ext cx="2587752" cy="1261872"/>
          </a:xfrm>
          <a:prstGeom prst="roundRect">
            <a:avLst>
              <a:gd name="adj" fmla="val 8695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6" name="Oval 17455"/>
          <p:cNvSpPr/>
          <p:nvPr/>
        </p:nvSpPr>
        <p:spPr>
          <a:xfrm>
            <a:off x="6693408" y="2971800"/>
            <a:ext cx="457200" cy="457200"/>
          </a:xfrm>
          <a:prstGeom prst="ellipse">
            <a:avLst/>
          </a:prstGeom>
          <a:solidFill>
            <a:srgbClr val="1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7" name="Picture 17456" descr="LuLeaf_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93992" y="3072384"/>
            <a:ext cx="256032" cy="256032"/>
          </a:xfrm>
          <a:prstGeom prst="rect">
            <a:avLst/>
          </a:prstGeom>
        </p:spPr>
      </p:pic>
      <p:sp>
        <p:nvSpPr>
          <p:cNvPr id="17458" name="TextBox 17457"/>
          <p:cNvSpPr txBox="1"/>
          <p:nvPr/>
        </p:nvSpPr>
        <p:spPr>
          <a:xfrm>
            <a:off x="7242048" y="2971800"/>
            <a:ext cx="185623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Environmental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6693408" y="3502152"/>
            <a:ext cx="2404872" cy="56692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paperless returns and
verification; no courier checks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9281160" y="2862072"/>
            <a:ext cx="2587752" cy="1261872"/>
          </a:xfrm>
          <a:prstGeom prst="roundRect">
            <a:avLst>
              <a:gd name="adj" fmla="val 8695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1" name="Oval 17460"/>
          <p:cNvSpPr/>
          <p:nvPr/>
        </p:nvSpPr>
        <p:spPr>
          <a:xfrm>
            <a:off x="9390888" y="2971800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LuLandmar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1472" y="3072384"/>
            <a:ext cx="256032" cy="256032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9939528" y="2971800"/>
            <a:ext cx="185623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Governance</a:t>
            </a:r>
          </a:p>
        </p:txBody>
      </p:sp>
      <p:sp>
        <p:nvSpPr>
          <p:cNvPr id="17464" name="TextBox 17463"/>
          <p:cNvSpPr txBox="1"/>
          <p:nvPr/>
        </p:nvSpPr>
        <p:spPr>
          <a:xfrm>
            <a:off x="9390888" y="3502152"/>
            <a:ext cx="2404872" cy="56692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audited evidence pack for
review and show-cause</a:t>
            </a:r>
          </a:p>
        </p:txBody>
      </p:sp>
      <p:sp>
        <p:nvSpPr>
          <p:cNvPr id="17465" name="Rounded Rectangle 17464"/>
          <p:cNvSpPr/>
          <p:nvPr/>
        </p:nvSpPr>
        <p:spPr>
          <a:xfrm>
            <a:off x="6601968" y="4288536"/>
            <a:ext cx="2340864" cy="1671227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6" name="Picture 17465" descr="25_certificate.pn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6629400" y="4315968"/>
            <a:ext cx="2286000" cy="1616363"/>
          </a:xfrm>
          <a:prstGeom prst="rect">
            <a:avLst/>
          </a:prstGeom>
        </p:spPr>
      </p:pic>
      <p:sp>
        <p:nvSpPr>
          <p:cNvPr id="17467" name="Rounded Rectangle 17466"/>
          <p:cNvSpPr/>
          <p:nvPr/>
        </p:nvSpPr>
        <p:spPr>
          <a:xfrm>
            <a:off x="9235440" y="4288536"/>
            <a:ext cx="2633472" cy="1313949"/>
          </a:xfrm>
          <a:prstGeom prst="roundRect">
            <a:avLst>
              <a:gd name="adj" fmla="val 2783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8" name="Picture 17467" descr="23_public_qr_verified.png"/>
          <p:cNvPicPr>
            <a:picLocks noChangeAspect="1"/>
          </p:cNvPicPr>
          <p:nvPr/>
        </p:nvPicPr>
        <p:blipFill>
          <a:blip r:embed="rId14"/>
          <a:srcRect l="17000" t="46000" r="51000" b="29000"/>
          <a:stretch>
            <a:fillRect/>
          </a:stretch>
        </p:blipFill>
        <p:spPr>
          <a:xfrm>
            <a:off x="9262872" y="4315968"/>
            <a:ext cx="2578608" cy="1259085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6583680" y="5978051"/>
            <a:ext cx="2468880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Certificate: APAAR ID + student ID + QR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9235440" y="5620773"/>
            <a:ext cx="2633472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QR scan: verified, also on the device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AI Riders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097280"/>
            <a:ext cx="11548872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46304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Why not just use the systems that exist?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852928" y="1783080"/>
            <a:ext cx="932688" cy="347472"/>
          </a:xfrm>
          <a:prstGeom prst="roundRect">
            <a:avLst>
              <a:gd name="adj" fmla="val 13157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NAD / DigiLocker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22191" y="1783080"/>
            <a:ext cx="738835" cy="347472"/>
          </a:xfrm>
          <a:prstGeom prst="roundRect">
            <a:avLst>
              <a:gd name="adj" fmla="val 13157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597603" y="1783080"/>
            <a:ext cx="1126540" cy="347472"/>
          </a:xfrm>
          <a:prstGeom prst="roundRect">
            <a:avLst>
              <a:gd name="adj" fmla="val 13157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AISHE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760720" y="1783080"/>
            <a:ext cx="981151" cy="347472"/>
          </a:xfrm>
          <a:prstGeom prst="roundRect">
            <a:avLst>
              <a:gd name="adj" fmla="val 13157"/>
            </a:avLst>
          </a:prstGeom>
          <a:solidFill>
            <a:srgbClr val="E4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Vidya Pramaan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0040" y="2185416"/>
            <a:ext cx="6440119" cy="402336"/>
          </a:xfrm>
          <a:prstGeom prst="roundRect">
            <a:avLst>
              <a:gd name="adj" fmla="val 9090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365759" y="2185416"/>
            <a:ext cx="2423160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Student-level admissions vs approved intake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2834640" y="2185416"/>
            <a:ext cx="969264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—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803904" y="2185416"/>
            <a:ext cx="775411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—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579315" y="2185416"/>
            <a:ext cx="1163116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aggregate, 2–3 yr lag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5742432" y="2185416"/>
            <a:ext cx="1017727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1" i="0">
                <a:solidFill>
                  <a:srgbClr val="1E7B3E"/>
                </a:solidFill>
                <a:latin typeface="Arial"/>
              </a:rPr>
              <a:t>✔ live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20040" y="2615184"/>
            <a:ext cx="6440119" cy="402336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3" name="TextBox 17422"/>
          <p:cNvSpPr txBox="1"/>
          <p:nvPr/>
        </p:nvSpPr>
        <p:spPr>
          <a:xfrm>
            <a:off x="365759" y="2615184"/>
            <a:ext cx="2423160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Same student at two colleges; ghost admissions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2834640" y="2615184"/>
            <a:ext cx="969264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—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803904" y="2615184"/>
            <a:ext cx="775411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—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579315" y="2615184"/>
            <a:ext cx="1163116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—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5742432" y="2615184"/>
            <a:ext cx="1017727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1" i="0">
                <a:solidFill>
                  <a:srgbClr val="1E7B3E"/>
                </a:solidFill>
                <a:latin typeface="Arial"/>
              </a:rPr>
              <a:t>✔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320040" y="3044952"/>
            <a:ext cx="6440119" cy="402336"/>
          </a:xfrm>
          <a:prstGeom prst="roundRect">
            <a:avLst>
              <a:gd name="adj" fmla="val 9090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TextBox 17428"/>
          <p:cNvSpPr txBox="1"/>
          <p:nvPr/>
        </p:nvSpPr>
        <p:spPr>
          <a:xfrm>
            <a:off x="365759" y="3044952"/>
            <a:ext cx="2423160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Supernumerary caps by programme and year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2834640" y="3044952"/>
            <a:ext cx="969264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—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3803904" y="3044952"/>
            <a:ext cx="775411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—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579315" y="3044952"/>
            <a:ext cx="1163116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—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5742432" y="3044952"/>
            <a:ext cx="1017727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1" i="0">
                <a:solidFill>
                  <a:srgbClr val="1E7B3E"/>
                </a:solidFill>
                <a:latin typeface="Arial"/>
              </a:rPr>
              <a:t>✔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320040" y="3474720"/>
            <a:ext cx="6440119" cy="402336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TextBox 17434"/>
          <p:cNvSpPr txBox="1"/>
          <p:nvPr/>
        </p:nvSpPr>
        <p:spPr>
          <a:xfrm>
            <a:off x="365759" y="3474720"/>
            <a:ext cx="2423160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Consent-based verification for employers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2834640" y="3474720"/>
            <a:ext cx="969264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1" i="0">
                <a:solidFill>
                  <a:srgbClr val="1E7B3E"/>
                </a:solidFill>
                <a:latin typeface="Arial"/>
              </a:rPr>
              <a:t>✔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3803904" y="3474720"/>
            <a:ext cx="775411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—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579315" y="3474720"/>
            <a:ext cx="1163116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—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5742432" y="3474720"/>
            <a:ext cx="1017727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900" b="1" i="0">
                <a:solidFill>
                  <a:srgbClr val="1E7B3E"/>
                </a:solidFill>
                <a:latin typeface="Arial"/>
              </a:rPr>
              <a:t>✔ field-level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320040" y="3904487"/>
            <a:ext cx="6440119" cy="402336"/>
          </a:xfrm>
          <a:prstGeom prst="roundRect">
            <a:avLst>
              <a:gd name="adj" fmla="val 9090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1" name="TextBox 17440"/>
          <p:cNvSpPr txBox="1"/>
          <p:nvPr/>
        </p:nvSpPr>
        <p:spPr>
          <a:xfrm>
            <a:off x="365759" y="3904487"/>
            <a:ext cx="2423160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APAAR + student ID feed for degree printing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2834640" y="3904487"/>
            <a:ext cx="969264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issuer uploads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3803904" y="3904487"/>
            <a:ext cx="775411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credits only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4579315" y="3904487"/>
            <a:ext cx="1163116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—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5742432" y="3904487"/>
            <a:ext cx="1017727" cy="40233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1" i="0">
                <a:solidFill>
                  <a:srgbClr val="1E7B3E"/>
                </a:solidFill>
                <a:latin typeface="Arial"/>
              </a:rPr>
              <a:t>✔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320040" y="4352544"/>
            <a:ext cx="640080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Vidya Pramaan consumes APAAR and feeds NAD / ABC and AISHE: no new ID, no parallel credential store, no invented APAAR checksum (none is published), and no student rejected for opting out.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949440" y="1463040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References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6949440" y="1755648"/>
            <a:ext cx="4919472" cy="31546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Arial"/>
              </a:rPr>
              <a:t>1. AICTE PS SIH26263, SIH 2026  </a:t>
            </a:r>
            <a:r>
              <a:rPr sz="950" b="0" i="0">
                <a:solidFill>
                  <a:srgbClr val="0070C0"/>
                </a:solidFill>
                <a:latin typeface="Arial"/>
              </a:rPr>
              <a:t>sih.gov.in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Arial"/>
              </a:rPr>
              <a:t>2. AICTE Approval Process Handbook 2024-27 and 2026-27 addendum (FN/OCI/PIO caps)  </a:t>
            </a:r>
            <a:r>
              <a:rPr sz="950" b="0" i="0">
                <a:solidFill>
                  <a:srgbClr val="0070C0"/>
                </a:solidFill>
                <a:latin typeface="Arial"/>
              </a:rPr>
              <a:t>aicte.gov.in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Arial"/>
              </a:rPr>
              <a:t>3. Supreme Court, FORE School of Management v AICTE (2019): 5× fee per excess student  </a:t>
            </a:r>
            <a:r>
              <a:rPr sz="950" b="0" i="0">
                <a:solidFill>
                  <a:srgbClr val="0070C0"/>
                </a:solidFill>
                <a:latin typeface="Arial"/>
              </a:rPr>
              <a:t>sci.gov.in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Arial"/>
              </a:rPr>
              <a:t>4. NAD on DigiLocker: consent-based verification (FAQ)  </a:t>
            </a:r>
            <a:r>
              <a:rPr sz="950" b="0" i="0">
                <a:solidFill>
                  <a:srgbClr val="0070C0"/>
                </a:solidFill>
                <a:latin typeface="Arial"/>
              </a:rPr>
              <a:t>nad.digilocker.gov.in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Arial"/>
              </a:rPr>
              <a:t>5. AISHE 2022-23 &amp; 2023-24 reports (released 2026)  </a:t>
            </a:r>
            <a:r>
              <a:rPr sz="950" b="0" i="0">
                <a:solidFill>
                  <a:srgbClr val="0070C0"/>
                </a:solidFill>
                <a:latin typeface="Arial"/>
              </a:rPr>
              <a:t>aishe.gov.in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Arial"/>
              </a:rPr>
              <a:t>6. APAAR consent and opt-out: MoE guidance; Supreme Court proceedings 2026  </a:t>
            </a:r>
            <a:r>
              <a:rPr sz="950" b="0" i="0">
                <a:solidFill>
                  <a:srgbClr val="0070C0"/>
                </a:solidFill>
                <a:latin typeface="Arial"/>
              </a:rPr>
              <a:t>apaar.education.gov.in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Arial"/>
              </a:rPr>
              <a:t>7. Digital Personal Data Protection Act 2023; DPDP Rules 2025  </a:t>
            </a:r>
            <a:r>
              <a:rPr sz="950" b="0" i="0">
                <a:solidFill>
                  <a:srgbClr val="0070C0"/>
                </a:solidFill>
                <a:latin typeface="Arial"/>
              </a:rPr>
              <a:t>meity.gov.in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Arial"/>
              </a:rPr>
              <a:t>8. W3C Verifiable Credentials; RFC 8032 (Ed25519)  </a:t>
            </a:r>
            <a:r>
              <a:rPr sz="950" b="0" i="0">
                <a:solidFill>
                  <a:srgbClr val="0070C0"/>
                </a:solidFill>
                <a:latin typeface="Arial"/>
              </a:rPr>
              <a:t>w3.org · rfc-editor.org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Arial"/>
              </a:rPr>
              <a:t>9. Liu et al. (2008) Isolation Forest; IDinsight (2021) matching Indian names  </a:t>
            </a:r>
            <a:r>
              <a:rPr sz="950" b="0" i="0">
                <a:solidFill>
                  <a:srgbClr val="0070C0"/>
                </a:solidFill>
                <a:latin typeface="Arial"/>
              </a:rPr>
              <a:t>doi.org/10.1109/ICDM.2008.17 · idinsight.org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320040" y="4983480"/>
            <a:ext cx="11548872" cy="1261872"/>
          </a:xfrm>
          <a:prstGeom prst="roundRect">
            <a:avLst>
              <a:gd name="adj" fmla="val 8695"/>
            </a:avLst>
          </a:prstGeom>
          <a:solidFill>
            <a:srgbClr val="FDF1E6"/>
          </a:solidFill>
          <a:ln w="9525">
            <a:solidFill>
              <a:srgbClr val="E46C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0" name="Picture 17449" descr="qr_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074920"/>
            <a:ext cx="1078992" cy="1078992"/>
          </a:xfrm>
          <a:prstGeom prst="rect">
            <a:avLst/>
          </a:prstGeom>
        </p:spPr>
      </p:pic>
      <p:sp>
        <p:nvSpPr>
          <p:cNvPr id="17451" name="TextBox 17450"/>
          <p:cNvSpPr txBox="1"/>
          <p:nvPr/>
        </p:nvSpPr>
        <p:spPr>
          <a:xfrm>
            <a:off x="1664208" y="5093208"/>
            <a:ext cx="4389120" cy="1042415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 i="0">
                <a:solidFill>
                  <a:srgbClr val="E46C0A"/>
                </a:solidFill>
                <a:latin typeface="Arial"/>
              </a:rPr>
              <a:t>Live prototype</a:t>
            </a:r>
          </a:p>
          <a:p>
            <a:pPr algn="l"/>
            <a:r>
              <a:rPr sz="1200" b="0" i="0">
                <a:solidFill>
                  <a:srgbClr val="0070C0"/>
                </a:solidFill>
                <a:latin typeface="Arial"/>
              </a:rPr>
              <a:t>https://vidya-pramaan-sih26263.onrender.com</a:t>
            </a:r>
          </a:p>
          <a:p>
            <a:pPr algn="l"/>
            <a:r>
              <a:rPr sz="1050" b="0" i="0">
                <a:solidFill>
                  <a:srgbClr val="595959"/>
                </a:solidFill>
                <a:latin typeface="Arial"/>
              </a:rPr>
              <a:t>Synthetic data only · 7 demo roles · works on phones</a:t>
            </a:r>
          </a:p>
        </p:txBody>
      </p:sp>
      <p:pic>
        <p:nvPicPr>
          <p:cNvPr id="17452" name="Picture 17451" descr="qr_re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5074920"/>
            <a:ext cx="1078992" cy="1078992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7424927" y="5093208"/>
            <a:ext cx="4389120" cy="1042415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 i="0">
                <a:solidFill>
                  <a:srgbClr val="E46C0A"/>
                </a:solidFill>
                <a:latin typeface="Arial"/>
              </a:rPr>
              <a:t>Source code &amp; tests</a:t>
            </a:r>
          </a:p>
          <a:p>
            <a:pPr algn="l"/>
            <a:r>
              <a:rPr sz="1200" b="0" i="0">
                <a:solidFill>
                  <a:srgbClr val="0070C0"/>
                </a:solidFill>
                <a:latin typeface="Arial"/>
              </a:rPr>
              <a:t>https://github.com/Pulkitkh/VidyaPramaan</a:t>
            </a:r>
          </a:p>
          <a:p>
            <a:pPr algn="l"/>
            <a:r>
              <a:rPr sz="1050" b="0" i="0">
                <a:solidFill>
                  <a:srgbClr val="595959"/>
                </a:solidFill>
                <a:latin typeface="Arial"/>
              </a:rPr>
              <a:t>58 automated tests + browser walkthrough · MIT licence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Vidya Pramaan: SIH26263 idea submission</dc:title>
  <dc:subject>Development of an APAAR ID-Based Student Data Management and Verification Platform for AICTE-Approved Institutions</dc:subject>
  <dc:creator>Team AI Riders</dc:creator>
  <cp:keywords>SIH 2026, SIH26263, APAAR, AICTE</cp:keywords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