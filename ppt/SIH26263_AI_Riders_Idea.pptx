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r>
              <a:t>AICTE today sees totals, late. Excess admission costs five times the fee per student, yet it surfaces in annual returns. Our flow is the one the problem statement asks for: upload, APAAR check, verification, central record, live monitoring, consented verification. What is new: name matching that keeps twins apart, ghost-admission rings, decisions that are remembered, signed audit checkpoints, rules as data, and APAAR on every degree.</a:t>
            </a: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Open-source stack, PostgreSQL tested. Every row goes through 31 explained rules; errors come back with reasons; accepted rows trigger a national scan and risk scoring against peers. The screenshot is the real prototype: 77 rows, 65 accepted, 12 returned. Scan the QR to try it.</a:t>
            </a: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Feasibility is measured, not promised. On name pairs written independently of our data: precision 0.79, recall 0.92, against 0.65 and 0.68 for the usual fuzzy match. No twin is ever merged. Planted cases are regression checks, and we say so. 59 tests on SQLite and PostgreSQL. Each risk has a built answer, and the roadmap goes from one-state pilot to national rollout within a year on open-source software.</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Everyone gains from one national view: AICTE and regulators catch problems at submission, institutions get explained errors, universities print APAAR on degrees, employers verify in seconds, students control access. The contrast at the bottom is the point: from years late to the same day.</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r>
              <a:t>We do not replace NAD, ABC or AISHE; we fill the gap none of them covers: student-level reconciliation of admissions against approved intake. Sources are on the right. Both QR codes work: the live prototype and the code with its tests.</a:t>
            </a: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Vidya Pramaan: one student, one APAAR ID, one verifiable record. A working prototype for SIH26263, live at the link on this slide, with seven demo roles and synthetic data only.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png"/><Relationship Id="rId14" Type="http://schemas.openxmlformats.org/officeDocument/2006/relationships/image" Target="../media/image14.png"/><Relationship Id="rId15" Type="http://schemas.openxmlformats.org/officeDocument/2006/relationships/image" Target="../media/image1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7.png"/><Relationship Id="rId7" Type="http://schemas.openxmlformats.org/officeDocument/2006/relationships/image" Target="../media/image18.png"/><Relationship Id="rId8" Type="http://schemas.openxmlformats.org/officeDocument/2006/relationships/image" Target="../media/image10.png"/><Relationship Id="rId9" Type="http://schemas.openxmlformats.org/officeDocument/2006/relationships/image" Target="../media/image19.png"/><Relationship Id="rId10" Type="http://schemas.openxmlformats.org/officeDocument/2006/relationships/image" Target="../media/image20.png"/><Relationship Id="rId11" Type="http://schemas.openxmlformats.org/officeDocument/2006/relationships/image" Target="../media/image2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image" Target="../media/image22.png"/><Relationship Id="rId6" Type="http://schemas.openxmlformats.org/officeDocument/2006/relationships/image" Target="../media/image3.png"/><Relationship Id="rId7" Type="http://schemas.openxmlformats.org/officeDocument/2006/relationships/image" Target="../media/image11.png"/><Relationship Id="rId8" Type="http://schemas.openxmlformats.org/officeDocument/2006/relationships/image" Target="../media/image18.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25.png"/><Relationship Id="rId12" Type="http://schemas.openxmlformats.org/officeDocument/2006/relationships/image" Target="../media/image19.png"/><Relationship Id="rId13" Type="http://schemas.openxmlformats.org/officeDocument/2006/relationships/image" Target="../media/image14.png"/><Relationship Id="rId14" Type="http://schemas.openxmlformats.org/officeDocument/2006/relationships/image" Target="../media/image26.png"/><Relationship Id="rId15" Type="http://schemas.openxmlformats.org/officeDocument/2006/relationships/image" Target="../media/image2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15.png"/><Relationship Id="rId8" Type="http://schemas.openxmlformats.org/officeDocument/2006/relationships/image" Target="../media/image31.png"/><Relationship Id="rId9" Type="http://schemas.openxmlformats.org/officeDocument/2006/relationships/image" Target="../media/image32.png"/><Relationship Id="rId10" Type="http://schemas.openxmlformats.org/officeDocument/2006/relationships/image" Target="../media/image33.png"/><Relationship Id="rId11" Type="http://schemas.openxmlformats.org/officeDocument/2006/relationships/image" Target="../media/image34.png"/><Relationship Id="rId12" Type="http://schemas.openxmlformats.org/officeDocument/2006/relationships/image" Target="../media/image35.png"/><Relationship Id="rId13" Type="http://schemas.openxmlformats.org/officeDocument/2006/relationships/image" Target="../media/image36.png"/><Relationship Id="rId14"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9326880" cy="2076450"/>
          </a:xfrm>
        </p:spPr>
        <p:txBody>
          <a:bodyPr/>
          <a:lstStyle/>
          <a:p>
            <a:r>
              <a:rPr lang="en-US" sz="3600" b="1" dirty="0">
                <a:solidFill>
                  <a:schemeClr val="tx2"/>
                </a:solidFill>
                <a:latin typeface="Garamond" panose="02020404030301010803" pitchFamily="18" charset="0"/>
              </a:rPr>
              <a:t>SMART INDIA HACKATHON </a:t>
            </a:r>
            <a:r>
              <a:rPr lang="en-US" sz="36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240280"/>
            <a:ext cx="5669280" cy="4703019"/>
          </a:xfrm>
          <a:prstGeom prst="rect">
            <a:avLst/>
          </a:prstGeom>
          <a:noFill/>
        </p:spPr>
        <p:txBody>
          <a:bodyPr wrap="square" rtlCol="0">
            <a:spAutoFit/>
          </a:bodyPr>
          <a:lstStyle/>
          <a:p>
            <a:endParaRPr lang="en-US" dirty="0"/>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Problem Statement ID –</a:t>
            </a:r>
            <a:r>
              <a:rPr sz="1700" b="0">
                <a:solidFill>
                  <a:srgbClr val="0070C0"/>
                </a:solidFill>
                <a:latin typeface="Arial"/>
              </a:rPr>
              <a:t> SIH26263</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Problem Statement Title-</a:t>
            </a:r>
            <a:r>
              <a:rPr sz="1500" b="0">
                <a:solidFill>
                  <a:srgbClr val="0070C0"/>
                </a:solidFill>
                <a:latin typeface="Arial"/>
              </a:rPr>
              <a:t> Development of an APAAR ID-Based Student Data Management and Verification Platform for AICTE-Approved Institutions</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Theme-</a:t>
            </a:r>
            <a:r>
              <a:rPr sz="1700" b="0">
                <a:solidFill>
                  <a:srgbClr val="0070C0"/>
                </a:solidFill>
                <a:latin typeface="Arial"/>
              </a:rPr>
              <a:t> Smart Automation</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PS Category- </a:t>
            </a:r>
            <a:r>
              <a:rPr sz="1700" b="0">
                <a:solidFill>
                  <a:srgbClr val="0070C0"/>
                </a:solidFill>
                <a:latin typeface="Arial"/>
              </a:rPr>
              <a:t>Software</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Team ID-</a:t>
            </a:r>
            <a:r>
              <a:rPr sz="1700" b="0">
                <a:solidFill>
                  <a:srgbClr val="0070C0"/>
                </a:solidFill>
                <a:latin typeface="Arial"/>
              </a:rPr>
              <a:t> </a:t>
            </a:r>
          </a:p>
          <a:p>
            <a:pPr marL="285750" indent="-285750" algn="l">
              <a:lnSpc>
                <a:spcPct val="100000"/>
              </a:lnSpc>
              <a:spcBef>
                <a:spcPts val="0"/>
              </a:spcBef>
              <a:spcAft>
                <a:spcPts val="1000"/>
              </a:spcAft>
              <a:buFont typeface="Arial" panose="020B0604020202020204" pitchFamily="34" charset="0"/>
              <a:buChar char="•"/>
            </a:pPr>
            <a:r>
              <a:rPr lang="en-US" sz="1700" b="1" dirty="0">
                <a:latin typeface="Arial" panose="020B0604020202020204" pitchFamily="34" charset="0"/>
                <a:cs typeface="Arial" panose="020B0604020202020204" pitchFamily="34" charset="0"/>
              </a:rPr>
              <a:t>Team Name (Registered on portal)</a:t>
            </a:r>
            <a:r>
              <a:rPr sz="1700" b="0">
                <a:solidFill>
                  <a:srgbClr val="0070C0"/>
                </a:solidFill>
                <a:latin typeface="Arial"/>
              </a:rPr>
              <a:t> AI Riders</a:t>
            </a:r>
            <a:endParaRPr lang="en-IN" sz="2400" b="1" dirty="0">
              <a:latin typeface="Arial" panose="020B0604020202020204" pitchFamily="34" charset="0"/>
              <a:cs typeface="Arial" panose="020B0604020202020204" pitchFamily="34" charset="0"/>
            </a:endParaRP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38" name="Rounded Rectangle 37"/>
          <p:cNvSpPr/>
          <p:nvPr/>
        </p:nvSpPr>
        <p:spPr>
          <a:xfrm>
            <a:off x="411480" y="5394960"/>
            <a:ext cx="5760720" cy="1005840"/>
          </a:xfrm>
          <a:prstGeom prst="roundRect">
            <a:avLst>
              <a:gd name="adj" fmla="val 10909"/>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548640" y="5550408"/>
            <a:ext cx="694944" cy="69494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LuShieldCheck_white.png"/>
          <p:cNvPicPr>
            <a:picLocks noChangeAspect="1"/>
          </p:cNvPicPr>
          <p:nvPr/>
        </p:nvPicPr>
        <p:blipFill>
          <a:blip r:embed="rId4"/>
          <a:stretch>
            <a:fillRect/>
          </a:stretch>
        </p:blipFill>
        <p:spPr>
          <a:xfrm>
            <a:off x="701527" y="5703295"/>
            <a:ext cx="389168" cy="389168"/>
          </a:xfrm>
          <a:prstGeom prst="rect">
            <a:avLst/>
          </a:prstGeom>
        </p:spPr>
      </p:pic>
      <p:sp>
        <p:nvSpPr>
          <p:cNvPr id="41" name="TextBox 40"/>
          <p:cNvSpPr txBox="1"/>
          <p:nvPr/>
        </p:nvSpPr>
        <p:spPr>
          <a:xfrm>
            <a:off x="1389888" y="5440680"/>
            <a:ext cx="4709160" cy="914400"/>
          </a:xfrm>
          <a:prstGeom prst="rect">
            <a:avLst/>
          </a:prstGeom>
          <a:noFill/>
        </p:spPr>
        <p:txBody>
          <a:bodyPr wrap="square" lIns="45720" rIns="45720" tIns="18288" bIns="18288" anchor="ctr"/>
          <a:lstStyle/>
          <a:p>
            <a:pPr algn="l"/>
            <a:r>
              <a:rPr sz="2000" b="1" i="0">
                <a:solidFill>
                  <a:srgbClr val="1F3864"/>
                </a:solidFill>
                <a:latin typeface="Arial"/>
              </a:rPr>
              <a:t>VIDYA PRAMAAN</a:t>
            </a:r>
          </a:p>
          <a:p>
            <a:pPr algn="l"/>
            <a:r>
              <a:rPr sz="1200" b="0" i="0">
                <a:solidFill>
                  <a:srgbClr val="1A1A1A"/>
                </a:solidFill>
                <a:latin typeface="Arial"/>
              </a:rPr>
              <a:t>One student. One APAAR ID. One verifiable record.</a:t>
            </a:r>
          </a:p>
          <a:p>
            <a:pPr algn="l"/>
            <a:r>
              <a:rPr sz="1100" b="0" i="0">
                <a:solidFill>
                  <a:srgbClr val="595959"/>
                </a:solidFill>
                <a:latin typeface="Arial"/>
              </a:rPr>
              <a:t>Working prototype: </a:t>
            </a:r>
            <a:r>
              <a:rPr sz="1100" b="0" i="0">
                <a:solidFill>
                  <a:srgbClr val="0070C0"/>
                </a:solidFill>
                <a:latin typeface="Arial"/>
              </a:rPr>
              <a:t>https://vidya-pramaan-sih26263.onrender.com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274320"/>
            <a:ext cx="10972800" cy="502920"/>
          </a:xfrm>
        </p:spPr>
        <p:txBody>
          <a:bodyPr anchor="ctr" tIns="0" bIns="0"/>
          <a:lstStyle/>
          <a:p>
            <a:pPr eaLnBrk="1" hangingPunct="1"/>
            <a:r>
              <a:rPr lang="en-US" sz="3000" b="1" dirty="0">
                <a:latin typeface="Times New Roman" panose="02020603050405020304" pitchFamily="18" charset="0"/>
                <a:ea typeface="ＭＳ Ｐゴシック" pitchFamily="1" charset="-128"/>
                <a:cs typeface="Times New Roman" panose="02020603050405020304" pitchFamily="18" charset="0"/>
              </a:rPr>
              <a:t>VIDYA PRAMAAN</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3" name="TextBox 15362"/>
          <p:cNvSpPr txBox="1"/>
          <p:nvPr/>
        </p:nvSpPr>
        <p:spPr>
          <a:xfrm>
            <a:off x="2926080" y="731520"/>
            <a:ext cx="6309360" cy="310896"/>
          </a:xfrm>
          <a:prstGeom prst="rect">
            <a:avLst/>
          </a:prstGeom>
          <a:noFill/>
        </p:spPr>
        <p:txBody>
          <a:bodyPr wrap="square" lIns="45720" rIns="45720" tIns="18288" bIns="18288" anchor="ctr"/>
          <a:lstStyle/>
          <a:p>
            <a:pPr algn="ctr"/>
            <a:r>
              <a:rPr sz="1400" b="0" i="0">
                <a:solidFill>
                  <a:srgbClr val="595959"/>
                </a:solidFill>
                <a:latin typeface="Arial"/>
              </a:rPr>
              <a:t>APAAR-linked student data, validation &amp; verification platform for AICTE</a:t>
            </a:r>
          </a:p>
        </p:txBody>
      </p:sp>
      <p:sp>
        <p:nvSpPr>
          <p:cNvPr id="15364" name="TextBox 15363"/>
          <p:cNvSpPr txBox="1"/>
          <p:nvPr/>
        </p:nvSpPr>
        <p:spPr>
          <a:xfrm>
            <a:off x="274320" y="1097280"/>
            <a:ext cx="11612880" cy="347472"/>
          </a:xfrm>
          <a:prstGeom prst="rect">
            <a:avLst/>
          </a:prstGeom>
          <a:noFill/>
        </p:spPr>
        <p:txBody>
          <a:bodyPr wrap="square" lIns="45720" rIns="45720" tIns="18288" bIns="18288" anchor="ctr"/>
          <a:lstStyle/>
          <a:p>
            <a:pPr algn="l"/>
            <a:r>
              <a:rPr sz="1700" b="1" i="0">
                <a:solidFill>
                  <a:srgbClr val="0070C0"/>
                </a:solidFill>
                <a:latin typeface="Arial"/>
              </a:rPr>
              <a:t>❖ </a:t>
            </a:r>
            <a:r>
              <a:rPr sz="1700" b="1" i="0">
                <a:solidFill>
                  <a:srgbClr val="1F3864"/>
                </a:solidFill>
                <a:latin typeface="Arial"/>
              </a:rPr>
              <a:t>Proposed Solution (Describe your Idea/Solution/Prototype)</a:t>
            </a:r>
          </a:p>
        </p:txBody>
      </p:sp>
      <p:sp>
        <p:nvSpPr>
          <p:cNvPr id="15365" name="Rounded Rectangle 15364"/>
          <p:cNvSpPr/>
          <p:nvPr/>
        </p:nvSpPr>
        <p:spPr>
          <a:xfrm>
            <a:off x="320040" y="1517904"/>
            <a:ext cx="420624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Detailed explanation of the proposed solution</a:t>
            </a:r>
          </a:p>
        </p:txBody>
      </p:sp>
      <p:sp>
        <p:nvSpPr>
          <p:cNvPr id="15366" name="Oval 15365"/>
          <p:cNvSpPr/>
          <p:nvPr/>
        </p:nvSpPr>
        <p:spPr>
          <a:xfrm>
            <a:off x="1058417" y="1920240"/>
            <a:ext cx="603504" cy="603504"/>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67" name="Picture 15366" descr="LuUpload_white.png"/>
          <p:cNvPicPr>
            <a:picLocks noChangeAspect="1"/>
          </p:cNvPicPr>
          <p:nvPr/>
        </p:nvPicPr>
        <p:blipFill>
          <a:blip r:embed="rId4"/>
          <a:stretch>
            <a:fillRect/>
          </a:stretch>
        </p:blipFill>
        <p:spPr>
          <a:xfrm>
            <a:off x="1191188" y="2053010"/>
            <a:ext cx="337962" cy="337962"/>
          </a:xfrm>
          <a:prstGeom prst="rect">
            <a:avLst/>
          </a:prstGeom>
        </p:spPr>
      </p:pic>
      <p:cxnSp>
        <p:nvCxnSpPr>
          <p:cNvPr id="15368" name="Connector 15367"/>
          <p:cNvCxnSpPr/>
          <p:nvPr/>
        </p:nvCxnSpPr>
        <p:spPr>
          <a:xfrm>
            <a:off x="1744217" y="2221992"/>
            <a:ext cx="1129284"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69" name="TextBox 15368"/>
          <p:cNvSpPr txBox="1"/>
          <p:nvPr/>
        </p:nvSpPr>
        <p:spPr>
          <a:xfrm>
            <a:off x="411479" y="2560320"/>
            <a:ext cx="1897379" cy="256032"/>
          </a:xfrm>
          <a:prstGeom prst="rect">
            <a:avLst/>
          </a:prstGeom>
          <a:noFill/>
        </p:spPr>
        <p:txBody>
          <a:bodyPr wrap="square" lIns="45720" rIns="45720" tIns="18288" bIns="18288" anchor="ctr"/>
          <a:lstStyle/>
          <a:p>
            <a:pPr algn="ctr"/>
            <a:r>
              <a:rPr sz="1200" b="1" i="0">
                <a:solidFill>
                  <a:srgbClr val="1F3864"/>
                </a:solidFill>
                <a:latin typeface="Arial"/>
              </a:rPr>
              <a:t>Institution upload</a:t>
            </a:r>
          </a:p>
        </p:txBody>
      </p:sp>
      <p:sp>
        <p:nvSpPr>
          <p:cNvPr id="15370" name="TextBox 15369"/>
          <p:cNvSpPr txBox="1"/>
          <p:nvPr/>
        </p:nvSpPr>
        <p:spPr>
          <a:xfrm>
            <a:off x="411479" y="2798064"/>
            <a:ext cx="1897379" cy="237744"/>
          </a:xfrm>
          <a:prstGeom prst="rect">
            <a:avLst/>
          </a:prstGeom>
          <a:noFill/>
        </p:spPr>
        <p:txBody>
          <a:bodyPr wrap="square" lIns="45720" rIns="45720" tIns="18288" bIns="18288" anchor="ctr"/>
          <a:lstStyle/>
          <a:p>
            <a:pPr algn="ctr"/>
            <a:r>
              <a:rPr sz="1100" b="0" i="0">
                <a:solidFill>
                  <a:srgbClr val="595959"/>
                </a:solidFill>
                <a:latin typeface="Arial"/>
              </a:rPr>
              <a:t>Excel · CSV · ERP API</a:t>
            </a:r>
          </a:p>
        </p:txBody>
      </p:sp>
      <p:sp>
        <p:nvSpPr>
          <p:cNvPr id="15371" name="Oval 15370"/>
          <p:cNvSpPr/>
          <p:nvPr/>
        </p:nvSpPr>
        <p:spPr>
          <a:xfrm>
            <a:off x="2955798" y="1920240"/>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72" name="Picture 15371" descr="LuFingerprint_white.png"/>
          <p:cNvPicPr>
            <a:picLocks noChangeAspect="1"/>
          </p:cNvPicPr>
          <p:nvPr/>
        </p:nvPicPr>
        <p:blipFill>
          <a:blip r:embed="rId5"/>
          <a:stretch>
            <a:fillRect/>
          </a:stretch>
        </p:blipFill>
        <p:spPr>
          <a:xfrm>
            <a:off x="3088568" y="2053010"/>
            <a:ext cx="337962" cy="337962"/>
          </a:xfrm>
          <a:prstGeom prst="rect">
            <a:avLst/>
          </a:prstGeom>
        </p:spPr>
      </p:pic>
      <p:cxnSp>
        <p:nvCxnSpPr>
          <p:cNvPr id="15373" name="Connector 15372"/>
          <p:cNvCxnSpPr/>
          <p:nvPr/>
        </p:nvCxnSpPr>
        <p:spPr>
          <a:xfrm>
            <a:off x="3641598" y="2221992"/>
            <a:ext cx="1129283"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74" name="TextBox 15373"/>
          <p:cNvSpPr txBox="1"/>
          <p:nvPr/>
        </p:nvSpPr>
        <p:spPr>
          <a:xfrm>
            <a:off x="2308860" y="2560320"/>
            <a:ext cx="1897379" cy="256032"/>
          </a:xfrm>
          <a:prstGeom prst="rect">
            <a:avLst/>
          </a:prstGeom>
          <a:noFill/>
        </p:spPr>
        <p:txBody>
          <a:bodyPr wrap="square" lIns="45720" rIns="45720" tIns="18288" bIns="18288" anchor="ctr"/>
          <a:lstStyle/>
          <a:p>
            <a:pPr algn="ctr"/>
            <a:r>
              <a:rPr sz="1200" b="1" i="0">
                <a:solidFill>
                  <a:srgbClr val="1F3864"/>
                </a:solidFill>
                <a:latin typeface="Arial"/>
              </a:rPr>
              <a:t>APAAR validation</a:t>
            </a:r>
          </a:p>
        </p:txBody>
      </p:sp>
      <p:sp>
        <p:nvSpPr>
          <p:cNvPr id="15375" name="TextBox 15374"/>
          <p:cNvSpPr txBox="1"/>
          <p:nvPr/>
        </p:nvSpPr>
        <p:spPr>
          <a:xfrm>
            <a:off x="2308860" y="2798064"/>
            <a:ext cx="1897379" cy="237744"/>
          </a:xfrm>
          <a:prstGeom prst="rect">
            <a:avLst/>
          </a:prstGeom>
          <a:noFill/>
        </p:spPr>
        <p:txBody>
          <a:bodyPr wrap="square" lIns="45720" rIns="45720" tIns="18288" bIns="18288" anchor="ctr"/>
          <a:lstStyle/>
          <a:p>
            <a:pPr algn="ctr"/>
            <a:r>
              <a:rPr sz="1100" b="0" i="0">
                <a:solidFill>
                  <a:srgbClr val="595959"/>
                </a:solidFill>
                <a:latin typeface="Arial"/>
              </a:rPr>
              <a:t>registry + consent</a:t>
            </a:r>
          </a:p>
        </p:txBody>
      </p:sp>
      <p:sp>
        <p:nvSpPr>
          <p:cNvPr id="15376" name="Oval 15375"/>
          <p:cNvSpPr/>
          <p:nvPr/>
        </p:nvSpPr>
        <p:spPr>
          <a:xfrm>
            <a:off x="4853177" y="1920240"/>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77" name="Picture 15376" descr="LuListChecks_white.png"/>
          <p:cNvPicPr>
            <a:picLocks noChangeAspect="1"/>
          </p:cNvPicPr>
          <p:nvPr/>
        </p:nvPicPr>
        <p:blipFill>
          <a:blip r:embed="rId6"/>
          <a:stretch>
            <a:fillRect/>
          </a:stretch>
        </p:blipFill>
        <p:spPr>
          <a:xfrm>
            <a:off x="4985948" y="2053010"/>
            <a:ext cx="337962" cy="337962"/>
          </a:xfrm>
          <a:prstGeom prst="rect">
            <a:avLst/>
          </a:prstGeom>
        </p:spPr>
      </p:pic>
      <p:cxnSp>
        <p:nvCxnSpPr>
          <p:cNvPr id="15378" name="Connector 15377"/>
          <p:cNvCxnSpPr/>
          <p:nvPr/>
        </p:nvCxnSpPr>
        <p:spPr>
          <a:xfrm>
            <a:off x="5538977" y="2221992"/>
            <a:ext cx="1129284"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79" name="TextBox 15378"/>
          <p:cNvSpPr txBox="1"/>
          <p:nvPr/>
        </p:nvSpPr>
        <p:spPr>
          <a:xfrm>
            <a:off x="4206240" y="2560320"/>
            <a:ext cx="1897379" cy="256032"/>
          </a:xfrm>
          <a:prstGeom prst="rect">
            <a:avLst/>
          </a:prstGeom>
          <a:noFill/>
        </p:spPr>
        <p:txBody>
          <a:bodyPr wrap="square" lIns="45720" rIns="45720" tIns="18288" bIns="18288" anchor="ctr"/>
          <a:lstStyle/>
          <a:p>
            <a:pPr algn="ctr"/>
            <a:r>
              <a:rPr sz="1200" b="1" i="0">
                <a:solidFill>
                  <a:srgbClr val="1F3864"/>
                </a:solidFill>
                <a:latin typeface="Arial"/>
              </a:rPr>
              <a:t>Data verification</a:t>
            </a:r>
          </a:p>
        </p:txBody>
      </p:sp>
      <p:sp>
        <p:nvSpPr>
          <p:cNvPr id="15380" name="TextBox 15379"/>
          <p:cNvSpPr txBox="1"/>
          <p:nvPr/>
        </p:nvSpPr>
        <p:spPr>
          <a:xfrm>
            <a:off x="4206240" y="2798064"/>
            <a:ext cx="1897379" cy="237744"/>
          </a:xfrm>
          <a:prstGeom prst="rect">
            <a:avLst/>
          </a:prstGeom>
          <a:noFill/>
        </p:spPr>
        <p:txBody>
          <a:bodyPr wrap="square" lIns="45720" rIns="45720" tIns="18288" bIns="18288" anchor="ctr"/>
          <a:lstStyle/>
          <a:p>
            <a:pPr algn="ctr"/>
            <a:r>
              <a:rPr sz="1100" b="0" i="0">
                <a:solidFill>
                  <a:srgbClr val="595959"/>
                </a:solidFill>
                <a:latin typeface="Arial"/>
              </a:rPr>
              <a:t>31 explained rules</a:t>
            </a:r>
          </a:p>
        </p:txBody>
      </p:sp>
      <p:sp>
        <p:nvSpPr>
          <p:cNvPr id="15381" name="Oval 15380"/>
          <p:cNvSpPr/>
          <p:nvPr/>
        </p:nvSpPr>
        <p:spPr>
          <a:xfrm>
            <a:off x="6750557" y="1920240"/>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82" name="Picture 15381" descr="LuDatabase_white.png"/>
          <p:cNvPicPr>
            <a:picLocks noChangeAspect="1"/>
          </p:cNvPicPr>
          <p:nvPr/>
        </p:nvPicPr>
        <p:blipFill>
          <a:blip r:embed="rId7"/>
          <a:stretch>
            <a:fillRect/>
          </a:stretch>
        </p:blipFill>
        <p:spPr>
          <a:xfrm>
            <a:off x="6883328" y="2053010"/>
            <a:ext cx="337962" cy="337962"/>
          </a:xfrm>
          <a:prstGeom prst="rect">
            <a:avLst/>
          </a:prstGeom>
        </p:spPr>
      </p:pic>
      <p:cxnSp>
        <p:nvCxnSpPr>
          <p:cNvPr id="15383" name="Connector 15382"/>
          <p:cNvCxnSpPr/>
          <p:nvPr/>
        </p:nvCxnSpPr>
        <p:spPr>
          <a:xfrm>
            <a:off x="7436358" y="2221992"/>
            <a:ext cx="1129284"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84" name="TextBox 15383"/>
          <p:cNvSpPr txBox="1"/>
          <p:nvPr/>
        </p:nvSpPr>
        <p:spPr>
          <a:xfrm>
            <a:off x="6103620" y="2560320"/>
            <a:ext cx="1897379" cy="256032"/>
          </a:xfrm>
          <a:prstGeom prst="rect">
            <a:avLst/>
          </a:prstGeom>
          <a:noFill/>
        </p:spPr>
        <p:txBody>
          <a:bodyPr wrap="square" lIns="45720" rIns="45720" tIns="18288" bIns="18288" anchor="ctr"/>
          <a:lstStyle/>
          <a:p>
            <a:pPr algn="ctr"/>
            <a:r>
              <a:rPr sz="1200" b="1" i="0">
                <a:solidFill>
                  <a:srgbClr val="1F3864"/>
                </a:solidFill>
                <a:latin typeface="Arial"/>
              </a:rPr>
              <a:t>Central repository</a:t>
            </a:r>
          </a:p>
        </p:txBody>
      </p:sp>
      <p:sp>
        <p:nvSpPr>
          <p:cNvPr id="15385" name="TextBox 15384"/>
          <p:cNvSpPr txBox="1"/>
          <p:nvPr/>
        </p:nvSpPr>
        <p:spPr>
          <a:xfrm>
            <a:off x="6103620" y="2798064"/>
            <a:ext cx="1897379" cy="237744"/>
          </a:xfrm>
          <a:prstGeom prst="rect">
            <a:avLst/>
          </a:prstGeom>
          <a:noFill/>
        </p:spPr>
        <p:txBody>
          <a:bodyPr wrap="square" lIns="45720" rIns="45720" tIns="18288" bIns="18288" anchor="ctr"/>
          <a:lstStyle/>
          <a:p>
            <a:pPr algn="ctr"/>
            <a:r>
              <a:rPr sz="1100" b="0" i="0">
                <a:solidFill>
                  <a:srgbClr val="595959"/>
                </a:solidFill>
                <a:latin typeface="Arial"/>
              </a:rPr>
              <a:t>one record per student</a:t>
            </a:r>
          </a:p>
        </p:txBody>
      </p:sp>
      <p:sp>
        <p:nvSpPr>
          <p:cNvPr id="15386" name="Oval 15385"/>
          <p:cNvSpPr/>
          <p:nvPr/>
        </p:nvSpPr>
        <p:spPr>
          <a:xfrm>
            <a:off x="8647937" y="1920240"/>
            <a:ext cx="603504" cy="60350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87" name="Picture 15386" descr="LuActivity_white.png"/>
          <p:cNvPicPr>
            <a:picLocks noChangeAspect="1"/>
          </p:cNvPicPr>
          <p:nvPr/>
        </p:nvPicPr>
        <p:blipFill>
          <a:blip r:embed="rId8"/>
          <a:stretch>
            <a:fillRect/>
          </a:stretch>
        </p:blipFill>
        <p:spPr>
          <a:xfrm>
            <a:off x="8780708" y="2053010"/>
            <a:ext cx="337962" cy="337962"/>
          </a:xfrm>
          <a:prstGeom prst="rect">
            <a:avLst/>
          </a:prstGeom>
        </p:spPr>
      </p:pic>
      <p:cxnSp>
        <p:nvCxnSpPr>
          <p:cNvPr id="15388" name="Connector 15387"/>
          <p:cNvCxnSpPr/>
          <p:nvPr/>
        </p:nvCxnSpPr>
        <p:spPr>
          <a:xfrm>
            <a:off x="9333737" y="2221992"/>
            <a:ext cx="1129284" cy="0"/>
          </a:xfrm>
          <a:prstGeom prst="line">
            <a:avLst/>
          </a:prstGeom>
          <a:ln w="25400">
            <a:solidFill>
              <a:srgbClr val="0070C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89" name="TextBox 15388"/>
          <p:cNvSpPr txBox="1"/>
          <p:nvPr/>
        </p:nvSpPr>
        <p:spPr>
          <a:xfrm>
            <a:off x="8000999" y="2560320"/>
            <a:ext cx="1897379" cy="256032"/>
          </a:xfrm>
          <a:prstGeom prst="rect">
            <a:avLst/>
          </a:prstGeom>
          <a:noFill/>
        </p:spPr>
        <p:txBody>
          <a:bodyPr wrap="square" lIns="45720" rIns="45720" tIns="18288" bIns="18288" anchor="ctr"/>
          <a:lstStyle/>
          <a:p>
            <a:pPr algn="ctr"/>
            <a:r>
              <a:rPr sz="1200" b="1" i="0">
                <a:solidFill>
                  <a:srgbClr val="1F3864"/>
                </a:solidFill>
                <a:latin typeface="Arial"/>
              </a:rPr>
              <a:t>Analytics &amp; monitoring</a:t>
            </a:r>
          </a:p>
        </p:txBody>
      </p:sp>
      <p:sp>
        <p:nvSpPr>
          <p:cNvPr id="15390" name="TextBox 15389"/>
          <p:cNvSpPr txBox="1"/>
          <p:nvPr/>
        </p:nvSpPr>
        <p:spPr>
          <a:xfrm>
            <a:off x="8000999" y="2798064"/>
            <a:ext cx="1897379" cy="237744"/>
          </a:xfrm>
          <a:prstGeom prst="rect">
            <a:avLst/>
          </a:prstGeom>
          <a:noFill/>
        </p:spPr>
        <p:txBody>
          <a:bodyPr wrap="square" lIns="45720" rIns="45720" tIns="18288" bIns="18288" anchor="ctr"/>
          <a:lstStyle/>
          <a:p>
            <a:pPr algn="ctr"/>
            <a:r>
              <a:rPr sz="1100" b="0" i="0">
                <a:solidFill>
                  <a:srgbClr val="595959"/>
                </a:solidFill>
                <a:latin typeface="Arial"/>
              </a:rPr>
              <a:t>live, case by case</a:t>
            </a:r>
          </a:p>
        </p:txBody>
      </p:sp>
      <p:sp>
        <p:nvSpPr>
          <p:cNvPr id="15391" name="Oval 15390"/>
          <p:cNvSpPr/>
          <p:nvPr/>
        </p:nvSpPr>
        <p:spPr>
          <a:xfrm>
            <a:off x="10545317" y="1920240"/>
            <a:ext cx="603504" cy="603504"/>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392" name="Picture 15391" descr="LuQrCode_white.png"/>
          <p:cNvPicPr>
            <a:picLocks noChangeAspect="1"/>
          </p:cNvPicPr>
          <p:nvPr/>
        </p:nvPicPr>
        <p:blipFill>
          <a:blip r:embed="rId9"/>
          <a:stretch>
            <a:fillRect/>
          </a:stretch>
        </p:blipFill>
        <p:spPr>
          <a:xfrm>
            <a:off x="10678088" y="2053010"/>
            <a:ext cx="337962" cy="337962"/>
          </a:xfrm>
          <a:prstGeom prst="rect">
            <a:avLst/>
          </a:prstGeom>
        </p:spPr>
      </p:pic>
      <p:sp>
        <p:nvSpPr>
          <p:cNvPr id="15393" name="TextBox 15392"/>
          <p:cNvSpPr txBox="1"/>
          <p:nvPr/>
        </p:nvSpPr>
        <p:spPr>
          <a:xfrm>
            <a:off x="9898379" y="2560320"/>
            <a:ext cx="1897379" cy="256032"/>
          </a:xfrm>
          <a:prstGeom prst="rect">
            <a:avLst/>
          </a:prstGeom>
          <a:noFill/>
        </p:spPr>
        <p:txBody>
          <a:bodyPr wrap="square" lIns="45720" rIns="45720" tIns="18288" bIns="18288" anchor="ctr"/>
          <a:lstStyle/>
          <a:p>
            <a:pPr algn="ctr"/>
            <a:r>
              <a:rPr sz="1200" b="1" i="0">
                <a:solidFill>
                  <a:srgbClr val="1F3864"/>
                </a:solidFill>
                <a:latin typeface="Arial"/>
              </a:rPr>
              <a:t>Authorised verification</a:t>
            </a:r>
          </a:p>
        </p:txBody>
      </p:sp>
      <p:sp>
        <p:nvSpPr>
          <p:cNvPr id="15394" name="TextBox 15393"/>
          <p:cNvSpPr txBox="1"/>
          <p:nvPr/>
        </p:nvSpPr>
        <p:spPr>
          <a:xfrm>
            <a:off x="9898379" y="2798064"/>
            <a:ext cx="1897379" cy="237744"/>
          </a:xfrm>
          <a:prstGeom prst="rect">
            <a:avLst/>
          </a:prstGeom>
          <a:noFill/>
        </p:spPr>
        <p:txBody>
          <a:bodyPr wrap="square" lIns="45720" rIns="45720" tIns="18288" bIns="18288" anchor="ctr"/>
          <a:lstStyle/>
          <a:p>
            <a:pPr algn="ctr"/>
            <a:r>
              <a:rPr sz="1100" b="0" i="0">
                <a:solidFill>
                  <a:srgbClr val="595959"/>
                </a:solidFill>
                <a:latin typeface="Arial"/>
              </a:rPr>
              <a:t>consent + signed QR</a:t>
            </a:r>
          </a:p>
        </p:txBody>
      </p:sp>
      <p:sp>
        <p:nvSpPr>
          <p:cNvPr id="15395" name="Rounded Rectangle 15394"/>
          <p:cNvSpPr/>
          <p:nvPr/>
        </p:nvSpPr>
        <p:spPr>
          <a:xfrm>
            <a:off x="320040" y="3200400"/>
            <a:ext cx="566928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How it addresses the problem</a:t>
            </a:r>
          </a:p>
        </p:txBody>
      </p:sp>
      <p:sp>
        <p:nvSpPr>
          <p:cNvPr id="15396" name="Rounded Rectangle 15395"/>
          <p:cNvSpPr/>
          <p:nvPr/>
        </p:nvSpPr>
        <p:spPr>
          <a:xfrm>
            <a:off x="320040" y="3639312"/>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B42B2B"/>
                </a:solidFill>
                <a:latin typeface="Arial"/>
              </a:rPr>
              <a:t>✖  </a:t>
            </a:r>
            <a:r>
              <a:rPr sz="1100" b="0" i="0">
                <a:solidFill>
                  <a:srgbClr val="1A1A1A"/>
                </a:solidFill>
                <a:latin typeface="Arial"/>
              </a:rPr>
              <a:t>Only totals reach AICTE; AISHE is 2–3 years late</a:t>
            </a:r>
          </a:p>
        </p:txBody>
      </p:sp>
      <p:cxnSp>
        <p:nvCxnSpPr>
          <p:cNvPr id="15397" name="Connector 15396"/>
          <p:cNvCxnSpPr/>
          <p:nvPr/>
        </p:nvCxnSpPr>
        <p:spPr>
          <a:xfrm>
            <a:off x="2880360" y="3913632"/>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398" name="Rounded Rectangle 15397"/>
          <p:cNvSpPr/>
          <p:nvPr/>
        </p:nvSpPr>
        <p:spPr>
          <a:xfrm>
            <a:off x="3383280" y="3639312"/>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1E7B3E"/>
                </a:solidFill>
                <a:latin typeface="Arial"/>
              </a:rPr>
              <a:t>✔  </a:t>
            </a:r>
            <a:r>
              <a:rPr sz="1100" b="0" i="0">
                <a:solidFill>
                  <a:srgbClr val="1A1A1A"/>
                </a:solidFill>
                <a:latin typeface="Arial"/>
              </a:rPr>
              <a:t>Student-level records keyed on APAAR, live</a:t>
            </a:r>
          </a:p>
        </p:txBody>
      </p:sp>
      <p:sp>
        <p:nvSpPr>
          <p:cNvPr id="15399" name="Rounded Rectangle 15398"/>
          <p:cNvSpPr/>
          <p:nvPr/>
        </p:nvSpPr>
        <p:spPr>
          <a:xfrm>
            <a:off x="320040" y="4297680"/>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B42B2B"/>
                </a:solidFill>
                <a:latin typeface="Arial"/>
              </a:rPr>
              <a:t>✖  </a:t>
            </a:r>
            <a:r>
              <a:rPr sz="1100" b="0" i="0">
                <a:solidFill>
                  <a:srgbClr val="1A1A1A"/>
                </a:solidFill>
                <a:latin typeface="Arial"/>
              </a:rPr>
              <a:t>Excess admission = 5× fee fine per student, found late</a:t>
            </a:r>
          </a:p>
        </p:txBody>
      </p:sp>
      <p:cxnSp>
        <p:nvCxnSpPr>
          <p:cNvPr id="15400" name="Connector 15399"/>
          <p:cNvCxnSpPr/>
          <p:nvPr/>
        </p:nvCxnSpPr>
        <p:spPr>
          <a:xfrm>
            <a:off x="2880360" y="4572000"/>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1" name="Rounded Rectangle 15400"/>
          <p:cNvSpPr/>
          <p:nvPr/>
        </p:nvSpPr>
        <p:spPr>
          <a:xfrm>
            <a:off x="3383280" y="4297680"/>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1E7B3E"/>
                </a:solidFill>
                <a:latin typeface="Arial"/>
              </a:rPr>
              <a:t>✔  </a:t>
            </a:r>
            <a:r>
              <a:rPr sz="1100" b="0" i="0">
                <a:solidFill>
                  <a:srgbClr val="1A1A1A"/>
                </a:solidFill>
                <a:latin typeface="Arial"/>
              </a:rPr>
              <a:t>Seat #61 of 60 blocked at upload and at submit</a:t>
            </a:r>
          </a:p>
        </p:txBody>
      </p:sp>
      <p:sp>
        <p:nvSpPr>
          <p:cNvPr id="15402" name="Rounded Rectangle 15401"/>
          <p:cNvSpPr/>
          <p:nvPr/>
        </p:nvSpPr>
        <p:spPr>
          <a:xfrm>
            <a:off x="320040" y="4956048"/>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B42B2B"/>
                </a:solidFill>
                <a:latin typeface="Arial"/>
              </a:rPr>
              <a:t>✖  </a:t>
            </a:r>
            <a:r>
              <a:rPr sz="1100" b="0" i="0">
                <a:solidFill>
                  <a:srgbClr val="1A1A1A"/>
                </a:solidFill>
                <a:latin typeface="Arial"/>
              </a:rPr>
              <a:t>Same student at 2 colleges; agent-filled admissions</a:t>
            </a:r>
          </a:p>
        </p:txBody>
      </p:sp>
      <p:cxnSp>
        <p:nvCxnSpPr>
          <p:cNvPr id="15403" name="Connector 15402"/>
          <p:cNvCxnSpPr/>
          <p:nvPr/>
        </p:nvCxnSpPr>
        <p:spPr>
          <a:xfrm>
            <a:off x="2880360" y="5230368"/>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4" name="Rounded Rectangle 15403"/>
          <p:cNvSpPr/>
          <p:nvPr/>
        </p:nvSpPr>
        <p:spPr>
          <a:xfrm>
            <a:off x="3383280" y="4956048"/>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1E7B3E"/>
                </a:solidFill>
                <a:latin typeface="Arial"/>
              </a:rPr>
              <a:t>✔  </a:t>
            </a:r>
            <a:r>
              <a:rPr sz="1100" b="0" i="0">
                <a:solidFill>
                  <a:srgbClr val="1A1A1A"/>
                </a:solidFill>
                <a:latin typeface="Arial"/>
              </a:rPr>
              <a:t>Cross-college match + shared-contact rings</a:t>
            </a:r>
          </a:p>
        </p:txBody>
      </p:sp>
      <p:sp>
        <p:nvSpPr>
          <p:cNvPr id="15405" name="Rounded Rectangle 15404"/>
          <p:cNvSpPr/>
          <p:nvPr/>
        </p:nvSpPr>
        <p:spPr>
          <a:xfrm>
            <a:off x="320040" y="5614416"/>
            <a:ext cx="2514600" cy="548640"/>
          </a:xfrm>
          <a:prstGeom prst="roundRect">
            <a:avLst>
              <a:gd name="adj" fmla="val 16666"/>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B42B2B"/>
                </a:solidFill>
                <a:latin typeface="Arial"/>
              </a:rPr>
              <a:t>✖  </a:t>
            </a:r>
            <a:r>
              <a:rPr sz="1100" b="0" i="0">
                <a:solidFill>
                  <a:srgbClr val="1A1A1A"/>
                </a:solidFill>
                <a:latin typeface="Arial"/>
              </a:rPr>
              <a:t>Records can't be verified at source</a:t>
            </a:r>
          </a:p>
        </p:txBody>
      </p:sp>
      <p:cxnSp>
        <p:nvCxnSpPr>
          <p:cNvPr id="15406" name="Connector 15405"/>
          <p:cNvCxnSpPr/>
          <p:nvPr/>
        </p:nvCxnSpPr>
        <p:spPr>
          <a:xfrm>
            <a:off x="2880360" y="5888736"/>
            <a:ext cx="457200"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407" name="Rounded Rectangle 15406"/>
          <p:cNvSpPr/>
          <p:nvPr/>
        </p:nvSpPr>
        <p:spPr>
          <a:xfrm>
            <a:off x="3383280" y="5614416"/>
            <a:ext cx="2606040" cy="548640"/>
          </a:xfrm>
          <a:prstGeom prst="roundRect">
            <a:avLst>
              <a:gd name="adj" fmla="val 16666"/>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100" b="1" i="0">
                <a:solidFill>
                  <a:srgbClr val="1E7B3E"/>
                </a:solidFill>
                <a:latin typeface="Arial"/>
              </a:rPr>
              <a:t>✔  </a:t>
            </a:r>
            <a:r>
              <a:rPr sz="1100" b="0" i="0">
                <a:solidFill>
                  <a:srgbClr val="1A1A1A"/>
                </a:solidFill>
                <a:latin typeface="Arial"/>
              </a:rPr>
              <a:t>Signed QR (checks offline) + consent for more</a:t>
            </a:r>
          </a:p>
        </p:txBody>
      </p:sp>
      <p:sp>
        <p:nvSpPr>
          <p:cNvPr id="15408" name="Rounded Rectangle 15407"/>
          <p:cNvSpPr/>
          <p:nvPr/>
        </p:nvSpPr>
        <p:spPr>
          <a:xfrm>
            <a:off x="6217920" y="3200400"/>
            <a:ext cx="565099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Innovation and uniqueness of the solution</a:t>
            </a:r>
          </a:p>
        </p:txBody>
      </p:sp>
      <p:sp>
        <p:nvSpPr>
          <p:cNvPr id="15409" name="Rounded Rectangle 15408"/>
          <p:cNvSpPr/>
          <p:nvPr/>
        </p:nvSpPr>
        <p:spPr>
          <a:xfrm>
            <a:off x="6217920" y="3639312"/>
            <a:ext cx="1810512" cy="1243584"/>
          </a:xfrm>
          <a:prstGeom prst="roundRect">
            <a:avLst>
              <a:gd name="adj" fmla="val 8823"/>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10" name="Oval 15409"/>
          <p:cNvSpPr/>
          <p:nvPr/>
        </p:nvSpPr>
        <p:spPr>
          <a:xfrm>
            <a:off x="6876288" y="3730752"/>
            <a:ext cx="493776" cy="49377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11" name="Picture 15410" descr="LuUsers2_white.png"/>
          <p:cNvPicPr>
            <a:picLocks noChangeAspect="1"/>
          </p:cNvPicPr>
          <p:nvPr/>
        </p:nvPicPr>
        <p:blipFill>
          <a:blip r:embed="rId10"/>
          <a:stretch>
            <a:fillRect/>
          </a:stretch>
        </p:blipFill>
        <p:spPr>
          <a:xfrm>
            <a:off x="6984918" y="3839382"/>
            <a:ext cx="276514" cy="276514"/>
          </a:xfrm>
          <a:prstGeom prst="rect">
            <a:avLst/>
          </a:prstGeom>
        </p:spPr>
      </p:pic>
      <p:sp>
        <p:nvSpPr>
          <p:cNvPr id="15412" name="TextBox 15411"/>
          <p:cNvSpPr txBox="1"/>
          <p:nvPr/>
        </p:nvSpPr>
        <p:spPr>
          <a:xfrm>
            <a:off x="6263640" y="4242816"/>
            <a:ext cx="1719072" cy="256032"/>
          </a:xfrm>
          <a:prstGeom prst="rect">
            <a:avLst/>
          </a:prstGeom>
          <a:noFill/>
        </p:spPr>
        <p:txBody>
          <a:bodyPr wrap="square" lIns="45720" rIns="45720" tIns="18288" bIns="18288" anchor="ctr"/>
          <a:lstStyle/>
          <a:p>
            <a:pPr algn="ctr"/>
            <a:r>
              <a:rPr sz="1200" b="1" i="0">
                <a:solidFill>
                  <a:srgbClr val="1F3864"/>
                </a:solidFill>
                <a:latin typeface="Arial"/>
              </a:rPr>
              <a:t>Twin-safe matching</a:t>
            </a:r>
          </a:p>
        </p:txBody>
      </p:sp>
      <p:sp>
        <p:nvSpPr>
          <p:cNvPr id="15413" name="TextBox 15412"/>
          <p:cNvSpPr txBox="1"/>
          <p:nvPr/>
        </p:nvSpPr>
        <p:spPr>
          <a:xfrm>
            <a:off x="6263640" y="4489704"/>
            <a:ext cx="1719072" cy="365760"/>
          </a:xfrm>
          <a:prstGeom prst="rect">
            <a:avLst/>
          </a:prstGeom>
          <a:noFill/>
        </p:spPr>
        <p:txBody>
          <a:bodyPr wrap="square" lIns="45720" rIns="45720" tIns="18288" bIns="18288" anchor="t"/>
          <a:lstStyle/>
          <a:p>
            <a:pPr algn="ctr"/>
            <a:r>
              <a:rPr sz="1050" b="0" i="0">
                <a:solidFill>
                  <a:srgbClr val="595959"/>
                </a:solidFill>
                <a:latin typeface="Arial"/>
              </a:rPr>
              <a:t>Mohd = Mohammed,
but Rohit ≠ Mohit</a:t>
            </a:r>
          </a:p>
        </p:txBody>
      </p:sp>
      <p:sp>
        <p:nvSpPr>
          <p:cNvPr id="15414" name="Rounded Rectangle 15413"/>
          <p:cNvSpPr/>
          <p:nvPr/>
        </p:nvSpPr>
        <p:spPr>
          <a:xfrm>
            <a:off x="8138160" y="3639312"/>
            <a:ext cx="1810512" cy="1243584"/>
          </a:xfrm>
          <a:prstGeom prst="roundRect">
            <a:avLst>
              <a:gd name="adj" fmla="val 8823"/>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15" name="Oval 15414"/>
          <p:cNvSpPr/>
          <p:nvPr/>
        </p:nvSpPr>
        <p:spPr>
          <a:xfrm>
            <a:off x="8796528" y="3730752"/>
            <a:ext cx="493776" cy="49377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16" name="Picture 15415" descr="LuNetwork_white.png"/>
          <p:cNvPicPr>
            <a:picLocks noChangeAspect="1"/>
          </p:cNvPicPr>
          <p:nvPr/>
        </p:nvPicPr>
        <p:blipFill>
          <a:blip r:embed="rId11"/>
          <a:stretch>
            <a:fillRect/>
          </a:stretch>
        </p:blipFill>
        <p:spPr>
          <a:xfrm>
            <a:off x="8905158" y="3839382"/>
            <a:ext cx="276514" cy="276514"/>
          </a:xfrm>
          <a:prstGeom prst="rect">
            <a:avLst/>
          </a:prstGeom>
        </p:spPr>
      </p:pic>
      <p:sp>
        <p:nvSpPr>
          <p:cNvPr id="15417" name="TextBox 15416"/>
          <p:cNvSpPr txBox="1"/>
          <p:nvPr/>
        </p:nvSpPr>
        <p:spPr>
          <a:xfrm>
            <a:off x="8183880" y="4242816"/>
            <a:ext cx="1719072" cy="256032"/>
          </a:xfrm>
          <a:prstGeom prst="rect">
            <a:avLst/>
          </a:prstGeom>
          <a:noFill/>
        </p:spPr>
        <p:txBody>
          <a:bodyPr wrap="square" lIns="45720" rIns="45720" tIns="18288" bIns="18288" anchor="ctr"/>
          <a:lstStyle/>
          <a:p>
            <a:pPr algn="ctr"/>
            <a:r>
              <a:rPr sz="1200" b="1" i="0">
                <a:solidFill>
                  <a:srgbClr val="1F3864"/>
                </a:solidFill>
                <a:latin typeface="Arial"/>
              </a:rPr>
              <a:t>Ghost-admission map</a:t>
            </a:r>
          </a:p>
        </p:txBody>
      </p:sp>
      <p:sp>
        <p:nvSpPr>
          <p:cNvPr id="15418" name="TextBox 15417"/>
          <p:cNvSpPr txBox="1"/>
          <p:nvPr/>
        </p:nvSpPr>
        <p:spPr>
          <a:xfrm>
            <a:off x="8183880" y="4489704"/>
            <a:ext cx="1719072" cy="365760"/>
          </a:xfrm>
          <a:prstGeom prst="rect">
            <a:avLst/>
          </a:prstGeom>
          <a:noFill/>
        </p:spPr>
        <p:txBody>
          <a:bodyPr wrap="square" lIns="45720" rIns="45720" tIns="18288" bIns="18288" anchor="t"/>
          <a:lstStyle/>
          <a:p>
            <a:pPr algn="ctr"/>
            <a:r>
              <a:rPr sz="1050" b="0" i="0">
                <a:solidFill>
                  <a:srgbClr val="595959"/>
                </a:solidFill>
                <a:latin typeface="Arial"/>
              </a:rPr>
              <a:t>1 phone, 8 students,
2 colleges: flagged</a:t>
            </a:r>
          </a:p>
        </p:txBody>
      </p:sp>
      <p:sp>
        <p:nvSpPr>
          <p:cNvPr id="15419" name="Rounded Rectangle 15418"/>
          <p:cNvSpPr/>
          <p:nvPr/>
        </p:nvSpPr>
        <p:spPr>
          <a:xfrm>
            <a:off x="10058400" y="3639312"/>
            <a:ext cx="1810512" cy="1243584"/>
          </a:xfrm>
          <a:prstGeom prst="roundRect">
            <a:avLst>
              <a:gd name="adj" fmla="val 8823"/>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20" name="Oval 15419"/>
          <p:cNvSpPr/>
          <p:nvPr/>
        </p:nvSpPr>
        <p:spPr>
          <a:xfrm>
            <a:off x="10716768" y="3730752"/>
            <a:ext cx="493776" cy="49377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21" name="Picture 15420" descr="LuHistory_white.png"/>
          <p:cNvPicPr>
            <a:picLocks noChangeAspect="1"/>
          </p:cNvPicPr>
          <p:nvPr/>
        </p:nvPicPr>
        <p:blipFill>
          <a:blip r:embed="rId12"/>
          <a:stretch>
            <a:fillRect/>
          </a:stretch>
        </p:blipFill>
        <p:spPr>
          <a:xfrm>
            <a:off x="10825398" y="3839382"/>
            <a:ext cx="276514" cy="276514"/>
          </a:xfrm>
          <a:prstGeom prst="rect">
            <a:avLst/>
          </a:prstGeom>
        </p:spPr>
      </p:pic>
      <p:sp>
        <p:nvSpPr>
          <p:cNvPr id="15422" name="TextBox 15421"/>
          <p:cNvSpPr txBox="1"/>
          <p:nvPr/>
        </p:nvSpPr>
        <p:spPr>
          <a:xfrm>
            <a:off x="10104120" y="4242816"/>
            <a:ext cx="1719072" cy="256032"/>
          </a:xfrm>
          <a:prstGeom prst="rect">
            <a:avLst/>
          </a:prstGeom>
          <a:noFill/>
        </p:spPr>
        <p:txBody>
          <a:bodyPr wrap="square" lIns="45720" rIns="45720" tIns="18288" bIns="18288" anchor="ctr"/>
          <a:lstStyle/>
          <a:p>
            <a:pPr algn="ctr"/>
            <a:r>
              <a:rPr sz="1200" b="1" i="0">
                <a:solidFill>
                  <a:srgbClr val="1F3864"/>
                </a:solidFill>
                <a:latin typeface="Arial"/>
              </a:rPr>
              <a:t>Decisions kept</a:t>
            </a:r>
          </a:p>
        </p:txBody>
      </p:sp>
      <p:sp>
        <p:nvSpPr>
          <p:cNvPr id="15423" name="TextBox 15422"/>
          <p:cNvSpPr txBox="1"/>
          <p:nvPr/>
        </p:nvSpPr>
        <p:spPr>
          <a:xfrm>
            <a:off x="10104120" y="4489704"/>
            <a:ext cx="1719072" cy="365760"/>
          </a:xfrm>
          <a:prstGeom prst="rect">
            <a:avLst/>
          </a:prstGeom>
          <a:noFill/>
        </p:spPr>
        <p:txBody>
          <a:bodyPr wrap="square" lIns="45720" rIns="45720" tIns="18288" bIns="18288" anchor="t"/>
          <a:lstStyle/>
          <a:p>
            <a:pPr algn="ctr"/>
            <a:r>
              <a:rPr sz="1050" b="0" i="0">
                <a:solidFill>
                  <a:srgbClr val="595959"/>
                </a:solidFill>
                <a:latin typeface="Arial"/>
              </a:rPr>
              <a:t>reason required;
never re-flagged</a:t>
            </a:r>
          </a:p>
        </p:txBody>
      </p:sp>
      <p:sp>
        <p:nvSpPr>
          <p:cNvPr id="15424" name="Rounded Rectangle 15423"/>
          <p:cNvSpPr/>
          <p:nvPr/>
        </p:nvSpPr>
        <p:spPr>
          <a:xfrm>
            <a:off x="6217920" y="4992624"/>
            <a:ext cx="1810512" cy="1243584"/>
          </a:xfrm>
          <a:prstGeom prst="roundRect">
            <a:avLst>
              <a:gd name="adj" fmla="val 8823"/>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25" name="Oval 15424"/>
          <p:cNvSpPr/>
          <p:nvPr/>
        </p:nvSpPr>
        <p:spPr>
          <a:xfrm>
            <a:off x="6876288" y="5084064"/>
            <a:ext cx="493776" cy="49377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26" name="Picture 15425" descr="LuStamp_white.png"/>
          <p:cNvPicPr>
            <a:picLocks noChangeAspect="1"/>
          </p:cNvPicPr>
          <p:nvPr/>
        </p:nvPicPr>
        <p:blipFill>
          <a:blip r:embed="rId13"/>
          <a:stretch>
            <a:fillRect/>
          </a:stretch>
        </p:blipFill>
        <p:spPr>
          <a:xfrm>
            <a:off x="6984918" y="5192694"/>
            <a:ext cx="276514" cy="276514"/>
          </a:xfrm>
          <a:prstGeom prst="rect">
            <a:avLst/>
          </a:prstGeom>
        </p:spPr>
      </p:pic>
      <p:sp>
        <p:nvSpPr>
          <p:cNvPr id="15427" name="TextBox 15426"/>
          <p:cNvSpPr txBox="1"/>
          <p:nvPr/>
        </p:nvSpPr>
        <p:spPr>
          <a:xfrm>
            <a:off x="6263640" y="5596128"/>
            <a:ext cx="1719072" cy="256032"/>
          </a:xfrm>
          <a:prstGeom prst="rect">
            <a:avLst/>
          </a:prstGeom>
          <a:noFill/>
        </p:spPr>
        <p:txBody>
          <a:bodyPr wrap="square" lIns="45720" rIns="45720" tIns="18288" bIns="18288" anchor="ctr"/>
          <a:lstStyle/>
          <a:p>
            <a:pPr algn="ctr"/>
            <a:r>
              <a:rPr sz="1200" b="1" i="0">
                <a:solidFill>
                  <a:srgbClr val="1F3864"/>
                </a:solidFill>
                <a:latin typeface="Arial"/>
              </a:rPr>
              <a:t>Signed checkpoints</a:t>
            </a:r>
          </a:p>
        </p:txBody>
      </p:sp>
      <p:sp>
        <p:nvSpPr>
          <p:cNvPr id="15428" name="TextBox 15427"/>
          <p:cNvSpPr txBox="1"/>
          <p:nvPr/>
        </p:nvSpPr>
        <p:spPr>
          <a:xfrm>
            <a:off x="6263640" y="5843016"/>
            <a:ext cx="1719072" cy="365760"/>
          </a:xfrm>
          <a:prstGeom prst="rect">
            <a:avLst/>
          </a:prstGeom>
          <a:noFill/>
        </p:spPr>
        <p:txBody>
          <a:bodyPr wrap="square" lIns="45720" rIns="45720" tIns="18288" bIns="18288" anchor="t"/>
          <a:lstStyle/>
          <a:p>
            <a:pPr algn="ctr"/>
            <a:r>
              <a:rPr sz="1050" b="0" i="0">
                <a:solidFill>
                  <a:srgbClr val="595959"/>
                </a:solidFill>
                <a:latin typeface="Arial"/>
              </a:rPr>
              <a:t>even a full history
rewrite is caught</a:t>
            </a:r>
          </a:p>
        </p:txBody>
      </p:sp>
      <p:sp>
        <p:nvSpPr>
          <p:cNvPr id="15429" name="Rounded Rectangle 15428"/>
          <p:cNvSpPr/>
          <p:nvPr/>
        </p:nvSpPr>
        <p:spPr>
          <a:xfrm>
            <a:off x="8138160" y="4992624"/>
            <a:ext cx="1810512" cy="1243584"/>
          </a:xfrm>
          <a:prstGeom prst="roundRect">
            <a:avLst>
              <a:gd name="adj" fmla="val 8823"/>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30" name="Oval 15429"/>
          <p:cNvSpPr/>
          <p:nvPr/>
        </p:nvSpPr>
        <p:spPr>
          <a:xfrm>
            <a:off x="8796528" y="5084064"/>
            <a:ext cx="493776" cy="49377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31" name="Picture 15430" descr="LuScale_white.png"/>
          <p:cNvPicPr>
            <a:picLocks noChangeAspect="1"/>
          </p:cNvPicPr>
          <p:nvPr/>
        </p:nvPicPr>
        <p:blipFill>
          <a:blip r:embed="rId14"/>
          <a:stretch>
            <a:fillRect/>
          </a:stretch>
        </p:blipFill>
        <p:spPr>
          <a:xfrm>
            <a:off x="8905158" y="5192694"/>
            <a:ext cx="276514" cy="276514"/>
          </a:xfrm>
          <a:prstGeom prst="rect">
            <a:avLst/>
          </a:prstGeom>
        </p:spPr>
      </p:pic>
      <p:sp>
        <p:nvSpPr>
          <p:cNvPr id="15432" name="TextBox 15431"/>
          <p:cNvSpPr txBox="1"/>
          <p:nvPr/>
        </p:nvSpPr>
        <p:spPr>
          <a:xfrm>
            <a:off x="8183880" y="5596128"/>
            <a:ext cx="1719072" cy="256032"/>
          </a:xfrm>
          <a:prstGeom prst="rect">
            <a:avLst/>
          </a:prstGeom>
          <a:noFill/>
        </p:spPr>
        <p:txBody>
          <a:bodyPr wrap="square" lIns="45720" rIns="45720" tIns="18288" bIns="18288" anchor="ctr"/>
          <a:lstStyle/>
          <a:p>
            <a:pPr algn="ctr"/>
            <a:r>
              <a:rPr sz="1200" b="1" i="0">
                <a:solidFill>
                  <a:srgbClr val="1F3864"/>
                </a:solidFill>
                <a:latin typeface="Arial"/>
              </a:rPr>
              <a:t>Rules as data</a:t>
            </a:r>
          </a:p>
        </p:txBody>
      </p:sp>
      <p:sp>
        <p:nvSpPr>
          <p:cNvPr id="15433" name="TextBox 15432"/>
          <p:cNvSpPr txBox="1"/>
          <p:nvPr/>
        </p:nvSpPr>
        <p:spPr>
          <a:xfrm>
            <a:off x="8183880" y="5843016"/>
            <a:ext cx="1719072" cy="365760"/>
          </a:xfrm>
          <a:prstGeom prst="rect">
            <a:avLst/>
          </a:prstGeom>
          <a:noFill/>
        </p:spPr>
        <p:txBody>
          <a:bodyPr wrap="square" lIns="45720" rIns="45720" tIns="18288" bIns="18288" anchor="t"/>
          <a:lstStyle/>
          <a:p>
            <a:pPr algn="ctr"/>
            <a:r>
              <a:rPr sz="1050" b="0" i="0">
                <a:solidFill>
                  <a:srgbClr val="595959"/>
                </a:solidFill>
                <a:latin typeface="Arial"/>
              </a:rPr>
              <a:t>2026-27 caps by level,
each with its source</a:t>
            </a:r>
          </a:p>
        </p:txBody>
      </p:sp>
      <p:sp>
        <p:nvSpPr>
          <p:cNvPr id="15434" name="Rounded Rectangle 15433"/>
          <p:cNvSpPr/>
          <p:nvPr/>
        </p:nvSpPr>
        <p:spPr>
          <a:xfrm>
            <a:off x="10058400" y="4992624"/>
            <a:ext cx="1810512" cy="1243584"/>
          </a:xfrm>
          <a:prstGeom prst="roundRect">
            <a:avLst>
              <a:gd name="adj" fmla="val 8823"/>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435" name="Oval 15434"/>
          <p:cNvSpPr/>
          <p:nvPr/>
        </p:nvSpPr>
        <p:spPr>
          <a:xfrm>
            <a:off x="10716768" y="5084064"/>
            <a:ext cx="493776" cy="493776"/>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436" name="Picture 15435" descr="LuGraduationCap_white.png"/>
          <p:cNvPicPr>
            <a:picLocks noChangeAspect="1"/>
          </p:cNvPicPr>
          <p:nvPr/>
        </p:nvPicPr>
        <p:blipFill>
          <a:blip r:embed="rId15"/>
          <a:stretch>
            <a:fillRect/>
          </a:stretch>
        </p:blipFill>
        <p:spPr>
          <a:xfrm>
            <a:off x="10825398" y="5192694"/>
            <a:ext cx="276514" cy="276514"/>
          </a:xfrm>
          <a:prstGeom prst="rect">
            <a:avLst/>
          </a:prstGeom>
        </p:spPr>
      </p:pic>
      <p:sp>
        <p:nvSpPr>
          <p:cNvPr id="15437" name="TextBox 15436"/>
          <p:cNvSpPr txBox="1"/>
          <p:nvPr/>
        </p:nvSpPr>
        <p:spPr>
          <a:xfrm>
            <a:off x="10104120" y="5596128"/>
            <a:ext cx="1719072" cy="256032"/>
          </a:xfrm>
          <a:prstGeom prst="rect">
            <a:avLst/>
          </a:prstGeom>
          <a:noFill/>
        </p:spPr>
        <p:txBody>
          <a:bodyPr wrap="square" lIns="45720" rIns="45720" tIns="18288" bIns="18288" anchor="ctr"/>
          <a:lstStyle/>
          <a:p>
            <a:pPr algn="ctr"/>
            <a:r>
              <a:rPr sz="1200" b="1" i="0">
                <a:solidFill>
                  <a:srgbClr val="1F3864"/>
                </a:solidFill>
                <a:latin typeface="Arial"/>
              </a:rPr>
              <a:t>APAAR on degrees</a:t>
            </a:r>
          </a:p>
        </p:txBody>
      </p:sp>
      <p:sp>
        <p:nvSpPr>
          <p:cNvPr id="15438" name="TextBox 15437"/>
          <p:cNvSpPr txBox="1"/>
          <p:nvPr/>
        </p:nvSpPr>
        <p:spPr>
          <a:xfrm>
            <a:off x="10104120" y="5843016"/>
            <a:ext cx="1719072" cy="365760"/>
          </a:xfrm>
          <a:prstGeom prst="rect">
            <a:avLst/>
          </a:prstGeom>
          <a:noFill/>
        </p:spPr>
        <p:txBody>
          <a:bodyPr wrap="square" lIns="45720" rIns="45720" tIns="18288" bIns="18288" anchor="t"/>
          <a:lstStyle/>
          <a:p>
            <a:pPr algn="ctr"/>
            <a:r>
              <a:rPr sz="1050" b="0" i="0">
                <a:solidFill>
                  <a:srgbClr val="595959"/>
                </a:solidFill>
                <a:latin typeface="Arial"/>
              </a:rPr>
              <a:t>university print feed
with verification QR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Technologies to be used (e.g. programming languages, frameworks, hardware)</a:t>
            </a:r>
          </a:p>
        </p:txBody>
      </p:sp>
      <p:sp>
        <p:nvSpPr>
          <p:cNvPr id="17411" name="Rounded Rectangle 17410"/>
          <p:cNvSpPr/>
          <p:nvPr/>
        </p:nvSpPr>
        <p:spPr>
          <a:xfrm>
            <a:off x="356615"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Oval 17411"/>
          <p:cNvSpPr/>
          <p:nvPr/>
        </p:nvSpPr>
        <p:spPr>
          <a:xfrm>
            <a:off x="429768"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3" name="Picture 17412" descr="LuServer_white.png"/>
          <p:cNvPicPr>
            <a:picLocks noChangeAspect="1"/>
          </p:cNvPicPr>
          <p:nvPr/>
        </p:nvPicPr>
        <p:blipFill>
          <a:blip r:embed="rId4"/>
          <a:stretch>
            <a:fillRect/>
          </a:stretch>
        </p:blipFill>
        <p:spPr>
          <a:xfrm>
            <a:off x="518281" y="1752721"/>
            <a:ext cx="225308" cy="225308"/>
          </a:xfrm>
          <a:prstGeom prst="rect">
            <a:avLst/>
          </a:prstGeom>
        </p:spPr>
      </p:pic>
      <p:sp>
        <p:nvSpPr>
          <p:cNvPr id="17414" name="TextBox 17413"/>
          <p:cNvSpPr txBox="1"/>
          <p:nvPr/>
        </p:nvSpPr>
        <p:spPr>
          <a:xfrm>
            <a:off x="868680"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Python · FastAPI</a:t>
            </a:r>
          </a:p>
        </p:txBody>
      </p:sp>
      <p:sp>
        <p:nvSpPr>
          <p:cNvPr id="17415" name="TextBox 17414"/>
          <p:cNvSpPr txBox="1"/>
          <p:nvPr/>
        </p:nvSpPr>
        <p:spPr>
          <a:xfrm>
            <a:off x="868680"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REST · OpenAPI</a:t>
            </a:r>
          </a:p>
        </p:txBody>
      </p:sp>
      <p:sp>
        <p:nvSpPr>
          <p:cNvPr id="17416" name="Rounded Rectangle 17415"/>
          <p:cNvSpPr/>
          <p:nvPr/>
        </p:nvSpPr>
        <p:spPr>
          <a:xfrm>
            <a:off x="2281428"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Oval 17416"/>
          <p:cNvSpPr/>
          <p:nvPr/>
        </p:nvSpPr>
        <p:spPr>
          <a:xfrm>
            <a:off x="2354580"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8" name="Picture 17417" descr="LuAtom_white.png"/>
          <p:cNvPicPr>
            <a:picLocks noChangeAspect="1"/>
          </p:cNvPicPr>
          <p:nvPr/>
        </p:nvPicPr>
        <p:blipFill>
          <a:blip r:embed="rId5"/>
          <a:stretch>
            <a:fillRect/>
          </a:stretch>
        </p:blipFill>
        <p:spPr>
          <a:xfrm>
            <a:off x="2443093" y="1752721"/>
            <a:ext cx="225308" cy="225308"/>
          </a:xfrm>
          <a:prstGeom prst="rect">
            <a:avLst/>
          </a:prstGeom>
        </p:spPr>
      </p:pic>
      <p:sp>
        <p:nvSpPr>
          <p:cNvPr id="17419" name="TextBox 17418"/>
          <p:cNvSpPr txBox="1"/>
          <p:nvPr/>
        </p:nvSpPr>
        <p:spPr>
          <a:xfrm>
            <a:off x="2793492"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React · TypeScript</a:t>
            </a:r>
          </a:p>
        </p:txBody>
      </p:sp>
      <p:sp>
        <p:nvSpPr>
          <p:cNvPr id="17420" name="TextBox 17419"/>
          <p:cNvSpPr txBox="1"/>
          <p:nvPr/>
        </p:nvSpPr>
        <p:spPr>
          <a:xfrm>
            <a:off x="2793492"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installable PWA</a:t>
            </a:r>
          </a:p>
        </p:txBody>
      </p:sp>
      <p:sp>
        <p:nvSpPr>
          <p:cNvPr id="17421" name="Rounded Rectangle 17420"/>
          <p:cNvSpPr/>
          <p:nvPr/>
        </p:nvSpPr>
        <p:spPr>
          <a:xfrm>
            <a:off x="4206240"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2" name="Oval 17421"/>
          <p:cNvSpPr/>
          <p:nvPr/>
        </p:nvSpPr>
        <p:spPr>
          <a:xfrm>
            <a:off x="4279392"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3" name="Picture 17422" descr="LuDatabase_white.png"/>
          <p:cNvPicPr>
            <a:picLocks noChangeAspect="1"/>
          </p:cNvPicPr>
          <p:nvPr/>
        </p:nvPicPr>
        <p:blipFill>
          <a:blip r:embed="rId6"/>
          <a:stretch>
            <a:fillRect/>
          </a:stretch>
        </p:blipFill>
        <p:spPr>
          <a:xfrm>
            <a:off x="4367905" y="1752721"/>
            <a:ext cx="225308" cy="225308"/>
          </a:xfrm>
          <a:prstGeom prst="rect">
            <a:avLst/>
          </a:prstGeom>
        </p:spPr>
      </p:pic>
      <p:sp>
        <p:nvSpPr>
          <p:cNvPr id="17424" name="TextBox 17423"/>
          <p:cNvSpPr txBox="1"/>
          <p:nvPr/>
        </p:nvSpPr>
        <p:spPr>
          <a:xfrm>
            <a:off x="4718303"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PostgreSQL 16</a:t>
            </a:r>
          </a:p>
        </p:txBody>
      </p:sp>
      <p:sp>
        <p:nvSpPr>
          <p:cNvPr id="17425" name="TextBox 17424"/>
          <p:cNvSpPr txBox="1"/>
          <p:nvPr/>
        </p:nvSpPr>
        <p:spPr>
          <a:xfrm>
            <a:off x="4718303"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SQLite in the demo</a:t>
            </a:r>
          </a:p>
        </p:txBody>
      </p:sp>
      <p:sp>
        <p:nvSpPr>
          <p:cNvPr id="17426" name="Rounded Rectangle 17425"/>
          <p:cNvSpPr/>
          <p:nvPr/>
        </p:nvSpPr>
        <p:spPr>
          <a:xfrm>
            <a:off x="6131051"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7" name="Oval 17426"/>
          <p:cNvSpPr/>
          <p:nvPr/>
        </p:nvSpPr>
        <p:spPr>
          <a:xfrm>
            <a:off x="6204203"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8" name="Picture 17427" descr="LuBrainCircuit_white.png"/>
          <p:cNvPicPr>
            <a:picLocks noChangeAspect="1"/>
          </p:cNvPicPr>
          <p:nvPr/>
        </p:nvPicPr>
        <p:blipFill>
          <a:blip r:embed="rId7"/>
          <a:stretch>
            <a:fillRect/>
          </a:stretch>
        </p:blipFill>
        <p:spPr>
          <a:xfrm>
            <a:off x="6292717" y="1752721"/>
            <a:ext cx="225308" cy="225308"/>
          </a:xfrm>
          <a:prstGeom prst="rect">
            <a:avLst/>
          </a:prstGeom>
        </p:spPr>
      </p:pic>
      <p:sp>
        <p:nvSpPr>
          <p:cNvPr id="17429" name="TextBox 17428"/>
          <p:cNvSpPr txBox="1"/>
          <p:nvPr/>
        </p:nvSpPr>
        <p:spPr>
          <a:xfrm>
            <a:off x="6643115"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scikit-learn</a:t>
            </a:r>
          </a:p>
        </p:txBody>
      </p:sp>
      <p:sp>
        <p:nvSpPr>
          <p:cNvPr id="17430" name="TextBox 17429"/>
          <p:cNvSpPr txBox="1"/>
          <p:nvPr/>
        </p:nvSpPr>
        <p:spPr>
          <a:xfrm>
            <a:off x="6643115"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Isolation Forest</a:t>
            </a:r>
          </a:p>
        </p:txBody>
      </p:sp>
      <p:sp>
        <p:nvSpPr>
          <p:cNvPr id="17431" name="Rounded Rectangle 17430"/>
          <p:cNvSpPr/>
          <p:nvPr/>
        </p:nvSpPr>
        <p:spPr>
          <a:xfrm>
            <a:off x="8055863"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2" name="Oval 17431"/>
          <p:cNvSpPr/>
          <p:nvPr/>
        </p:nvSpPr>
        <p:spPr>
          <a:xfrm>
            <a:off x="8129015"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3" name="Picture 17432" descr="LuUsers2_white.png"/>
          <p:cNvPicPr>
            <a:picLocks noChangeAspect="1"/>
          </p:cNvPicPr>
          <p:nvPr/>
        </p:nvPicPr>
        <p:blipFill>
          <a:blip r:embed="rId8"/>
          <a:stretch>
            <a:fillRect/>
          </a:stretch>
        </p:blipFill>
        <p:spPr>
          <a:xfrm>
            <a:off x="8217529" y="1752721"/>
            <a:ext cx="225308" cy="225308"/>
          </a:xfrm>
          <a:prstGeom prst="rect">
            <a:avLst/>
          </a:prstGeom>
        </p:spPr>
      </p:pic>
      <p:sp>
        <p:nvSpPr>
          <p:cNvPr id="17434" name="TextBox 17433"/>
          <p:cNvSpPr txBox="1"/>
          <p:nvPr/>
        </p:nvSpPr>
        <p:spPr>
          <a:xfrm>
            <a:off x="8567928"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Name matcher</a:t>
            </a:r>
          </a:p>
        </p:txBody>
      </p:sp>
      <p:sp>
        <p:nvSpPr>
          <p:cNvPr id="17435" name="TextBox 17434"/>
          <p:cNvSpPr txBox="1"/>
          <p:nvPr/>
        </p:nvSpPr>
        <p:spPr>
          <a:xfrm>
            <a:off x="8567928"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twin-safe · Indic</a:t>
            </a:r>
          </a:p>
        </p:txBody>
      </p:sp>
      <p:sp>
        <p:nvSpPr>
          <p:cNvPr id="17436" name="Rounded Rectangle 17435"/>
          <p:cNvSpPr/>
          <p:nvPr/>
        </p:nvSpPr>
        <p:spPr>
          <a:xfrm>
            <a:off x="9980676" y="1508760"/>
            <a:ext cx="1851660" cy="713232"/>
          </a:xfrm>
          <a:prstGeom prst="roundRect">
            <a:avLst>
              <a:gd name="adj" fmla="val 15384"/>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7" name="Oval 17436"/>
          <p:cNvSpPr/>
          <p:nvPr/>
        </p:nvSpPr>
        <p:spPr>
          <a:xfrm>
            <a:off x="10053828" y="1664208"/>
            <a:ext cx="402336" cy="402336"/>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8" name="Picture 17437" descr="LuLock_white.png"/>
          <p:cNvPicPr>
            <a:picLocks noChangeAspect="1"/>
          </p:cNvPicPr>
          <p:nvPr/>
        </p:nvPicPr>
        <p:blipFill>
          <a:blip r:embed="rId9"/>
          <a:stretch>
            <a:fillRect/>
          </a:stretch>
        </p:blipFill>
        <p:spPr>
          <a:xfrm>
            <a:off x="10142341" y="1752721"/>
            <a:ext cx="225308" cy="225308"/>
          </a:xfrm>
          <a:prstGeom prst="rect">
            <a:avLst/>
          </a:prstGeom>
        </p:spPr>
      </p:pic>
      <p:sp>
        <p:nvSpPr>
          <p:cNvPr id="17439" name="TextBox 17438"/>
          <p:cNvSpPr txBox="1"/>
          <p:nvPr/>
        </p:nvSpPr>
        <p:spPr>
          <a:xfrm>
            <a:off x="10492740" y="1572768"/>
            <a:ext cx="1321307" cy="310896"/>
          </a:xfrm>
          <a:prstGeom prst="rect">
            <a:avLst/>
          </a:prstGeom>
          <a:noFill/>
        </p:spPr>
        <p:txBody>
          <a:bodyPr wrap="square" lIns="45720" rIns="45720" tIns="18288" bIns="18288" anchor="ctr"/>
          <a:lstStyle/>
          <a:p>
            <a:pPr algn="l"/>
            <a:r>
              <a:rPr sz="1100" b="1" i="0">
                <a:solidFill>
                  <a:srgbClr val="1F3864"/>
                </a:solidFill>
                <a:latin typeface="Arial"/>
              </a:rPr>
              <a:t>Ed25519 · W3C</a:t>
            </a:r>
          </a:p>
        </p:txBody>
      </p:sp>
      <p:sp>
        <p:nvSpPr>
          <p:cNvPr id="17440" name="TextBox 17439"/>
          <p:cNvSpPr txBox="1"/>
          <p:nvPr/>
        </p:nvSpPr>
        <p:spPr>
          <a:xfrm>
            <a:off x="10492740" y="1865376"/>
            <a:ext cx="1321307" cy="274320"/>
          </a:xfrm>
          <a:prstGeom prst="rect">
            <a:avLst/>
          </a:prstGeom>
          <a:noFill/>
        </p:spPr>
        <p:txBody>
          <a:bodyPr wrap="square" lIns="45720" rIns="45720" tIns="18288" bIns="18288" anchor="ctr"/>
          <a:lstStyle/>
          <a:p>
            <a:pPr algn="l"/>
            <a:r>
              <a:rPr sz="1050" b="0" i="0">
                <a:solidFill>
                  <a:srgbClr val="595959"/>
                </a:solidFill>
                <a:latin typeface="Arial"/>
              </a:rPr>
              <a:t>signed QR + audit</a:t>
            </a:r>
          </a:p>
        </p:txBody>
      </p:sp>
      <p:sp>
        <p:nvSpPr>
          <p:cNvPr id="17441" name="Rounded Rectangle 17440"/>
          <p:cNvSpPr/>
          <p:nvPr/>
        </p:nvSpPr>
        <p:spPr>
          <a:xfrm>
            <a:off x="320040" y="237744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Methodology and process for implementation (Flow Charts/Images/ working prototype)</a:t>
            </a:r>
          </a:p>
        </p:txBody>
      </p:sp>
      <p:sp>
        <p:nvSpPr>
          <p:cNvPr id="17442" name="Rounded Rectangle 17441"/>
          <p:cNvSpPr/>
          <p:nvPr/>
        </p:nvSpPr>
        <p:spPr>
          <a:xfrm>
            <a:off x="320040" y="2834640"/>
            <a:ext cx="1600200" cy="566928"/>
          </a:xfrm>
          <a:prstGeom prst="roundRect">
            <a:avLst>
              <a:gd name="adj" fmla="val 16129"/>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1  Upload
Excel / CSV / API</a:t>
            </a:r>
          </a:p>
        </p:txBody>
      </p:sp>
      <p:cxnSp>
        <p:nvCxnSpPr>
          <p:cNvPr id="17443" name="Connector 17442"/>
          <p:cNvCxnSpPr/>
          <p:nvPr/>
        </p:nvCxnSpPr>
        <p:spPr>
          <a:xfrm>
            <a:off x="1920240" y="3118104"/>
            <a:ext cx="22860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4" name="Rounded Rectangle 17443"/>
          <p:cNvSpPr/>
          <p:nvPr/>
        </p:nvSpPr>
        <p:spPr>
          <a:xfrm>
            <a:off x="2148840" y="2834640"/>
            <a:ext cx="1783080" cy="566928"/>
          </a:xfrm>
          <a:prstGeom prst="roundRect">
            <a:avLst>
              <a:gd name="adj" fmla="val 16129"/>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2  Check 31 rules
+ APAAR registry</a:t>
            </a:r>
          </a:p>
        </p:txBody>
      </p:sp>
      <p:cxnSp>
        <p:nvCxnSpPr>
          <p:cNvPr id="17445" name="Connector 17444"/>
          <p:cNvCxnSpPr/>
          <p:nvPr/>
        </p:nvCxnSpPr>
        <p:spPr>
          <a:xfrm>
            <a:off x="3931920" y="3118104"/>
            <a:ext cx="13716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6" name="Diamond 17445"/>
          <p:cNvSpPr/>
          <p:nvPr/>
        </p:nvSpPr>
        <p:spPr>
          <a:xfrm>
            <a:off x="4069080" y="2724912"/>
            <a:ext cx="1280160" cy="786384"/>
          </a:xfrm>
          <a:prstGeom prst="diamond">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18288" bIns="18288"/>
          <a:lstStyle/>
          <a:p>
            <a:pPr algn="ctr"/>
            <a:r>
              <a:rPr sz="1100" b="1" i="0">
                <a:solidFill>
                  <a:srgbClr val="E46C0A"/>
                </a:solidFill>
                <a:latin typeface="Arial"/>
              </a:rPr>
              <a:t>Errors?</a:t>
            </a:r>
          </a:p>
        </p:txBody>
      </p:sp>
      <p:cxnSp>
        <p:nvCxnSpPr>
          <p:cNvPr id="17447" name="Connector 17446"/>
          <p:cNvCxnSpPr/>
          <p:nvPr/>
        </p:nvCxnSpPr>
        <p:spPr>
          <a:xfrm>
            <a:off x="5349240" y="3118104"/>
            <a:ext cx="91440" cy="0"/>
          </a:xfrm>
          <a:prstGeom prst="line">
            <a:avLst/>
          </a:prstGeom>
          <a:ln w="19050">
            <a:solidFill>
              <a:srgbClr val="1E7B3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8" name="TextBox 17447"/>
          <p:cNvSpPr txBox="1"/>
          <p:nvPr/>
        </p:nvSpPr>
        <p:spPr>
          <a:xfrm>
            <a:off x="5102352" y="2816352"/>
            <a:ext cx="329184" cy="201168"/>
          </a:xfrm>
          <a:prstGeom prst="rect">
            <a:avLst/>
          </a:prstGeom>
          <a:noFill/>
        </p:spPr>
        <p:txBody>
          <a:bodyPr wrap="square" lIns="45720" rIns="45720" tIns="18288" bIns="18288" anchor="ctr"/>
          <a:lstStyle/>
          <a:p>
            <a:pPr algn="l"/>
            <a:r>
              <a:rPr sz="1100" b="1" i="0">
                <a:solidFill>
                  <a:srgbClr val="1E7B3E"/>
                </a:solidFill>
                <a:latin typeface="Arial"/>
              </a:rPr>
              <a:t>no</a:t>
            </a:r>
          </a:p>
        </p:txBody>
      </p:sp>
      <p:sp>
        <p:nvSpPr>
          <p:cNvPr id="17449" name="Rounded Rectangle 17448"/>
          <p:cNvSpPr/>
          <p:nvPr/>
        </p:nvSpPr>
        <p:spPr>
          <a:xfrm>
            <a:off x="5440680" y="2834640"/>
            <a:ext cx="914400" cy="566928"/>
          </a:xfrm>
          <a:prstGeom prst="roundRect">
            <a:avLst>
              <a:gd name="adj" fmla="val 16129"/>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3  Commit</a:t>
            </a:r>
          </a:p>
        </p:txBody>
      </p:sp>
      <p:cxnSp>
        <p:nvCxnSpPr>
          <p:cNvPr id="17450" name="Connector 17449"/>
          <p:cNvCxnSpPr/>
          <p:nvPr/>
        </p:nvCxnSpPr>
        <p:spPr>
          <a:xfrm>
            <a:off x="4709160" y="3511296"/>
            <a:ext cx="0" cy="256032"/>
          </a:xfrm>
          <a:prstGeom prst="line">
            <a:avLst/>
          </a:prstGeom>
          <a:ln w="19050">
            <a:solidFill>
              <a:srgbClr val="B4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1" name="TextBox 17450"/>
          <p:cNvSpPr txBox="1"/>
          <p:nvPr/>
        </p:nvSpPr>
        <p:spPr>
          <a:xfrm>
            <a:off x="4754880" y="3511296"/>
            <a:ext cx="365760" cy="201168"/>
          </a:xfrm>
          <a:prstGeom prst="rect">
            <a:avLst/>
          </a:prstGeom>
          <a:noFill/>
        </p:spPr>
        <p:txBody>
          <a:bodyPr wrap="square" lIns="45720" rIns="45720" tIns="18288" bIns="18288" anchor="ctr"/>
          <a:lstStyle/>
          <a:p>
            <a:pPr algn="l"/>
            <a:r>
              <a:rPr sz="1100" b="1" i="0">
                <a:solidFill>
                  <a:srgbClr val="B42B2B"/>
                </a:solidFill>
                <a:latin typeface="Arial"/>
              </a:rPr>
              <a:t>yes</a:t>
            </a:r>
          </a:p>
        </p:txBody>
      </p:sp>
      <p:sp>
        <p:nvSpPr>
          <p:cNvPr id="17452" name="Rounded Rectangle 17451"/>
          <p:cNvSpPr/>
          <p:nvPr/>
        </p:nvSpPr>
        <p:spPr>
          <a:xfrm>
            <a:off x="3657600" y="3767328"/>
            <a:ext cx="2057400" cy="457200"/>
          </a:xfrm>
          <a:prstGeom prst="roundRect">
            <a:avLst>
              <a:gd name="adj" fmla="val 20000"/>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B42B2B"/>
                </a:solidFill>
                <a:latin typeface="Arial"/>
              </a:rPr>
              <a:t>Row returned with reason</a:t>
            </a:r>
          </a:p>
        </p:txBody>
      </p:sp>
      <p:cxnSp>
        <p:nvCxnSpPr>
          <p:cNvPr id="17453" name="Connector 17452"/>
          <p:cNvCxnSpPr/>
          <p:nvPr/>
        </p:nvCxnSpPr>
        <p:spPr>
          <a:xfrm flipH="1">
            <a:off x="1115568" y="3995928"/>
            <a:ext cx="2542032" cy="0"/>
          </a:xfrm>
          <a:prstGeom prst="line">
            <a:avLst/>
          </a:prstGeom>
          <a:ln w="19050">
            <a:solidFill>
              <a:srgbClr val="B42B2B"/>
            </a:solidFill>
          </a:ln>
        </p:spPr>
        <p:style>
          <a:lnRef idx="2">
            <a:schemeClr val="accent1"/>
          </a:lnRef>
          <a:fillRef idx="0">
            <a:schemeClr val="accent1"/>
          </a:fillRef>
          <a:effectRef idx="1">
            <a:schemeClr val="accent1"/>
          </a:effectRef>
          <a:fontRef idx="minor">
            <a:schemeClr val="tx1"/>
          </a:fontRef>
        </p:style>
      </p:cxnSp>
      <p:cxnSp>
        <p:nvCxnSpPr>
          <p:cNvPr id="17454" name="Connector 17453"/>
          <p:cNvCxnSpPr/>
          <p:nvPr/>
        </p:nvCxnSpPr>
        <p:spPr>
          <a:xfrm flipV="1">
            <a:off x="1115568" y="3401568"/>
            <a:ext cx="0" cy="594360"/>
          </a:xfrm>
          <a:prstGeom prst="line">
            <a:avLst/>
          </a:prstGeom>
          <a:ln w="19050">
            <a:solidFill>
              <a:srgbClr val="B4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5" name="TextBox 17454"/>
          <p:cNvSpPr txBox="1"/>
          <p:nvPr/>
        </p:nvSpPr>
        <p:spPr>
          <a:xfrm>
            <a:off x="1188720" y="3611880"/>
            <a:ext cx="1828800" cy="201168"/>
          </a:xfrm>
          <a:prstGeom prst="rect">
            <a:avLst/>
          </a:prstGeom>
          <a:noFill/>
        </p:spPr>
        <p:txBody>
          <a:bodyPr wrap="square" lIns="45720" rIns="45720" tIns="18288" bIns="18288" anchor="ctr"/>
          <a:lstStyle/>
          <a:p>
            <a:pPr algn="l"/>
            <a:r>
              <a:rPr sz="1100" b="0" i="0">
                <a:solidFill>
                  <a:srgbClr val="B42B2B"/>
                </a:solidFill>
                <a:latin typeface="Arial"/>
              </a:rPr>
              <a:t>fix &amp; re-upload</a:t>
            </a:r>
          </a:p>
        </p:txBody>
      </p:sp>
      <p:cxnSp>
        <p:nvCxnSpPr>
          <p:cNvPr id="17456" name="Connector 17455"/>
          <p:cNvCxnSpPr/>
          <p:nvPr/>
        </p:nvCxnSpPr>
        <p:spPr>
          <a:xfrm>
            <a:off x="5897880" y="3401568"/>
            <a:ext cx="0" cy="1033272"/>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7" name="Rounded Rectangle 17456"/>
          <p:cNvSpPr/>
          <p:nvPr/>
        </p:nvSpPr>
        <p:spPr>
          <a:xfrm>
            <a:off x="452628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4  National scan</a:t>
            </a:r>
          </a:p>
          <a:p>
            <a:pPr algn="ctr"/>
            <a:r>
              <a:rPr sz="1100" b="0" i="0">
                <a:solidFill>
                  <a:srgbClr val="595959"/>
                </a:solidFill>
                <a:latin typeface="Arial"/>
              </a:rPr>
              <a:t>dupes · intake · contacts</a:t>
            </a:r>
          </a:p>
        </p:txBody>
      </p:sp>
      <p:cxnSp>
        <p:nvCxnSpPr>
          <p:cNvPr id="17458" name="Connector 17457"/>
          <p:cNvCxnSpPr/>
          <p:nvPr/>
        </p:nvCxnSpPr>
        <p:spPr>
          <a:xfrm flipH="1">
            <a:off x="4251960" y="4736592"/>
            <a:ext cx="27432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9" name="Rounded Rectangle 17458"/>
          <p:cNvSpPr/>
          <p:nvPr/>
        </p:nvSpPr>
        <p:spPr>
          <a:xfrm>
            <a:off x="242316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5  ML risk score</a:t>
            </a:r>
          </a:p>
          <a:p>
            <a:pPr algn="ctr"/>
            <a:r>
              <a:rPr sz="1100" b="0" i="0">
                <a:solidFill>
                  <a:srgbClr val="595959"/>
                </a:solidFill>
                <a:latin typeface="Arial"/>
              </a:rPr>
              <a:t>vs peers, with reasons</a:t>
            </a:r>
          </a:p>
        </p:txBody>
      </p:sp>
      <p:cxnSp>
        <p:nvCxnSpPr>
          <p:cNvPr id="17460" name="Connector 17459"/>
          <p:cNvCxnSpPr/>
          <p:nvPr/>
        </p:nvCxnSpPr>
        <p:spPr>
          <a:xfrm flipH="1">
            <a:off x="2148840" y="4736592"/>
            <a:ext cx="274320" cy="0"/>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1" name="Rounded Rectangle 17460"/>
          <p:cNvSpPr/>
          <p:nvPr/>
        </p:nvSpPr>
        <p:spPr>
          <a:xfrm>
            <a:off x="320040" y="4434840"/>
            <a:ext cx="1828800" cy="603504"/>
          </a:xfrm>
          <a:prstGeom prst="roundRect">
            <a:avLst>
              <a:gd name="adj" fmla="val 15151"/>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F3864"/>
                </a:solidFill>
                <a:latin typeface="Arial"/>
              </a:rPr>
              <a:t>6  Live dashboard</a:t>
            </a:r>
          </a:p>
          <a:p>
            <a:pPr algn="ctr"/>
            <a:r>
              <a:rPr sz="1100" b="0" i="0">
                <a:solidFill>
                  <a:srgbClr val="595959"/>
                </a:solidFill>
                <a:latin typeface="Arial"/>
              </a:rPr>
              <a:t>decisions remembered</a:t>
            </a:r>
          </a:p>
        </p:txBody>
      </p:sp>
      <p:sp>
        <p:nvSpPr>
          <p:cNvPr id="17462" name="Rounded Rectangle 17461"/>
          <p:cNvSpPr/>
          <p:nvPr/>
        </p:nvSpPr>
        <p:spPr>
          <a:xfrm>
            <a:off x="320040" y="5349240"/>
            <a:ext cx="2880360" cy="603504"/>
          </a:xfrm>
          <a:prstGeom prst="roundRect">
            <a:avLst>
              <a:gd name="adj" fmla="val 15151"/>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7  Student consent (OTP)</a:t>
            </a:r>
          </a:p>
          <a:p>
            <a:pPr algn="ctr"/>
            <a:r>
              <a:rPr sz="1100" b="0" i="0">
                <a:solidFill>
                  <a:srgbClr val="595959"/>
                </a:solidFill>
                <a:latin typeface="Arial"/>
              </a:rPr>
              <a:t>verifier sees only approved fields</a:t>
            </a:r>
          </a:p>
        </p:txBody>
      </p:sp>
      <p:sp>
        <p:nvSpPr>
          <p:cNvPr id="17463" name="Rounded Rectangle 17462"/>
          <p:cNvSpPr/>
          <p:nvPr/>
        </p:nvSpPr>
        <p:spPr>
          <a:xfrm>
            <a:off x="3429000" y="5349240"/>
            <a:ext cx="2926080" cy="603504"/>
          </a:xfrm>
          <a:prstGeom prst="roundRect">
            <a:avLst>
              <a:gd name="adj" fmla="val 15151"/>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200" b="1" i="0">
                <a:solidFill>
                  <a:srgbClr val="1E7B3E"/>
                </a:solidFill>
                <a:latin typeface="Arial"/>
              </a:rPr>
              <a:t>8  Signed QR · degree feed</a:t>
            </a:r>
          </a:p>
          <a:p>
            <a:pPr algn="ctr"/>
            <a:r>
              <a:rPr sz="1100" b="0" i="0">
                <a:solidFill>
                  <a:srgbClr val="595959"/>
                </a:solidFill>
                <a:latin typeface="Arial"/>
              </a:rPr>
              <a:t>APAAR + student ID; forgery fails</a:t>
            </a:r>
          </a:p>
        </p:txBody>
      </p:sp>
      <p:cxnSp>
        <p:nvCxnSpPr>
          <p:cNvPr id="17464" name="Connector 17463"/>
          <p:cNvCxnSpPr/>
          <p:nvPr/>
        </p:nvCxnSpPr>
        <p:spPr>
          <a:xfrm>
            <a:off x="1234440" y="5038344"/>
            <a:ext cx="0" cy="310896"/>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465" name="Connector 17464"/>
          <p:cNvCxnSpPr/>
          <p:nvPr/>
        </p:nvCxnSpPr>
        <p:spPr>
          <a:xfrm>
            <a:off x="4892040" y="5038344"/>
            <a:ext cx="0" cy="310896"/>
          </a:xfrm>
          <a:prstGeom prst="line">
            <a:avLst/>
          </a:prstGeom>
          <a:ln w="1905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6" name="Rounded Rectangle 17465"/>
          <p:cNvSpPr/>
          <p:nvPr/>
        </p:nvSpPr>
        <p:spPr>
          <a:xfrm>
            <a:off x="6601968" y="2825496"/>
            <a:ext cx="5266944" cy="2361304"/>
          </a:xfrm>
          <a:prstGeom prst="roundRect">
            <a:avLst>
              <a:gd name="adj" fmla="val 1548"/>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7" name="Picture 17466" descr="03_upload_validation.png"/>
          <p:cNvPicPr>
            <a:picLocks noChangeAspect="1"/>
          </p:cNvPicPr>
          <p:nvPr/>
        </p:nvPicPr>
        <p:blipFill>
          <a:blip r:embed="rId10"/>
          <a:srcRect l="17800" t="5800" b="36000"/>
          <a:stretch>
            <a:fillRect/>
          </a:stretch>
        </p:blipFill>
        <p:spPr>
          <a:xfrm>
            <a:off x="6629400" y="2852928"/>
            <a:ext cx="5212080" cy="2306440"/>
          </a:xfrm>
          <a:prstGeom prst="rect">
            <a:avLst/>
          </a:prstGeom>
        </p:spPr>
      </p:pic>
      <p:sp>
        <p:nvSpPr>
          <p:cNvPr id="17468" name="TextBox 17467"/>
          <p:cNvSpPr txBox="1"/>
          <p:nvPr/>
        </p:nvSpPr>
        <p:spPr>
          <a:xfrm>
            <a:off x="6629400" y="5214232"/>
            <a:ext cx="5212080" cy="237744"/>
          </a:xfrm>
          <a:prstGeom prst="rect">
            <a:avLst/>
          </a:prstGeom>
          <a:noFill/>
        </p:spPr>
        <p:txBody>
          <a:bodyPr wrap="square" lIns="45720" rIns="45720" tIns="18288" bIns="18288" anchor="ctr"/>
          <a:lstStyle/>
          <a:p>
            <a:pPr algn="l"/>
            <a:r>
              <a:rPr sz="1100" b="0" i="0">
                <a:solidFill>
                  <a:srgbClr val="595959"/>
                </a:solidFill>
                <a:latin typeface="Arial"/>
              </a:rPr>
              <a:t>Working prototype: 77-row upload → 65 accepted, 12 returned with rule codes</a:t>
            </a:r>
          </a:p>
        </p:txBody>
      </p:sp>
      <p:sp>
        <p:nvSpPr>
          <p:cNvPr id="17469" name="Rounded Rectangle 17468"/>
          <p:cNvSpPr/>
          <p:nvPr/>
        </p:nvSpPr>
        <p:spPr>
          <a:xfrm>
            <a:off x="6601968" y="5506840"/>
            <a:ext cx="5266944" cy="756799"/>
          </a:xfrm>
          <a:prstGeom prst="roundRect">
            <a:avLst>
              <a:gd name="adj" fmla="val 14498"/>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0" name="Picture 17469" descr="qr_live.png"/>
          <p:cNvPicPr>
            <a:picLocks noChangeAspect="1"/>
          </p:cNvPicPr>
          <p:nvPr/>
        </p:nvPicPr>
        <p:blipFill>
          <a:blip r:embed="rId11"/>
          <a:stretch>
            <a:fillRect/>
          </a:stretch>
        </p:blipFill>
        <p:spPr>
          <a:xfrm>
            <a:off x="6693408" y="5570848"/>
            <a:ext cx="628783" cy="628783"/>
          </a:xfrm>
          <a:prstGeom prst="rect">
            <a:avLst/>
          </a:prstGeom>
        </p:spPr>
      </p:pic>
      <p:sp>
        <p:nvSpPr>
          <p:cNvPr id="17471" name="TextBox 17470"/>
          <p:cNvSpPr txBox="1"/>
          <p:nvPr/>
        </p:nvSpPr>
        <p:spPr>
          <a:xfrm>
            <a:off x="7431919" y="5552560"/>
            <a:ext cx="4206240" cy="665359"/>
          </a:xfrm>
          <a:prstGeom prst="rect">
            <a:avLst/>
          </a:prstGeom>
          <a:noFill/>
        </p:spPr>
        <p:txBody>
          <a:bodyPr wrap="square" lIns="45720" rIns="45720" tIns="18288" bIns="18288" anchor="ctr"/>
          <a:lstStyle/>
          <a:p>
            <a:pPr algn="l"/>
            <a:r>
              <a:rPr sz="1200" b="1" i="0">
                <a:solidFill>
                  <a:srgbClr val="E46C0A"/>
                </a:solidFill>
                <a:latin typeface="Arial"/>
              </a:rPr>
              <a:t>Try it live: </a:t>
            </a:r>
            <a:r>
              <a:rPr sz="1200" b="0" i="0">
                <a:solidFill>
                  <a:srgbClr val="0070C0"/>
                </a:solidFill>
                <a:latin typeface="Arial"/>
              </a:rPr>
              <a:t>https://vidya-pramaan-sih26263.onrender.com</a:t>
            </a:r>
          </a:p>
          <a:p>
            <a:pPr algn="l"/>
            <a:r>
              <a:rPr sz="1100" b="0" i="0">
                <a:solidFill>
                  <a:srgbClr val="595959"/>
                </a:solidFill>
                <a:latin typeface="Arial"/>
              </a:rPr>
              <a:t>7 demo roles · synthetic data · installable on phones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Analysis of the feasibility of the idea</a:t>
            </a:r>
          </a:p>
        </p:txBody>
      </p:sp>
      <p:sp>
        <p:nvSpPr>
          <p:cNvPr id="17411" name="Rounded Rectangle 17410"/>
          <p:cNvSpPr/>
          <p:nvPr/>
        </p:nvSpPr>
        <p:spPr>
          <a:xfrm>
            <a:off x="365759"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2" name="Oval 17411"/>
          <p:cNvSpPr/>
          <p:nvPr/>
        </p:nvSpPr>
        <p:spPr>
          <a:xfrm>
            <a:off x="457200"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3" name="Picture 17412" descr="LuUsers2_white.png"/>
          <p:cNvPicPr>
            <a:picLocks noChangeAspect="1"/>
          </p:cNvPicPr>
          <p:nvPr/>
        </p:nvPicPr>
        <p:blipFill>
          <a:blip r:embed="rId4"/>
          <a:stretch>
            <a:fillRect/>
          </a:stretch>
        </p:blipFill>
        <p:spPr>
          <a:xfrm>
            <a:off x="541690" y="1657258"/>
            <a:ext cx="215066" cy="215066"/>
          </a:xfrm>
          <a:prstGeom prst="rect">
            <a:avLst/>
          </a:prstGeom>
        </p:spPr>
      </p:pic>
      <p:sp>
        <p:nvSpPr>
          <p:cNvPr id="17414" name="TextBox 17413"/>
          <p:cNvSpPr txBox="1"/>
          <p:nvPr/>
        </p:nvSpPr>
        <p:spPr>
          <a:xfrm>
            <a:off x="886968"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0.79 / 0.92</a:t>
            </a:r>
          </a:p>
        </p:txBody>
      </p:sp>
      <p:sp>
        <p:nvSpPr>
          <p:cNvPr id="17415" name="TextBox 17414"/>
          <p:cNvSpPr txBox="1"/>
          <p:nvPr/>
        </p:nvSpPr>
        <p:spPr>
          <a:xfrm>
            <a:off x="457200" y="2048256"/>
            <a:ext cx="1696212" cy="512064"/>
          </a:xfrm>
          <a:prstGeom prst="rect">
            <a:avLst/>
          </a:prstGeom>
          <a:noFill/>
        </p:spPr>
        <p:txBody>
          <a:bodyPr wrap="square" lIns="45720" rIns="45720" tIns="18288" bIns="18288" anchor="t"/>
          <a:lstStyle/>
          <a:p>
            <a:pPr algn="l"/>
            <a:r>
              <a:rPr sz="1050" b="0" i="0">
                <a:solidFill>
                  <a:srgbClr val="1A1A1A"/>
                </a:solidFill>
                <a:latin typeface="Arial"/>
              </a:rPr>
              <a:t>held-out precision / recall
(old matcher 0.65 / 0.68)</a:t>
            </a:r>
          </a:p>
        </p:txBody>
      </p:sp>
      <p:sp>
        <p:nvSpPr>
          <p:cNvPr id="17416" name="Rounded Rectangle 17415"/>
          <p:cNvSpPr/>
          <p:nvPr/>
        </p:nvSpPr>
        <p:spPr>
          <a:xfrm>
            <a:off x="2290572"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Oval 17416"/>
          <p:cNvSpPr/>
          <p:nvPr/>
        </p:nvSpPr>
        <p:spPr>
          <a:xfrm>
            <a:off x="2382012"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8" name="Picture 17417" descr="LuUserCheck_white.png"/>
          <p:cNvPicPr>
            <a:picLocks noChangeAspect="1"/>
          </p:cNvPicPr>
          <p:nvPr/>
        </p:nvPicPr>
        <p:blipFill>
          <a:blip r:embed="rId5"/>
          <a:stretch>
            <a:fillRect/>
          </a:stretch>
        </p:blipFill>
        <p:spPr>
          <a:xfrm>
            <a:off x="2466502" y="1657258"/>
            <a:ext cx="215066" cy="215066"/>
          </a:xfrm>
          <a:prstGeom prst="rect">
            <a:avLst/>
          </a:prstGeom>
        </p:spPr>
      </p:pic>
      <p:sp>
        <p:nvSpPr>
          <p:cNvPr id="17419" name="TextBox 17418"/>
          <p:cNvSpPr txBox="1"/>
          <p:nvPr/>
        </p:nvSpPr>
        <p:spPr>
          <a:xfrm>
            <a:off x="2811780" y="1536192"/>
            <a:ext cx="1284732" cy="457200"/>
          </a:xfrm>
          <a:prstGeom prst="rect">
            <a:avLst/>
          </a:prstGeom>
          <a:noFill/>
        </p:spPr>
        <p:txBody>
          <a:bodyPr wrap="square" lIns="45720" rIns="45720" tIns="18288" bIns="18288" anchor="ctr"/>
          <a:lstStyle/>
          <a:p>
            <a:pPr algn="l"/>
            <a:r>
              <a:rPr sz="2100" b="1" i="0">
                <a:solidFill>
                  <a:srgbClr val="1F3864"/>
                </a:solidFill>
                <a:latin typeface="Arial"/>
              </a:rPr>
              <a:t>0 / 80</a:t>
            </a:r>
          </a:p>
        </p:txBody>
      </p:sp>
      <p:sp>
        <p:nvSpPr>
          <p:cNvPr id="17420" name="TextBox 17419"/>
          <p:cNvSpPr txBox="1"/>
          <p:nvPr/>
        </p:nvSpPr>
        <p:spPr>
          <a:xfrm>
            <a:off x="2382012" y="2048256"/>
            <a:ext cx="1696212" cy="512064"/>
          </a:xfrm>
          <a:prstGeom prst="rect">
            <a:avLst/>
          </a:prstGeom>
          <a:noFill/>
        </p:spPr>
        <p:txBody>
          <a:bodyPr wrap="square" lIns="45720" rIns="45720" tIns="18288" bIns="18288" anchor="t"/>
          <a:lstStyle/>
          <a:p>
            <a:pPr algn="l"/>
            <a:r>
              <a:rPr sz="1050" b="0" i="0">
                <a:solidFill>
                  <a:srgbClr val="1A1A1A"/>
                </a:solidFill>
                <a:latin typeface="Arial"/>
              </a:rPr>
              <a:t>same-day twins
wrongly merged</a:t>
            </a:r>
          </a:p>
        </p:txBody>
      </p:sp>
      <p:sp>
        <p:nvSpPr>
          <p:cNvPr id="17421" name="Rounded Rectangle 17420"/>
          <p:cNvSpPr/>
          <p:nvPr/>
        </p:nvSpPr>
        <p:spPr>
          <a:xfrm>
            <a:off x="4215383"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2" name="Oval 17421"/>
          <p:cNvSpPr/>
          <p:nvPr/>
        </p:nvSpPr>
        <p:spPr>
          <a:xfrm>
            <a:off x="4306824"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3" name="Picture 17422" descr="LuShieldCheck_white.png"/>
          <p:cNvPicPr>
            <a:picLocks noChangeAspect="1"/>
          </p:cNvPicPr>
          <p:nvPr/>
        </p:nvPicPr>
        <p:blipFill>
          <a:blip r:embed="rId6"/>
          <a:stretch>
            <a:fillRect/>
          </a:stretch>
        </p:blipFill>
        <p:spPr>
          <a:xfrm>
            <a:off x="4391314" y="1657258"/>
            <a:ext cx="215066" cy="215066"/>
          </a:xfrm>
          <a:prstGeom prst="rect">
            <a:avLst/>
          </a:prstGeom>
        </p:spPr>
      </p:pic>
      <p:sp>
        <p:nvSpPr>
          <p:cNvPr id="17424" name="TextBox 17423"/>
          <p:cNvSpPr txBox="1"/>
          <p:nvPr/>
        </p:nvSpPr>
        <p:spPr>
          <a:xfrm>
            <a:off x="4736592" y="1536192"/>
            <a:ext cx="1284732" cy="457200"/>
          </a:xfrm>
          <a:prstGeom prst="rect">
            <a:avLst/>
          </a:prstGeom>
          <a:noFill/>
        </p:spPr>
        <p:txBody>
          <a:bodyPr wrap="square" lIns="45720" rIns="45720" tIns="18288" bIns="18288" anchor="ctr"/>
          <a:lstStyle/>
          <a:p>
            <a:pPr algn="l"/>
            <a:r>
              <a:rPr sz="2100" b="1" i="0">
                <a:solidFill>
                  <a:srgbClr val="1F3864"/>
                </a:solidFill>
                <a:latin typeface="Arial"/>
              </a:rPr>
              <a:t>17/17</a:t>
            </a:r>
          </a:p>
        </p:txBody>
      </p:sp>
      <p:sp>
        <p:nvSpPr>
          <p:cNvPr id="17425" name="TextBox 17424"/>
          <p:cNvSpPr txBox="1"/>
          <p:nvPr/>
        </p:nvSpPr>
        <p:spPr>
          <a:xfrm>
            <a:off x="4306824" y="2048256"/>
            <a:ext cx="1696212" cy="512064"/>
          </a:xfrm>
          <a:prstGeom prst="rect">
            <a:avLst/>
          </a:prstGeom>
          <a:noFill/>
        </p:spPr>
        <p:txBody>
          <a:bodyPr wrap="square" lIns="45720" rIns="45720" tIns="18288" bIns="18288" anchor="t"/>
          <a:lstStyle/>
          <a:p>
            <a:pPr algn="l"/>
            <a:r>
              <a:rPr sz="1050" b="0" i="0">
                <a:solidFill>
                  <a:srgbClr val="1A1A1A"/>
                </a:solidFill>
                <a:latin typeface="Arial"/>
              </a:rPr>
              <a:t>planted error types; 0 false
flags on 56 clean rows</a:t>
            </a:r>
          </a:p>
        </p:txBody>
      </p:sp>
      <p:sp>
        <p:nvSpPr>
          <p:cNvPr id="17426" name="Rounded Rectangle 17425"/>
          <p:cNvSpPr/>
          <p:nvPr/>
        </p:nvSpPr>
        <p:spPr>
          <a:xfrm>
            <a:off x="6140195"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7" name="Oval 17426"/>
          <p:cNvSpPr/>
          <p:nvPr/>
        </p:nvSpPr>
        <p:spPr>
          <a:xfrm>
            <a:off x="6231636"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8" name="Picture 17427" descr="LuNetwork_white.png"/>
          <p:cNvPicPr>
            <a:picLocks noChangeAspect="1"/>
          </p:cNvPicPr>
          <p:nvPr/>
        </p:nvPicPr>
        <p:blipFill>
          <a:blip r:embed="rId7"/>
          <a:stretch>
            <a:fillRect/>
          </a:stretch>
        </p:blipFill>
        <p:spPr>
          <a:xfrm>
            <a:off x="6316126" y="1657258"/>
            <a:ext cx="215066" cy="215066"/>
          </a:xfrm>
          <a:prstGeom prst="rect">
            <a:avLst/>
          </a:prstGeom>
        </p:spPr>
      </p:pic>
      <p:sp>
        <p:nvSpPr>
          <p:cNvPr id="17429" name="TextBox 17428"/>
          <p:cNvSpPr txBox="1"/>
          <p:nvPr/>
        </p:nvSpPr>
        <p:spPr>
          <a:xfrm>
            <a:off x="6661403"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164 · 57 · 4</a:t>
            </a:r>
          </a:p>
        </p:txBody>
      </p:sp>
      <p:sp>
        <p:nvSpPr>
          <p:cNvPr id="17430" name="TextBox 17429"/>
          <p:cNvSpPr txBox="1"/>
          <p:nvPr/>
        </p:nvSpPr>
        <p:spPr>
          <a:xfrm>
            <a:off x="6231636" y="2048256"/>
            <a:ext cx="1696212" cy="512064"/>
          </a:xfrm>
          <a:prstGeom prst="rect">
            <a:avLst/>
          </a:prstGeom>
          <a:noFill/>
        </p:spPr>
        <p:txBody>
          <a:bodyPr wrap="square" lIns="45720" rIns="45720" tIns="18288" bIns="18288" anchor="t"/>
          <a:lstStyle/>
          <a:p>
            <a:pPr algn="l"/>
            <a:r>
              <a:rPr sz="1050" b="0" i="0">
                <a:solidFill>
                  <a:srgbClr val="1A1A1A"/>
                </a:solidFill>
                <a:latin typeface="Arial"/>
              </a:rPr>
              <a:t>planted dual enrolments,
identity dupes, contact rings</a:t>
            </a:r>
          </a:p>
        </p:txBody>
      </p:sp>
      <p:sp>
        <p:nvSpPr>
          <p:cNvPr id="17431" name="Rounded Rectangle 17430"/>
          <p:cNvSpPr/>
          <p:nvPr/>
        </p:nvSpPr>
        <p:spPr>
          <a:xfrm>
            <a:off x="8065008"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2" name="Oval 17431"/>
          <p:cNvSpPr/>
          <p:nvPr/>
        </p:nvSpPr>
        <p:spPr>
          <a:xfrm>
            <a:off x="8156448"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3" name="Picture 17432" descr="LuBrainCircuit_white.png"/>
          <p:cNvPicPr>
            <a:picLocks noChangeAspect="1"/>
          </p:cNvPicPr>
          <p:nvPr/>
        </p:nvPicPr>
        <p:blipFill>
          <a:blip r:embed="rId8"/>
          <a:stretch>
            <a:fillRect/>
          </a:stretch>
        </p:blipFill>
        <p:spPr>
          <a:xfrm>
            <a:off x="8240938" y="1657258"/>
            <a:ext cx="215066" cy="215066"/>
          </a:xfrm>
          <a:prstGeom prst="rect">
            <a:avLst/>
          </a:prstGeom>
        </p:spPr>
      </p:pic>
      <p:sp>
        <p:nvSpPr>
          <p:cNvPr id="17434" name="TextBox 17433"/>
          <p:cNvSpPr txBox="1"/>
          <p:nvPr/>
        </p:nvSpPr>
        <p:spPr>
          <a:xfrm>
            <a:off x="8586215" y="1536192"/>
            <a:ext cx="1284732" cy="457200"/>
          </a:xfrm>
          <a:prstGeom prst="rect">
            <a:avLst/>
          </a:prstGeom>
          <a:noFill/>
        </p:spPr>
        <p:txBody>
          <a:bodyPr wrap="square" lIns="45720" rIns="45720" tIns="18288" bIns="18288" anchor="ctr"/>
          <a:lstStyle/>
          <a:p>
            <a:pPr algn="l"/>
            <a:r>
              <a:rPr sz="2100" b="1" i="0">
                <a:solidFill>
                  <a:srgbClr val="1F3864"/>
                </a:solidFill>
                <a:latin typeface="Arial"/>
              </a:rPr>
              <a:t>42/46</a:t>
            </a:r>
          </a:p>
        </p:txBody>
      </p:sp>
      <p:sp>
        <p:nvSpPr>
          <p:cNvPr id="17435" name="TextBox 17434"/>
          <p:cNvSpPr txBox="1"/>
          <p:nvPr/>
        </p:nvSpPr>
        <p:spPr>
          <a:xfrm>
            <a:off x="8156448" y="2048256"/>
            <a:ext cx="1696212" cy="512064"/>
          </a:xfrm>
          <a:prstGeom prst="rect">
            <a:avLst/>
          </a:prstGeom>
          <a:noFill/>
        </p:spPr>
        <p:txBody>
          <a:bodyPr wrap="square" lIns="45720" rIns="45720" tIns="18288" bIns="18288" anchor="t"/>
          <a:lstStyle/>
          <a:p>
            <a:pPr algn="l"/>
            <a:r>
              <a:rPr sz="1050" b="0" i="0">
                <a:solidFill>
                  <a:srgbClr val="1A1A1A"/>
                </a:solidFill>
                <a:latin typeface="Arial"/>
              </a:rPr>
              <a:t>top-ranked colleges
truly anomalous</a:t>
            </a:r>
          </a:p>
        </p:txBody>
      </p:sp>
      <p:sp>
        <p:nvSpPr>
          <p:cNvPr id="17436" name="Rounded Rectangle 17435"/>
          <p:cNvSpPr/>
          <p:nvPr/>
        </p:nvSpPr>
        <p:spPr>
          <a:xfrm>
            <a:off x="9989820" y="1481328"/>
            <a:ext cx="1833372" cy="1097280"/>
          </a:xfrm>
          <a:prstGeom prst="roundRect">
            <a:avLst>
              <a:gd name="adj" fmla="val 1000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7" name="Oval 17436"/>
          <p:cNvSpPr/>
          <p:nvPr/>
        </p:nvSpPr>
        <p:spPr>
          <a:xfrm>
            <a:off x="10081260" y="1572768"/>
            <a:ext cx="384048" cy="384048"/>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8" name="Picture 17437" descr="LuFlaskConical_white.png"/>
          <p:cNvPicPr>
            <a:picLocks noChangeAspect="1"/>
          </p:cNvPicPr>
          <p:nvPr/>
        </p:nvPicPr>
        <p:blipFill>
          <a:blip r:embed="rId9"/>
          <a:stretch>
            <a:fillRect/>
          </a:stretch>
        </p:blipFill>
        <p:spPr>
          <a:xfrm>
            <a:off x="10165750" y="1657258"/>
            <a:ext cx="215066" cy="215066"/>
          </a:xfrm>
          <a:prstGeom prst="rect">
            <a:avLst/>
          </a:prstGeom>
        </p:spPr>
      </p:pic>
      <p:sp>
        <p:nvSpPr>
          <p:cNvPr id="17439" name="TextBox 17438"/>
          <p:cNvSpPr txBox="1"/>
          <p:nvPr/>
        </p:nvSpPr>
        <p:spPr>
          <a:xfrm>
            <a:off x="10511028" y="1536192"/>
            <a:ext cx="1284732" cy="457200"/>
          </a:xfrm>
          <a:prstGeom prst="rect">
            <a:avLst/>
          </a:prstGeom>
          <a:noFill/>
        </p:spPr>
        <p:txBody>
          <a:bodyPr wrap="square" lIns="45720" rIns="45720" tIns="18288" bIns="18288" anchor="ctr"/>
          <a:lstStyle/>
          <a:p>
            <a:pPr algn="l"/>
            <a:r>
              <a:rPr sz="1800" b="1" i="0">
                <a:solidFill>
                  <a:srgbClr val="1F3864"/>
                </a:solidFill>
                <a:latin typeface="Arial"/>
              </a:rPr>
              <a:t>59 tests</a:t>
            </a:r>
          </a:p>
        </p:txBody>
      </p:sp>
      <p:sp>
        <p:nvSpPr>
          <p:cNvPr id="17440" name="TextBox 17439"/>
          <p:cNvSpPr txBox="1"/>
          <p:nvPr/>
        </p:nvSpPr>
        <p:spPr>
          <a:xfrm>
            <a:off x="10081260" y="2048256"/>
            <a:ext cx="1696212" cy="512064"/>
          </a:xfrm>
          <a:prstGeom prst="rect">
            <a:avLst/>
          </a:prstGeom>
          <a:noFill/>
        </p:spPr>
        <p:txBody>
          <a:bodyPr wrap="square" lIns="45720" rIns="45720" tIns="18288" bIns="18288" anchor="t"/>
          <a:lstStyle/>
          <a:p>
            <a:pPr algn="l"/>
            <a:r>
              <a:rPr sz="1050" b="0" i="0">
                <a:solidFill>
                  <a:srgbClr val="1A1A1A"/>
                </a:solidFill>
                <a:latin typeface="Arial"/>
              </a:rPr>
              <a:t>SQLite + PostgreSQL 16;
7-role browser walkthrough</a:t>
            </a:r>
          </a:p>
        </p:txBody>
      </p:sp>
      <p:sp>
        <p:nvSpPr>
          <p:cNvPr id="17441" name="TextBox 17440"/>
          <p:cNvSpPr txBox="1"/>
          <p:nvPr/>
        </p:nvSpPr>
        <p:spPr>
          <a:xfrm>
            <a:off x="320040" y="2615184"/>
            <a:ext cx="11548872" cy="274320"/>
          </a:xfrm>
          <a:prstGeom prst="rect">
            <a:avLst/>
          </a:prstGeom>
          <a:noFill/>
        </p:spPr>
        <p:txBody>
          <a:bodyPr wrap="square" lIns="45720" rIns="45720" tIns="18288" bIns="18288" anchor="ctr"/>
          <a:lstStyle/>
          <a:p>
            <a:pPr algn="ctr"/>
            <a:r>
              <a:rPr sz="1050" b="0" i="0">
                <a:solidFill>
                  <a:srgbClr val="595959"/>
                </a:solidFill>
                <a:latin typeface="Arial"/>
              </a:rPr>
              <a:t>Planted cases are regression checks on synthetic data, not real-world accuracy · precision / recall come from independent hand-labelled name pairs</a:t>
            </a:r>
          </a:p>
        </p:txBody>
      </p:sp>
      <p:sp>
        <p:nvSpPr>
          <p:cNvPr id="17442" name="Rounded Rectangle 17441"/>
          <p:cNvSpPr/>
          <p:nvPr/>
        </p:nvSpPr>
        <p:spPr>
          <a:xfrm>
            <a:off x="320040" y="3035808"/>
            <a:ext cx="548640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Potential challenges and risks</a:t>
            </a:r>
          </a:p>
        </p:txBody>
      </p:sp>
      <p:sp>
        <p:nvSpPr>
          <p:cNvPr id="17443" name="Rounded Rectangle 17442"/>
          <p:cNvSpPr/>
          <p:nvPr/>
        </p:nvSpPr>
        <p:spPr>
          <a:xfrm>
            <a:off x="6382512" y="3035808"/>
            <a:ext cx="548640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Strategies for overcoming these challenges</a:t>
            </a:r>
          </a:p>
        </p:txBody>
      </p:sp>
      <p:sp>
        <p:nvSpPr>
          <p:cNvPr id="17444" name="Rounded Rectangle 17443"/>
          <p:cNvSpPr/>
          <p:nvPr/>
        </p:nvSpPr>
        <p:spPr>
          <a:xfrm>
            <a:off x="320040" y="3419856"/>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5" name="Oval 17444"/>
          <p:cNvSpPr/>
          <p:nvPr/>
        </p:nvSpPr>
        <p:spPr>
          <a:xfrm>
            <a:off x="374904" y="3456432"/>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46" name="Picture 17445" descr="LuPlugZap_white.png"/>
          <p:cNvPicPr>
            <a:picLocks noChangeAspect="1"/>
          </p:cNvPicPr>
          <p:nvPr/>
        </p:nvPicPr>
        <p:blipFill>
          <a:blip r:embed="rId10"/>
          <a:stretch>
            <a:fillRect/>
          </a:stretch>
        </p:blipFill>
        <p:spPr>
          <a:xfrm>
            <a:off x="441289" y="3522817"/>
            <a:ext cx="168981" cy="168981"/>
          </a:xfrm>
          <a:prstGeom prst="rect">
            <a:avLst/>
          </a:prstGeom>
        </p:spPr>
      </p:pic>
      <p:sp>
        <p:nvSpPr>
          <p:cNvPr id="17447" name="TextBox 17446"/>
          <p:cNvSpPr txBox="1"/>
          <p:nvPr/>
        </p:nvSpPr>
        <p:spPr>
          <a:xfrm>
            <a:off x="777240" y="3419856"/>
            <a:ext cx="4983480" cy="374904"/>
          </a:xfrm>
          <a:prstGeom prst="rect">
            <a:avLst/>
          </a:prstGeom>
          <a:noFill/>
        </p:spPr>
        <p:txBody>
          <a:bodyPr wrap="square" lIns="45720" rIns="45720" tIns="18288" bIns="18288" anchor="ctr"/>
          <a:lstStyle/>
          <a:p>
            <a:pPr algn="l"/>
            <a:r>
              <a:rPr sz="1150" b="1" i="0">
                <a:solidFill>
                  <a:srgbClr val="1A1A1A"/>
                </a:solidFill>
                <a:latin typeface="Arial"/>
              </a:rPr>
              <a:t>No public APAAR API</a:t>
            </a:r>
          </a:p>
        </p:txBody>
      </p:sp>
      <p:cxnSp>
        <p:nvCxnSpPr>
          <p:cNvPr id="17448" name="Connector 17447"/>
          <p:cNvCxnSpPr/>
          <p:nvPr/>
        </p:nvCxnSpPr>
        <p:spPr>
          <a:xfrm>
            <a:off x="5852160" y="3602736"/>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49" name="Rounded Rectangle 17448"/>
          <p:cNvSpPr/>
          <p:nvPr/>
        </p:nvSpPr>
        <p:spPr>
          <a:xfrm>
            <a:off x="6382512" y="3419856"/>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0" name="TextBox 17449"/>
          <p:cNvSpPr txBox="1"/>
          <p:nvPr/>
        </p:nvSpPr>
        <p:spPr>
          <a:xfrm>
            <a:off x="6446520" y="3419856"/>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Registry adapter: mock now → DigiLocker / API Setu after partner onboarding</a:t>
            </a:r>
          </a:p>
        </p:txBody>
      </p:sp>
      <p:sp>
        <p:nvSpPr>
          <p:cNvPr id="17451" name="Rounded Rectangle 17450"/>
          <p:cNvSpPr/>
          <p:nvPr/>
        </p:nvSpPr>
        <p:spPr>
          <a:xfrm>
            <a:off x="320040" y="3849624"/>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2" name="Oval 17451"/>
          <p:cNvSpPr/>
          <p:nvPr/>
        </p:nvSpPr>
        <p:spPr>
          <a:xfrm>
            <a:off x="374904" y="3886200"/>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3" name="Picture 17452" descr="LuUserX_white.png"/>
          <p:cNvPicPr>
            <a:picLocks noChangeAspect="1"/>
          </p:cNvPicPr>
          <p:nvPr/>
        </p:nvPicPr>
        <p:blipFill>
          <a:blip r:embed="rId11"/>
          <a:stretch>
            <a:fillRect/>
          </a:stretch>
        </p:blipFill>
        <p:spPr>
          <a:xfrm>
            <a:off x="441289" y="3952585"/>
            <a:ext cx="168981" cy="168981"/>
          </a:xfrm>
          <a:prstGeom prst="rect">
            <a:avLst/>
          </a:prstGeom>
        </p:spPr>
      </p:pic>
      <p:sp>
        <p:nvSpPr>
          <p:cNvPr id="17454" name="TextBox 17453"/>
          <p:cNvSpPr txBox="1"/>
          <p:nvPr/>
        </p:nvSpPr>
        <p:spPr>
          <a:xfrm>
            <a:off x="777240" y="3849624"/>
            <a:ext cx="4983480" cy="374904"/>
          </a:xfrm>
          <a:prstGeom prst="rect">
            <a:avLst/>
          </a:prstGeom>
          <a:noFill/>
        </p:spPr>
        <p:txBody>
          <a:bodyPr wrap="square" lIns="45720" rIns="45720" tIns="18288" bIns="18288" anchor="ctr"/>
          <a:lstStyle/>
          <a:p>
            <a:pPr algn="l"/>
            <a:r>
              <a:rPr sz="1150" b="1" i="0">
                <a:solidFill>
                  <a:srgbClr val="1A1A1A"/>
                </a:solidFill>
                <a:latin typeface="Arial"/>
              </a:rPr>
              <a:t>Students without APAAR (opt-out, FN / OCI)</a:t>
            </a:r>
          </a:p>
        </p:txBody>
      </p:sp>
      <p:cxnSp>
        <p:nvCxnSpPr>
          <p:cNvPr id="17455" name="Connector 17454"/>
          <p:cNvCxnSpPr/>
          <p:nvPr/>
        </p:nvCxnSpPr>
        <p:spPr>
          <a:xfrm>
            <a:off x="5852160" y="4032504"/>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56" name="Rounded Rectangle 17455"/>
          <p:cNvSpPr/>
          <p:nvPr/>
        </p:nvSpPr>
        <p:spPr>
          <a:xfrm>
            <a:off x="6382512" y="3849624"/>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7" name="TextBox 17456"/>
          <p:cNvSpPr txBox="1"/>
          <p:nvPr/>
        </p:nvSpPr>
        <p:spPr>
          <a:xfrm>
            <a:off x="6446520" y="3849624"/>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Provisional ID, never rejected; mother's or guardian's name accepted</a:t>
            </a:r>
          </a:p>
        </p:txBody>
      </p:sp>
      <p:sp>
        <p:nvSpPr>
          <p:cNvPr id="17458" name="Rounded Rectangle 17457"/>
          <p:cNvSpPr/>
          <p:nvPr/>
        </p:nvSpPr>
        <p:spPr>
          <a:xfrm>
            <a:off x="320040" y="4279392"/>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9" name="Oval 17458"/>
          <p:cNvSpPr/>
          <p:nvPr/>
        </p:nvSpPr>
        <p:spPr>
          <a:xfrm>
            <a:off x="374904" y="4315968"/>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0" name="Picture 17459" descr="LuLock_white.png"/>
          <p:cNvPicPr>
            <a:picLocks noChangeAspect="1"/>
          </p:cNvPicPr>
          <p:nvPr/>
        </p:nvPicPr>
        <p:blipFill>
          <a:blip r:embed="rId12"/>
          <a:stretch>
            <a:fillRect/>
          </a:stretch>
        </p:blipFill>
        <p:spPr>
          <a:xfrm>
            <a:off x="441289" y="4382353"/>
            <a:ext cx="168981" cy="168981"/>
          </a:xfrm>
          <a:prstGeom prst="rect">
            <a:avLst/>
          </a:prstGeom>
        </p:spPr>
      </p:pic>
      <p:sp>
        <p:nvSpPr>
          <p:cNvPr id="17461" name="TextBox 17460"/>
          <p:cNvSpPr txBox="1"/>
          <p:nvPr/>
        </p:nvSpPr>
        <p:spPr>
          <a:xfrm>
            <a:off x="777240" y="4279392"/>
            <a:ext cx="4983480" cy="374904"/>
          </a:xfrm>
          <a:prstGeom prst="rect">
            <a:avLst/>
          </a:prstGeom>
          <a:noFill/>
        </p:spPr>
        <p:txBody>
          <a:bodyPr wrap="square" lIns="45720" rIns="45720" tIns="18288" bIns="18288" anchor="ctr"/>
          <a:lstStyle/>
          <a:p>
            <a:pPr algn="l"/>
            <a:r>
              <a:rPr sz="1150" b="1" i="0">
                <a:solidFill>
                  <a:srgbClr val="1A1A1A"/>
                </a:solidFill>
                <a:latin typeface="Arial"/>
              </a:rPr>
              <a:t>Student privacy (DPDP Act; APAAR is voluntary)</a:t>
            </a:r>
          </a:p>
        </p:txBody>
      </p:sp>
      <p:cxnSp>
        <p:nvCxnSpPr>
          <p:cNvPr id="17462" name="Connector 17461"/>
          <p:cNvCxnSpPr/>
          <p:nvPr/>
        </p:nvCxnSpPr>
        <p:spPr>
          <a:xfrm>
            <a:off x="5852160" y="4462272"/>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63" name="Rounded Rectangle 17462"/>
          <p:cNvSpPr/>
          <p:nvPr/>
        </p:nvSpPr>
        <p:spPr>
          <a:xfrm>
            <a:off x="6382512" y="4279392"/>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4" name="TextBox 17463"/>
          <p:cNvSpPr txBox="1"/>
          <p:nvPr/>
        </p:nvSpPr>
        <p:spPr>
          <a:xfrm>
            <a:off x="6446520" y="4279392"/>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Consent per field, masked IDs, no Aadhaar stored, access log</a:t>
            </a:r>
          </a:p>
        </p:txBody>
      </p:sp>
      <p:sp>
        <p:nvSpPr>
          <p:cNvPr id="17465" name="Rounded Rectangle 17464"/>
          <p:cNvSpPr/>
          <p:nvPr/>
        </p:nvSpPr>
        <p:spPr>
          <a:xfrm>
            <a:off x="320040" y="4709160"/>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6" name="Oval 17465"/>
          <p:cNvSpPr/>
          <p:nvPr/>
        </p:nvSpPr>
        <p:spPr>
          <a:xfrm>
            <a:off x="374904" y="4745736"/>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7" name="Picture 17466" descr="LuScale_white.png"/>
          <p:cNvPicPr>
            <a:picLocks noChangeAspect="1"/>
          </p:cNvPicPr>
          <p:nvPr/>
        </p:nvPicPr>
        <p:blipFill>
          <a:blip r:embed="rId13"/>
          <a:stretch>
            <a:fillRect/>
          </a:stretch>
        </p:blipFill>
        <p:spPr>
          <a:xfrm>
            <a:off x="441289" y="4812121"/>
            <a:ext cx="168981" cy="168981"/>
          </a:xfrm>
          <a:prstGeom prst="rect">
            <a:avLst/>
          </a:prstGeom>
        </p:spPr>
      </p:pic>
      <p:sp>
        <p:nvSpPr>
          <p:cNvPr id="17468" name="TextBox 17467"/>
          <p:cNvSpPr txBox="1"/>
          <p:nvPr/>
        </p:nvSpPr>
        <p:spPr>
          <a:xfrm>
            <a:off x="777240" y="4709160"/>
            <a:ext cx="4983480" cy="374904"/>
          </a:xfrm>
          <a:prstGeom prst="rect">
            <a:avLst/>
          </a:prstGeom>
          <a:noFill/>
        </p:spPr>
        <p:txBody>
          <a:bodyPr wrap="square" lIns="45720" rIns="45720" tIns="18288" bIns="18288" anchor="ctr"/>
          <a:lstStyle/>
          <a:p>
            <a:pPr algn="l"/>
            <a:r>
              <a:rPr sz="1150" b="1" i="0">
                <a:solidFill>
                  <a:srgbClr val="1A1A1A"/>
                </a:solidFill>
                <a:latin typeface="Arial"/>
              </a:rPr>
              <a:t>Wrong flags: twins, spelling variants</a:t>
            </a:r>
          </a:p>
        </p:txBody>
      </p:sp>
      <p:cxnSp>
        <p:nvCxnSpPr>
          <p:cNvPr id="17469" name="Connector 17468"/>
          <p:cNvCxnSpPr/>
          <p:nvPr/>
        </p:nvCxnSpPr>
        <p:spPr>
          <a:xfrm>
            <a:off x="5852160" y="4892040"/>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70" name="Rounded Rectangle 17469"/>
          <p:cNvSpPr/>
          <p:nvPr/>
        </p:nvSpPr>
        <p:spPr>
          <a:xfrm>
            <a:off x="6382512" y="4709160"/>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1" name="TextBox 17470"/>
          <p:cNvSpPr txBox="1"/>
          <p:nvPr/>
        </p:nvSpPr>
        <p:spPr>
          <a:xfrm>
            <a:off x="6446520" y="4709160"/>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Twin-safe matcher; officer decides with a reason; decision remembered</a:t>
            </a:r>
          </a:p>
        </p:txBody>
      </p:sp>
      <p:sp>
        <p:nvSpPr>
          <p:cNvPr id="17472" name="Rounded Rectangle 17471"/>
          <p:cNvSpPr/>
          <p:nvPr/>
        </p:nvSpPr>
        <p:spPr>
          <a:xfrm>
            <a:off x="320040" y="5138928"/>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3" name="Oval 17472"/>
          <p:cNvSpPr/>
          <p:nvPr/>
        </p:nvSpPr>
        <p:spPr>
          <a:xfrm>
            <a:off x="374904" y="5175504"/>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4" name="Picture 17473" descr="LuCalendarClock_white.png"/>
          <p:cNvPicPr>
            <a:picLocks noChangeAspect="1"/>
          </p:cNvPicPr>
          <p:nvPr/>
        </p:nvPicPr>
        <p:blipFill>
          <a:blip r:embed="rId14"/>
          <a:stretch>
            <a:fillRect/>
          </a:stretch>
        </p:blipFill>
        <p:spPr>
          <a:xfrm>
            <a:off x="441289" y="5241889"/>
            <a:ext cx="168981" cy="168981"/>
          </a:xfrm>
          <a:prstGeom prst="rect">
            <a:avLst/>
          </a:prstGeom>
        </p:spPr>
      </p:pic>
      <p:sp>
        <p:nvSpPr>
          <p:cNvPr id="17475" name="TextBox 17474"/>
          <p:cNvSpPr txBox="1"/>
          <p:nvPr/>
        </p:nvSpPr>
        <p:spPr>
          <a:xfrm>
            <a:off x="777240" y="5138928"/>
            <a:ext cx="4983480" cy="374904"/>
          </a:xfrm>
          <a:prstGeom prst="rect">
            <a:avLst/>
          </a:prstGeom>
          <a:noFill/>
        </p:spPr>
        <p:txBody>
          <a:bodyPr wrap="square" lIns="45720" rIns="45720" tIns="18288" bIns="18288" anchor="ctr"/>
          <a:lstStyle/>
          <a:p>
            <a:pPr algn="l"/>
            <a:r>
              <a:rPr sz="1150" b="1" i="0">
                <a:solidFill>
                  <a:srgbClr val="1A1A1A"/>
                </a:solidFill>
                <a:latin typeface="Arial"/>
              </a:rPr>
              <a:t>Rules change every year by circular</a:t>
            </a:r>
          </a:p>
        </p:txBody>
      </p:sp>
      <p:cxnSp>
        <p:nvCxnSpPr>
          <p:cNvPr id="17476" name="Connector 17475"/>
          <p:cNvCxnSpPr/>
          <p:nvPr/>
        </p:nvCxnSpPr>
        <p:spPr>
          <a:xfrm>
            <a:off x="5852160" y="5321808"/>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77" name="Rounded Rectangle 17476"/>
          <p:cNvSpPr/>
          <p:nvPr/>
        </p:nvSpPr>
        <p:spPr>
          <a:xfrm>
            <a:off x="6382512" y="5138928"/>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78" name="TextBox 17477"/>
          <p:cNvSpPr txBox="1"/>
          <p:nvPr/>
        </p:nvSpPr>
        <p:spPr>
          <a:xfrm>
            <a:off x="6446520" y="5138928"/>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Rules file per academic year, each value with its source</a:t>
            </a:r>
          </a:p>
        </p:txBody>
      </p:sp>
      <p:sp>
        <p:nvSpPr>
          <p:cNvPr id="17479" name="Rounded Rectangle 17478"/>
          <p:cNvSpPr/>
          <p:nvPr/>
        </p:nvSpPr>
        <p:spPr>
          <a:xfrm>
            <a:off x="320040" y="5568696"/>
            <a:ext cx="5486400" cy="374904"/>
          </a:xfrm>
          <a:prstGeom prst="roundRect">
            <a:avLst>
              <a:gd name="adj" fmla="val 29268"/>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0" name="Oval 17479"/>
          <p:cNvSpPr/>
          <p:nvPr/>
        </p:nvSpPr>
        <p:spPr>
          <a:xfrm>
            <a:off x="374904" y="5605272"/>
            <a:ext cx="301752" cy="301752"/>
          </a:xfrm>
          <a:prstGeom prst="ellipse">
            <a:avLst/>
          </a:prstGeom>
          <a:solidFill>
            <a:srgbClr val="B4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81" name="Picture 17480" descr="LuSmartphone_white.png"/>
          <p:cNvPicPr>
            <a:picLocks noChangeAspect="1"/>
          </p:cNvPicPr>
          <p:nvPr/>
        </p:nvPicPr>
        <p:blipFill>
          <a:blip r:embed="rId15"/>
          <a:stretch>
            <a:fillRect/>
          </a:stretch>
        </p:blipFill>
        <p:spPr>
          <a:xfrm>
            <a:off x="441289" y="5671657"/>
            <a:ext cx="168981" cy="168981"/>
          </a:xfrm>
          <a:prstGeom prst="rect">
            <a:avLst/>
          </a:prstGeom>
        </p:spPr>
      </p:pic>
      <p:sp>
        <p:nvSpPr>
          <p:cNvPr id="17482" name="TextBox 17481"/>
          <p:cNvSpPr txBox="1"/>
          <p:nvPr/>
        </p:nvSpPr>
        <p:spPr>
          <a:xfrm>
            <a:off x="777240" y="5568696"/>
            <a:ext cx="4983480" cy="374904"/>
          </a:xfrm>
          <a:prstGeom prst="rect">
            <a:avLst/>
          </a:prstGeom>
          <a:noFill/>
        </p:spPr>
        <p:txBody>
          <a:bodyPr wrap="square" lIns="45720" rIns="45720" tIns="18288" bIns="18288" anchor="ctr"/>
          <a:lstStyle/>
          <a:p>
            <a:pPr algn="l"/>
            <a:r>
              <a:rPr sz="1150" b="1" i="0">
                <a:solidFill>
                  <a:srgbClr val="1A1A1A"/>
                </a:solidFill>
                <a:latin typeface="Arial"/>
              </a:rPr>
              <a:t>ERP formats, low digital readiness</a:t>
            </a:r>
          </a:p>
        </p:txBody>
      </p:sp>
      <p:cxnSp>
        <p:nvCxnSpPr>
          <p:cNvPr id="17483" name="Connector 17482"/>
          <p:cNvCxnSpPr/>
          <p:nvPr/>
        </p:nvCxnSpPr>
        <p:spPr>
          <a:xfrm>
            <a:off x="5852160" y="5751576"/>
            <a:ext cx="484632" cy="0"/>
          </a:xfrm>
          <a:prstGeom prst="line">
            <a:avLst/>
          </a:prstGeom>
          <a:ln w="25400">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484" name="Rounded Rectangle 17483"/>
          <p:cNvSpPr/>
          <p:nvPr/>
        </p:nvSpPr>
        <p:spPr>
          <a:xfrm>
            <a:off x="6382512" y="5568696"/>
            <a:ext cx="5486400" cy="374904"/>
          </a:xfrm>
          <a:prstGeom prst="roundRect">
            <a:avLst>
              <a:gd name="adj" fmla="val 29268"/>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5" name="TextBox 17484"/>
          <p:cNvSpPr txBox="1"/>
          <p:nvPr/>
        </p:nvSpPr>
        <p:spPr>
          <a:xfrm>
            <a:off x="6446520" y="5568696"/>
            <a:ext cx="5376672" cy="374904"/>
          </a:xfrm>
          <a:prstGeom prst="rect">
            <a:avLst/>
          </a:prstGeom>
          <a:noFill/>
        </p:spPr>
        <p:txBody>
          <a:bodyPr wrap="square" lIns="45720" rIns="45720" tIns="18288" bIns="18288" anchor="ctr"/>
          <a:lstStyle/>
          <a:p>
            <a:pPr algn="l"/>
            <a:r>
              <a:rPr sz="1100" b="1" i="0">
                <a:solidFill>
                  <a:srgbClr val="1E7B3E"/>
                </a:solidFill>
                <a:latin typeface="Arial"/>
              </a:rPr>
              <a:t>✔  </a:t>
            </a:r>
            <a:r>
              <a:rPr sz="1100" b="0" i="0">
                <a:solidFill>
                  <a:srgbClr val="1A1A1A"/>
                </a:solidFill>
                <a:latin typeface="Arial"/>
              </a:rPr>
              <a:t>ERP headers auto-mapped, Excel template, API keys, Hindi, phone app</a:t>
            </a:r>
          </a:p>
        </p:txBody>
      </p:sp>
      <p:sp>
        <p:nvSpPr>
          <p:cNvPr id="17486" name="Rounded Rectangle 17485"/>
          <p:cNvSpPr/>
          <p:nvPr/>
        </p:nvSpPr>
        <p:spPr>
          <a:xfrm>
            <a:off x="320040" y="6035040"/>
            <a:ext cx="11548872" cy="274320"/>
          </a:xfrm>
          <a:prstGeom prst="roundRect">
            <a:avLst>
              <a:gd name="adj" fmla="val 20000"/>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87" name="TextBox 17486"/>
          <p:cNvSpPr txBox="1"/>
          <p:nvPr/>
        </p:nvSpPr>
        <p:spPr>
          <a:xfrm>
            <a:off x="411480" y="6035040"/>
            <a:ext cx="11384280" cy="274320"/>
          </a:xfrm>
          <a:prstGeom prst="rect">
            <a:avLst/>
          </a:prstGeom>
          <a:noFill/>
        </p:spPr>
        <p:txBody>
          <a:bodyPr wrap="square" lIns="45720" rIns="45720" tIns="18288" bIns="18288" anchor="ctr"/>
          <a:lstStyle/>
          <a:p>
            <a:pPr algn="l"/>
            <a:r>
              <a:rPr sz="1000" b="1" i="0">
                <a:solidFill>
                  <a:srgbClr val="E46C0A"/>
                </a:solidFill>
                <a:latin typeface="Arial"/>
              </a:rPr>
              <a:t>Roadmap  </a:t>
            </a:r>
            <a:r>
              <a:rPr sz="1000" b="0" i="0">
                <a:solidFill>
                  <a:srgbClr val="1A1A1A"/>
                </a:solidFill>
                <a:latin typeface="Arial"/>
              </a:rPr>
              <a:t>M1–3 pilot: 1 state, 50 colleges → M4–6 API Setu, SSO, STQC audit → M7–12 national   </a:t>
            </a:r>
            <a:r>
              <a:rPr sz="1000" b="1" i="0">
                <a:solidFill>
                  <a:srgbClr val="E46C0A"/>
                </a:solidFill>
                <a:latin typeface="Arial"/>
              </a:rPr>
              <a:t>Cost  </a:t>
            </a:r>
            <a:r>
              <a:rPr sz="1000" b="0" i="0">
                <a:solidFill>
                  <a:srgbClr val="1A1A1A"/>
                </a:solidFill>
                <a:latin typeface="Arial"/>
              </a:rPr>
              <a:t>open source, no licence fees; est. ₹20–25 lakh/yr MeitY-empanelled cloud</a:t>
            </a:r>
          </a:p>
        </p:txBody>
      </p:sp>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6035040"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Potential impact on the target audience</a:t>
            </a:r>
          </a:p>
        </p:txBody>
      </p:sp>
      <p:cxnSp>
        <p:nvCxnSpPr>
          <p:cNvPr id="17411" name="Connector 17410"/>
          <p:cNvCxnSpPr/>
          <p:nvPr/>
        </p:nvCxnSpPr>
        <p:spPr>
          <a:xfrm flipH="1" flipV="1">
            <a:off x="1216152" y="2039112"/>
            <a:ext cx="2121408" cy="1618488"/>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2" name="Connector 17411"/>
          <p:cNvCxnSpPr/>
          <p:nvPr/>
        </p:nvCxnSpPr>
        <p:spPr>
          <a:xfrm flipV="1">
            <a:off x="3337560" y="2039112"/>
            <a:ext cx="2084832" cy="1618488"/>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3" name="Connector 17412"/>
          <p:cNvCxnSpPr/>
          <p:nvPr/>
        </p:nvCxnSpPr>
        <p:spPr>
          <a:xfrm flipH="1">
            <a:off x="1216152" y="3657600"/>
            <a:ext cx="2121408" cy="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4" name="Connector 17413"/>
          <p:cNvCxnSpPr/>
          <p:nvPr/>
        </p:nvCxnSpPr>
        <p:spPr>
          <a:xfrm>
            <a:off x="3337560" y="3657600"/>
            <a:ext cx="2084832" cy="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cxnSp>
        <p:nvCxnSpPr>
          <p:cNvPr id="17415" name="Connector 17414"/>
          <p:cNvCxnSpPr/>
          <p:nvPr/>
        </p:nvCxnSpPr>
        <p:spPr>
          <a:xfrm>
            <a:off x="3337560" y="3657600"/>
            <a:ext cx="9144" cy="2011680"/>
          </a:xfrm>
          <a:prstGeom prst="line">
            <a:avLst/>
          </a:prstGeom>
          <a:ln w="31750">
            <a:solidFill>
              <a:srgbClr val="C9D3E3"/>
            </a:solidFill>
          </a:ln>
        </p:spPr>
        <p:style>
          <a:lnRef idx="2">
            <a:schemeClr val="accent1"/>
          </a:lnRef>
          <a:fillRef idx="0">
            <a:schemeClr val="accent1"/>
          </a:fillRef>
          <a:effectRef idx="1">
            <a:schemeClr val="accent1"/>
          </a:effectRef>
          <a:fontRef idx="minor">
            <a:schemeClr val="tx1"/>
          </a:fontRef>
        </p:style>
      </p:cxnSp>
      <p:sp>
        <p:nvSpPr>
          <p:cNvPr id="17416" name="Rounded Rectangle 17415"/>
          <p:cNvSpPr/>
          <p:nvPr/>
        </p:nvSpPr>
        <p:spPr>
          <a:xfrm>
            <a:off x="2167128" y="2852928"/>
            <a:ext cx="2340864" cy="1483614"/>
          </a:xfrm>
          <a:prstGeom prst="roundRect">
            <a:avLst>
              <a:gd name="adj" fmla="val 2465"/>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17" name="Picture 17416" descr="10_aicte_dashboard.png"/>
          <p:cNvPicPr>
            <a:picLocks noChangeAspect="1"/>
          </p:cNvPicPr>
          <p:nvPr/>
        </p:nvPicPr>
        <p:blipFill>
          <a:blip r:embed="rId4"/>
          <a:srcRect l="17800" t="5800" b="12000"/>
          <a:stretch>
            <a:fillRect/>
          </a:stretch>
        </p:blipFill>
        <p:spPr>
          <a:xfrm>
            <a:off x="2194560" y="2880360"/>
            <a:ext cx="2286000" cy="1428750"/>
          </a:xfrm>
          <a:prstGeom prst="rect">
            <a:avLst/>
          </a:prstGeom>
        </p:spPr>
      </p:pic>
      <p:sp>
        <p:nvSpPr>
          <p:cNvPr id="17418" name="TextBox 17417"/>
          <p:cNvSpPr txBox="1"/>
          <p:nvPr/>
        </p:nvSpPr>
        <p:spPr>
          <a:xfrm>
            <a:off x="2194560" y="4345686"/>
            <a:ext cx="2286000" cy="219456"/>
          </a:xfrm>
          <a:prstGeom prst="rect">
            <a:avLst/>
          </a:prstGeom>
          <a:noFill/>
        </p:spPr>
        <p:txBody>
          <a:bodyPr wrap="square" lIns="45720" rIns="45720" tIns="18288" bIns="18288" anchor="ctr"/>
          <a:lstStyle/>
          <a:p>
            <a:pPr algn="ctr"/>
            <a:r>
              <a:rPr sz="1100" b="1" i="0">
                <a:solidFill>
                  <a:srgbClr val="1F3864"/>
                </a:solidFill>
                <a:latin typeface="Arial"/>
              </a:rPr>
              <a:t>One national view</a:t>
            </a:r>
          </a:p>
        </p:txBody>
      </p:sp>
      <p:sp>
        <p:nvSpPr>
          <p:cNvPr id="17419" name="Rounded Rectangle 17418"/>
          <p:cNvSpPr/>
          <p:nvPr/>
        </p:nvSpPr>
        <p:spPr>
          <a:xfrm>
            <a:off x="320040" y="1536192"/>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0" name="Oval 17419"/>
          <p:cNvSpPr/>
          <p:nvPr/>
        </p:nvSpPr>
        <p:spPr>
          <a:xfrm>
            <a:off x="393192" y="1627632"/>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1" name="Picture 17420" descr="LuLandmark_white.png"/>
          <p:cNvPicPr>
            <a:picLocks noChangeAspect="1"/>
          </p:cNvPicPr>
          <p:nvPr/>
        </p:nvPicPr>
        <p:blipFill>
          <a:blip r:embed="rId5"/>
          <a:stretch>
            <a:fillRect/>
          </a:stretch>
        </p:blipFill>
        <p:spPr>
          <a:xfrm>
            <a:off x="485729" y="1720169"/>
            <a:ext cx="235549" cy="235549"/>
          </a:xfrm>
          <a:prstGeom prst="rect">
            <a:avLst/>
          </a:prstGeom>
        </p:spPr>
      </p:pic>
      <p:sp>
        <p:nvSpPr>
          <p:cNvPr id="17422" name="TextBox 17421"/>
          <p:cNvSpPr txBox="1"/>
          <p:nvPr/>
        </p:nvSpPr>
        <p:spPr>
          <a:xfrm>
            <a:off x="868680" y="1609344"/>
            <a:ext cx="1216152" cy="457200"/>
          </a:xfrm>
          <a:prstGeom prst="rect">
            <a:avLst/>
          </a:prstGeom>
          <a:noFill/>
        </p:spPr>
        <p:txBody>
          <a:bodyPr wrap="square" lIns="45720" rIns="45720" tIns="18288" bIns="18288" anchor="ctr"/>
          <a:lstStyle/>
          <a:p>
            <a:pPr algn="l"/>
            <a:r>
              <a:rPr sz="1200" b="1" i="0">
                <a:solidFill>
                  <a:srgbClr val="1F3864"/>
                </a:solidFill>
                <a:latin typeface="Arial"/>
              </a:rPr>
              <a:t>AICTE &amp; regulators</a:t>
            </a:r>
          </a:p>
        </p:txBody>
      </p:sp>
      <p:sp>
        <p:nvSpPr>
          <p:cNvPr id="17423" name="TextBox 17422"/>
          <p:cNvSpPr txBox="1"/>
          <p:nvPr/>
        </p:nvSpPr>
        <p:spPr>
          <a:xfrm>
            <a:off x="393192" y="2084831"/>
            <a:ext cx="1691640" cy="438912"/>
          </a:xfrm>
          <a:prstGeom prst="rect">
            <a:avLst/>
          </a:prstGeom>
          <a:noFill/>
        </p:spPr>
        <p:txBody>
          <a:bodyPr wrap="square" lIns="45720" rIns="45720" tIns="18288" bIns="18288" anchor="t"/>
          <a:lstStyle/>
          <a:p>
            <a:pPr algn="l"/>
            <a:r>
              <a:rPr sz="1050" b="0" i="0">
                <a:solidFill>
                  <a:srgbClr val="1A1A1A"/>
                </a:solidFill>
                <a:latin typeface="Arial"/>
              </a:rPr>
              <a:t>excess &amp; dual enrolment
caught at submission</a:t>
            </a:r>
          </a:p>
        </p:txBody>
      </p:sp>
      <p:sp>
        <p:nvSpPr>
          <p:cNvPr id="17424" name="Rounded Rectangle 17423"/>
          <p:cNvSpPr/>
          <p:nvPr/>
        </p:nvSpPr>
        <p:spPr>
          <a:xfrm>
            <a:off x="4526280" y="1536192"/>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5" name="Oval 17424"/>
          <p:cNvSpPr/>
          <p:nvPr/>
        </p:nvSpPr>
        <p:spPr>
          <a:xfrm>
            <a:off x="4599432" y="1627632"/>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26" name="Picture 17425" descr="LuBuilding2_white.png"/>
          <p:cNvPicPr>
            <a:picLocks noChangeAspect="1"/>
          </p:cNvPicPr>
          <p:nvPr/>
        </p:nvPicPr>
        <p:blipFill>
          <a:blip r:embed="rId6"/>
          <a:stretch>
            <a:fillRect/>
          </a:stretch>
        </p:blipFill>
        <p:spPr>
          <a:xfrm>
            <a:off x="4691969" y="1720169"/>
            <a:ext cx="235549" cy="235549"/>
          </a:xfrm>
          <a:prstGeom prst="rect">
            <a:avLst/>
          </a:prstGeom>
        </p:spPr>
      </p:pic>
      <p:sp>
        <p:nvSpPr>
          <p:cNvPr id="17427" name="TextBox 17426"/>
          <p:cNvSpPr txBox="1"/>
          <p:nvPr/>
        </p:nvSpPr>
        <p:spPr>
          <a:xfrm>
            <a:off x="5074920" y="1609344"/>
            <a:ext cx="1216152" cy="457200"/>
          </a:xfrm>
          <a:prstGeom prst="rect">
            <a:avLst/>
          </a:prstGeom>
          <a:noFill/>
        </p:spPr>
        <p:txBody>
          <a:bodyPr wrap="square" lIns="45720" rIns="45720" tIns="18288" bIns="18288" anchor="ctr"/>
          <a:lstStyle/>
          <a:p>
            <a:pPr algn="l"/>
            <a:r>
              <a:rPr sz="1200" b="1" i="0">
                <a:solidFill>
                  <a:srgbClr val="1F3864"/>
                </a:solidFill>
                <a:latin typeface="Arial"/>
              </a:rPr>
              <a:t>Institutions</a:t>
            </a:r>
          </a:p>
        </p:txBody>
      </p:sp>
      <p:sp>
        <p:nvSpPr>
          <p:cNvPr id="17428" name="TextBox 17427"/>
          <p:cNvSpPr txBox="1"/>
          <p:nvPr/>
        </p:nvSpPr>
        <p:spPr>
          <a:xfrm>
            <a:off x="4599432" y="2084831"/>
            <a:ext cx="1691640" cy="438912"/>
          </a:xfrm>
          <a:prstGeom prst="rect">
            <a:avLst/>
          </a:prstGeom>
          <a:noFill/>
        </p:spPr>
        <p:txBody>
          <a:bodyPr wrap="square" lIns="45720" rIns="45720" tIns="18288" bIns="18288" anchor="t"/>
          <a:lstStyle/>
          <a:p>
            <a:pPr algn="l"/>
            <a:r>
              <a:rPr sz="1050" b="0" i="0">
                <a:solidFill>
                  <a:srgbClr val="1A1A1A"/>
                </a:solidFill>
                <a:latin typeface="Arial"/>
              </a:rPr>
              <a:t>one upload; errors and
corrections explained</a:t>
            </a:r>
          </a:p>
        </p:txBody>
      </p:sp>
      <p:sp>
        <p:nvSpPr>
          <p:cNvPr id="17429" name="Rounded Rectangle 17428"/>
          <p:cNvSpPr/>
          <p:nvPr/>
        </p:nvSpPr>
        <p:spPr>
          <a:xfrm>
            <a:off x="320040" y="315468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0" name="Oval 17429"/>
          <p:cNvSpPr/>
          <p:nvPr/>
        </p:nvSpPr>
        <p:spPr>
          <a:xfrm>
            <a:off x="393192" y="3246120"/>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1" name="Picture 17430" descr="LuGraduationCap_white.png"/>
          <p:cNvPicPr>
            <a:picLocks noChangeAspect="1"/>
          </p:cNvPicPr>
          <p:nvPr/>
        </p:nvPicPr>
        <p:blipFill>
          <a:blip r:embed="rId7"/>
          <a:stretch>
            <a:fillRect/>
          </a:stretch>
        </p:blipFill>
        <p:spPr>
          <a:xfrm>
            <a:off x="485729" y="3338657"/>
            <a:ext cx="235549" cy="235549"/>
          </a:xfrm>
          <a:prstGeom prst="rect">
            <a:avLst/>
          </a:prstGeom>
        </p:spPr>
      </p:pic>
      <p:sp>
        <p:nvSpPr>
          <p:cNvPr id="17432" name="TextBox 17431"/>
          <p:cNvSpPr txBox="1"/>
          <p:nvPr/>
        </p:nvSpPr>
        <p:spPr>
          <a:xfrm>
            <a:off x="868680" y="3227832"/>
            <a:ext cx="1216152" cy="457200"/>
          </a:xfrm>
          <a:prstGeom prst="rect">
            <a:avLst/>
          </a:prstGeom>
          <a:noFill/>
        </p:spPr>
        <p:txBody>
          <a:bodyPr wrap="square" lIns="45720" rIns="45720" tIns="18288" bIns="18288" anchor="ctr"/>
          <a:lstStyle/>
          <a:p>
            <a:pPr algn="l"/>
            <a:r>
              <a:rPr sz="1200" b="1" i="0">
                <a:solidFill>
                  <a:srgbClr val="1F3864"/>
                </a:solidFill>
                <a:latin typeface="Arial"/>
              </a:rPr>
              <a:t>Universities</a:t>
            </a:r>
          </a:p>
        </p:txBody>
      </p:sp>
      <p:sp>
        <p:nvSpPr>
          <p:cNvPr id="17433" name="TextBox 17432"/>
          <p:cNvSpPr txBox="1"/>
          <p:nvPr/>
        </p:nvSpPr>
        <p:spPr>
          <a:xfrm>
            <a:off x="393192" y="3703320"/>
            <a:ext cx="1691640" cy="438912"/>
          </a:xfrm>
          <a:prstGeom prst="rect">
            <a:avLst/>
          </a:prstGeom>
          <a:noFill/>
        </p:spPr>
        <p:txBody>
          <a:bodyPr wrap="square" lIns="45720" rIns="45720" tIns="18288" bIns="18288" anchor="t"/>
          <a:lstStyle/>
          <a:p>
            <a:pPr algn="l"/>
            <a:r>
              <a:rPr sz="1050" b="0" i="0">
                <a:solidFill>
                  <a:srgbClr val="1A1A1A"/>
                </a:solidFill>
                <a:latin typeface="Arial"/>
              </a:rPr>
              <a:t>APAAR + student ID
printed on degrees</a:t>
            </a:r>
          </a:p>
        </p:txBody>
      </p:sp>
      <p:sp>
        <p:nvSpPr>
          <p:cNvPr id="17434" name="Rounded Rectangle 17433"/>
          <p:cNvSpPr/>
          <p:nvPr/>
        </p:nvSpPr>
        <p:spPr>
          <a:xfrm>
            <a:off x="4526280" y="315468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5" name="Oval 17434"/>
          <p:cNvSpPr/>
          <p:nvPr/>
        </p:nvSpPr>
        <p:spPr>
          <a:xfrm>
            <a:off x="4599432" y="3246120"/>
            <a:ext cx="420624" cy="420624"/>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36" name="Picture 17435" descr="LuBriefcase_white.png"/>
          <p:cNvPicPr>
            <a:picLocks noChangeAspect="1"/>
          </p:cNvPicPr>
          <p:nvPr/>
        </p:nvPicPr>
        <p:blipFill>
          <a:blip r:embed="rId8"/>
          <a:stretch>
            <a:fillRect/>
          </a:stretch>
        </p:blipFill>
        <p:spPr>
          <a:xfrm>
            <a:off x="4691969" y="3338657"/>
            <a:ext cx="235549" cy="235549"/>
          </a:xfrm>
          <a:prstGeom prst="rect">
            <a:avLst/>
          </a:prstGeom>
        </p:spPr>
      </p:pic>
      <p:sp>
        <p:nvSpPr>
          <p:cNvPr id="17437" name="TextBox 17436"/>
          <p:cNvSpPr txBox="1"/>
          <p:nvPr/>
        </p:nvSpPr>
        <p:spPr>
          <a:xfrm>
            <a:off x="5074920" y="3227832"/>
            <a:ext cx="1216152" cy="457200"/>
          </a:xfrm>
          <a:prstGeom prst="rect">
            <a:avLst/>
          </a:prstGeom>
          <a:noFill/>
        </p:spPr>
        <p:txBody>
          <a:bodyPr wrap="square" lIns="45720" rIns="45720" tIns="18288" bIns="18288" anchor="ctr"/>
          <a:lstStyle/>
          <a:p>
            <a:pPr algn="l"/>
            <a:r>
              <a:rPr sz="1200" b="1" i="0">
                <a:solidFill>
                  <a:srgbClr val="1F3864"/>
                </a:solidFill>
                <a:latin typeface="Arial"/>
              </a:rPr>
              <a:t>Employers</a:t>
            </a:r>
          </a:p>
        </p:txBody>
      </p:sp>
      <p:sp>
        <p:nvSpPr>
          <p:cNvPr id="17438" name="TextBox 17437"/>
          <p:cNvSpPr txBox="1"/>
          <p:nvPr/>
        </p:nvSpPr>
        <p:spPr>
          <a:xfrm>
            <a:off x="4599432" y="3703320"/>
            <a:ext cx="1691640" cy="438912"/>
          </a:xfrm>
          <a:prstGeom prst="rect">
            <a:avLst/>
          </a:prstGeom>
          <a:noFill/>
        </p:spPr>
        <p:txBody>
          <a:bodyPr wrap="square" lIns="45720" rIns="45720" tIns="18288" bIns="18288" anchor="t"/>
          <a:lstStyle/>
          <a:p>
            <a:pPr algn="l"/>
            <a:r>
              <a:rPr sz="1050" b="0" i="0">
                <a:solidFill>
                  <a:srgbClr val="1A1A1A"/>
                </a:solidFill>
                <a:latin typeface="Arial"/>
              </a:rPr>
              <a:t>instant QR check, even
offline; consent for more</a:t>
            </a:r>
          </a:p>
        </p:txBody>
      </p:sp>
      <p:sp>
        <p:nvSpPr>
          <p:cNvPr id="17439" name="Rounded Rectangle 17438"/>
          <p:cNvSpPr/>
          <p:nvPr/>
        </p:nvSpPr>
        <p:spPr>
          <a:xfrm>
            <a:off x="2450592" y="5166360"/>
            <a:ext cx="1783080" cy="1005840"/>
          </a:xfrm>
          <a:prstGeom prst="roundRect">
            <a:avLst>
              <a:gd name="adj" fmla="val 10909"/>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0" name="Oval 17439"/>
          <p:cNvSpPr/>
          <p:nvPr/>
        </p:nvSpPr>
        <p:spPr>
          <a:xfrm>
            <a:off x="2523744" y="5257800"/>
            <a:ext cx="420624" cy="420624"/>
          </a:xfrm>
          <a:prstGeom prst="ellipse">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41" name="Picture 17440" descr="LuUsers_white.png"/>
          <p:cNvPicPr>
            <a:picLocks noChangeAspect="1"/>
          </p:cNvPicPr>
          <p:nvPr/>
        </p:nvPicPr>
        <p:blipFill>
          <a:blip r:embed="rId9"/>
          <a:stretch>
            <a:fillRect/>
          </a:stretch>
        </p:blipFill>
        <p:spPr>
          <a:xfrm>
            <a:off x="2616281" y="5350337"/>
            <a:ext cx="235549" cy="235549"/>
          </a:xfrm>
          <a:prstGeom prst="rect">
            <a:avLst/>
          </a:prstGeom>
        </p:spPr>
      </p:pic>
      <p:sp>
        <p:nvSpPr>
          <p:cNvPr id="17442" name="TextBox 17441"/>
          <p:cNvSpPr txBox="1"/>
          <p:nvPr/>
        </p:nvSpPr>
        <p:spPr>
          <a:xfrm>
            <a:off x="2999232" y="5239512"/>
            <a:ext cx="1216152" cy="457200"/>
          </a:xfrm>
          <a:prstGeom prst="rect">
            <a:avLst/>
          </a:prstGeom>
          <a:noFill/>
        </p:spPr>
        <p:txBody>
          <a:bodyPr wrap="square" lIns="45720" rIns="45720" tIns="18288" bIns="18288" anchor="ctr"/>
          <a:lstStyle/>
          <a:p>
            <a:pPr algn="l"/>
            <a:r>
              <a:rPr sz="1200" b="1" i="0">
                <a:solidFill>
                  <a:srgbClr val="1F3864"/>
                </a:solidFill>
                <a:latin typeface="Arial"/>
              </a:rPr>
              <a:t>Students</a:t>
            </a:r>
          </a:p>
        </p:txBody>
      </p:sp>
      <p:sp>
        <p:nvSpPr>
          <p:cNvPr id="17443" name="TextBox 17442"/>
          <p:cNvSpPr txBox="1"/>
          <p:nvPr/>
        </p:nvSpPr>
        <p:spPr>
          <a:xfrm>
            <a:off x="2523744" y="5715000"/>
            <a:ext cx="1691640" cy="438912"/>
          </a:xfrm>
          <a:prstGeom prst="rect">
            <a:avLst/>
          </a:prstGeom>
          <a:noFill/>
        </p:spPr>
        <p:txBody>
          <a:bodyPr wrap="square" lIns="45720" rIns="45720" tIns="18288" bIns="18288" anchor="t"/>
          <a:lstStyle/>
          <a:p>
            <a:pPr algn="l"/>
            <a:r>
              <a:rPr sz="1050" b="0" i="0">
                <a:solidFill>
                  <a:srgbClr val="1A1A1A"/>
                </a:solidFill>
                <a:latin typeface="Arial"/>
              </a:rPr>
              <a:t>own record; control
over who sees it</a:t>
            </a:r>
          </a:p>
        </p:txBody>
      </p:sp>
      <p:sp>
        <p:nvSpPr>
          <p:cNvPr id="17444" name="Rounded Rectangle 17443"/>
          <p:cNvSpPr/>
          <p:nvPr/>
        </p:nvSpPr>
        <p:spPr>
          <a:xfrm>
            <a:off x="320040" y="4443984"/>
            <a:ext cx="2011680" cy="1737360"/>
          </a:xfrm>
          <a:prstGeom prst="roundRect">
            <a:avLst>
              <a:gd name="adj" fmla="val 6315"/>
            </a:avLst>
          </a:prstGeom>
          <a:solidFill>
            <a:srgbClr val="FCECEA"/>
          </a:solidFill>
          <a:ln w="9525">
            <a:solidFill>
              <a:srgbClr val="F0C4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5" name="TextBox 17444"/>
          <p:cNvSpPr txBox="1"/>
          <p:nvPr/>
        </p:nvSpPr>
        <p:spPr>
          <a:xfrm>
            <a:off x="393192" y="4480560"/>
            <a:ext cx="1865376" cy="274320"/>
          </a:xfrm>
          <a:prstGeom prst="rect">
            <a:avLst/>
          </a:prstGeom>
          <a:noFill/>
        </p:spPr>
        <p:txBody>
          <a:bodyPr wrap="square" lIns="45720" rIns="45720" tIns="18288" bIns="18288" anchor="ctr"/>
          <a:lstStyle/>
          <a:p>
            <a:pPr algn="l"/>
            <a:r>
              <a:rPr sz="1150" b="1" i="0">
                <a:solidFill>
                  <a:srgbClr val="B42B2B"/>
                </a:solidFill>
                <a:latin typeface="Arial"/>
              </a:rPr>
              <a:t>Today</a:t>
            </a:r>
          </a:p>
        </p:txBody>
      </p:sp>
      <p:sp>
        <p:nvSpPr>
          <p:cNvPr id="17446" name="TextBox 17445"/>
          <p:cNvSpPr txBox="1"/>
          <p:nvPr/>
        </p:nvSpPr>
        <p:spPr>
          <a:xfrm>
            <a:off x="393192" y="4754880"/>
            <a:ext cx="1865376" cy="1389888"/>
          </a:xfrm>
          <a:prstGeom prst="rect">
            <a:avLst/>
          </a:prstGeom>
          <a:noFill/>
        </p:spPr>
        <p:txBody>
          <a:bodyPr wrap="square" lIns="45720" rIns="45720" tIns="18288" bIns="18288" anchor="t"/>
          <a:lstStyle/>
          <a:p>
            <a:pPr algn="l">
              <a:spcAft>
                <a:spcPts val="300"/>
              </a:spcAft>
            </a:pPr>
            <a:r>
              <a:rPr sz="1000" b="1" i="0">
                <a:solidFill>
                  <a:srgbClr val="B42B2B"/>
                </a:solidFill>
                <a:latin typeface="Arial"/>
              </a:rPr>
              <a:t>✖ </a:t>
            </a:r>
            <a:r>
              <a:rPr sz="1000" b="0" i="0">
                <a:solidFill>
                  <a:srgbClr val="1A1A1A"/>
                </a:solidFill>
                <a:latin typeface="Arial"/>
              </a:rPr>
              <a:t>Excess admissions surface in annual returns</a:t>
            </a:r>
          </a:p>
          <a:p>
            <a:pPr algn="l">
              <a:spcAft>
                <a:spcPts val="300"/>
              </a:spcAft>
            </a:pPr>
            <a:r>
              <a:rPr sz="1000" b="1" i="0">
                <a:solidFill>
                  <a:srgbClr val="B42B2B"/>
                </a:solidFill>
                <a:latin typeface="Arial"/>
              </a:rPr>
              <a:t>✖ </a:t>
            </a:r>
            <a:r>
              <a:rPr sz="1000" b="0" i="0">
                <a:solidFill>
                  <a:srgbClr val="1A1A1A"/>
                </a:solidFill>
                <a:latin typeface="Arial"/>
              </a:rPr>
              <a:t>AISHE figures arrive 2–3 years late</a:t>
            </a:r>
          </a:p>
          <a:p>
            <a:pPr algn="l">
              <a:spcAft>
                <a:spcPts val="300"/>
              </a:spcAft>
            </a:pPr>
            <a:r>
              <a:rPr sz="1000" b="1" i="0">
                <a:solidFill>
                  <a:srgbClr val="B42B2B"/>
                </a:solidFill>
                <a:latin typeface="Arial"/>
              </a:rPr>
              <a:t>✖ </a:t>
            </a:r>
            <a:r>
              <a:rPr sz="1000" b="0" i="0">
                <a:solidFill>
                  <a:srgbClr val="1A1A1A"/>
                </a:solidFill>
                <a:latin typeface="Arial"/>
              </a:rPr>
              <a:t>Same student at two colleges goes unseen</a:t>
            </a:r>
          </a:p>
        </p:txBody>
      </p:sp>
      <p:sp>
        <p:nvSpPr>
          <p:cNvPr id="17447" name="Rounded Rectangle 17446"/>
          <p:cNvSpPr/>
          <p:nvPr/>
        </p:nvSpPr>
        <p:spPr>
          <a:xfrm>
            <a:off x="4315968" y="4443984"/>
            <a:ext cx="2039112" cy="1737360"/>
          </a:xfrm>
          <a:prstGeom prst="roundRect">
            <a:avLst>
              <a:gd name="adj" fmla="val 6315"/>
            </a:avLst>
          </a:prstGeom>
          <a:solidFill>
            <a:srgbClr val="E8F5EC"/>
          </a:solidFill>
          <a:ln w="9525">
            <a:solidFill>
              <a:srgbClr val="BFE3C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8" name="TextBox 17447"/>
          <p:cNvSpPr txBox="1"/>
          <p:nvPr/>
        </p:nvSpPr>
        <p:spPr>
          <a:xfrm>
            <a:off x="4389120" y="4480560"/>
            <a:ext cx="1892807" cy="274320"/>
          </a:xfrm>
          <a:prstGeom prst="rect">
            <a:avLst/>
          </a:prstGeom>
          <a:noFill/>
        </p:spPr>
        <p:txBody>
          <a:bodyPr wrap="square" lIns="45720" rIns="45720" tIns="18288" bIns="18288" anchor="ctr"/>
          <a:lstStyle/>
          <a:p>
            <a:pPr algn="l"/>
            <a:r>
              <a:rPr sz="1150" b="1" i="0">
                <a:solidFill>
                  <a:srgbClr val="1E7B3E"/>
                </a:solidFill>
                <a:latin typeface="Arial"/>
              </a:rPr>
              <a:t>With Vidya Pramaan</a:t>
            </a:r>
          </a:p>
        </p:txBody>
      </p:sp>
      <p:sp>
        <p:nvSpPr>
          <p:cNvPr id="17449" name="TextBox 17448"/>
          <p:cNvSpPr txBox="1"/>
          <p:nvPr/>
        </p:nvSpPr>
        <p:spPr>
          <a:xfrm>
            <a:off x="4389120" y="4754880"/>
            <a:ext cx="1892807" cy="1389888"/>
          </a:xfrm>
          <a:prstGeom prst="rect">
            <a:avLst/>
          </a:prstGeom>
          <a:noFill/>
        </p:spPr>
        <p:txBody>
          <a:bodyPr wrap="square" lIns="45720" rIns="45720" tIns="18288" bIns="18288" anchor="t"/>
          <a:lstStyle/>
          <a:p>
            <a:pPr algn="l">
              <a:spcAft>
                <a:spcPts val="300"/>
              </a:spcAft>
            </a:pPr>
            <a:r>
              <a:rPr sz="1000" b="1" i="0">
                <a:solidFill>
                  <a:srgbClr val="1E7B3E"/>
                </a:solidFill>
                <a:latin typeface="Arial"/>
              </a:rPr>
              <a:t>✔ </a:t>
            </a:r>
            <a:r>
              <a:rPr sz="1000" b="0" i="0">
                <a:solidFill>
                  <a:srgbClr val="1A1A1A"/>
                </a:solidFill>
                <a:latin typeface="Arial"/>
              </a:rPr>
              <a:t>Seat #61 of 60 stopped the day it is uploaded</a:t>
            </a:r>
          </a:p>
          <a:p>
            <a:pPr algn="l">
              <a:spcAft>
                <a:spcPts val="300"/>
              </a:spcAft>
            </a:pPr>
            <a:r>
              <a:rPr sz="1000" b="1" i="0">
                <a:solidFill>
                  <a:srgbClr val="1E7B3E"/>
                </a:solidFill>
                <a:latin typeface="Arial"/>
              </a:rPr>
              <a:t>✔ </a:t>
            </a:r>
            <a:r>
              <a:rPr sz="1000" b="0" i="0">
                <a:solidFill>
                  <a:srgbClr val="1A1A1A"/>
                </a:solidFill>
                <a:latin typeface="Arial"/>
              </a:rPr>
              <a:t>Duplicates and ghost rings flagged within minutes</a:t>
            </a:r>
          </a:p>
          <a:p>
            <a:pPr algn="l">
              <a:spcAft>
                <a:spcPts val="300"/>
              </a:spcAft>
            </a:pPr>
            <a:r>
              <a:rPr sz="1000" b="1" i="0">
                <a:solidFill>
                  <a:srgbClr val="1E7B3E"/>
                </a:solidFill>
                <a:latin typeface="Arial"/>
              </a:rPr>
              <a:t>✔ </a:t>
            </a:r>
            <a:r>
              <a:rPr sz="1000" b="0" i="0">
                <a:solidFill>
                  <a:srgbClr val="1A1A1A"/>
                </a:solidFill>
                <a:latin typeface="Arial"/>
              </a:rPr>
              <a:t>QR check in seconds, even offline</a:t>
            </a:r>
          </a:p>
        </p:txBody>
      </p:sp>
      <p:sp>
        <p:nvSpPr>
          <p:cNvPr id="17450" name="Rounded Rectangle 17449"/>
          <p:cNvSpPr/>
          <p:nvPr/>
        </p:nvSpPr>
        <p:spPr>
          <a:xfrm>
            <a:off x="6583680" y="1097280"/>
            <a:ext cx="528523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Benefits of the solution (social, economic, environmental, etc.)</a:t>
            </a:r>
          </a:p>
        </p:txBody>
      </p:sp>
      <p:sp>
        <p:nvSpPr>
          <p:cNvPr id="17451" name="Rounded Rectangle 17450"/>
          <p:cNvSpPr/>
          <p:nvPr/>
        </p:nvSpPr>
        <p:spPr>
          <a:xfrm>
            <a:off x="6583680" y="1508760"/>
            <a:ext cx="2587752" cy="1261872"/>
          </a:xfrm>
          <a:prstGeom prst="roundRect">
            <a:avLst>
              <a:gd name="adj" fmla="val 8695"/>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2" name="Oval 17451"/>
          <p:cNvSpPr/>
          <p:nvPr/>
        </p:nvSpPr>
        <p:spPr>
          <a:xfrm>
            <a:off x="6693408" y="1618488"/>
            <a:ext cx="457200" cy="457200"/>
          </a:xfrm>
          <a:prstGeom prst="ellipse">
            <a:avLst/>
          </a:prstGeom>
          <a:solidFill>
            <a:srgbClr val="1E7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3" name="Picture 17452" descr="LuHeartHandshake_white.png"/>
          <p:cNvPicPr>
            <a:picLocks noChangeAspect="1"/>
          </p:cNvPicPr>
          <p:nvPr/>
        </p:nvPicPr>
        <p:blipFill>
          <a:blip r:embed="rId10"/>
          <a:stretch>
            <a:fillRect/>
          </a:stretch>
        </p:blipFill>
        <p:spPr>
          <a:xfrm>
            <a:off x="6793992" y="1719072"/>
            <a:ext cx="256032" cy="256032"/>
          </a:xfrm>
          <a:prstGeom prst="rect">
            <a:avLst/>
          </a:prstGeom>
        </p:spPr>
      </p:pic>
      <p:sp>
        <p:nvSpPr>
          <p:cNvPr id="17454" name="TextBox 17453"/>
          <p:cNvSpPr txBox="1"/>
          <p:nvPr/>
        </p:nvSpPr>
        <p:spPr>
          <a:xfrm>
            <a:off x="7242048" y="1618488"/>
            <a:ext cx="1856232" cy="457200"/>
          </a:xfrm>
          <a:prstGeom prst="rect">
            <a:avLst/>
          </a:prstGeom>
          <a:noFill/>
        </p:spPr>
        <p:txBody>
          <a:bodyPr wrap="square" lIns="45720" rIns="45720" tIns="18288" bIns="18288" anchor="ctr"/>
          <a:lstStyle/>
          <a:p>
            <a:pPr algn="l"/>
            <a:r>
              <a:rPr sz="1300" b="1" i="0">
                <a:solidFill>
                  <a:srgbClr val="1F3864"/>
                </a:solidFill>
                <a:latin typeface="Arial"/>
              </a:rPr>
              <a:t>Social</a:t>
            </a:r>
          </a:p>
        </p:txBody>
      </p:sp>
      <p:sp>
        <p:nvSpPr>
          <p:cNvPr id="17455" name="TextBox 17454"/>
          <p:cNvSpPr txBox="1"/>
          <p:nvPr/>
        </p:nvSpPr>
        <p:spPr>
          <a:xfrm>
            <a:off x="6693408" y="2148839"/>
            <a:ext cx="2404872" cy="566928"/>
          </a:xfrm>
          <a:prstGeom prst="rect">
            <a:avLst/>
          </a:prstGeom>
          <a:noFill/>
        </p:spPr>
        <p:txBody>
          <a:bodyPr wrap="square" lIns="45720" rIns="45720" tIns="18288" bIns="18288" anchor="t"/>
          <a:lstStyle/>
          <a:p>
            <a:pPr algn="l"/>
            <a:r>
              <a:rPr sz="1100" b="0" i="0">
                <a:solidFill>
                  <a:srgbClr val="1A1A1A"/>
                </a:solidFill>
                <a:latin typeface="Arial"/>
              </a:rPr>
              <a:t>fair admissions; no student
excluded for opting out</a:t>
            </a:r>
          </a:p>
        </p:txBody>
      </p:sp>
      <p:sp>
        <p:nvSpPr>
          <p:cNvPr id="17456" name="Rounded Rectangle 17455"/>
          <p:cNvSpPr/>
          <p:nvPr/>
        </p:nvSpPr>
        <p:spPr>
          <a:xfrm>
            <a:off x="9281160" y="1508760"/>
            <a:ext cx="2587752" cy="1261872"/>
          </a:xfrm>
          <a:prstGeom prst="roundRect">
            <a:avLst>
              <a:gd name="adj" fmla="val 8695"/>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57" name="Oval 17456"/>
          <p:cNvSpPr/>
          <p:nvPr/>
        </p:nvSpPr>
        <p:spPr>
          <a:xfrm>
            <a:off x="9390888" y="1618488"/>
            <a:ext cx="457200" cy="457200"/>
          </a:xfrm>
          <a:prstGeom prst="ellipse">
            <a:avLst/>
          </a:prstGeom>
          <a:solidFill>
            <a:srgbClr val="0070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8" name="Picture 17457" descr="LuIndianRupee_white.png"/>
          <p:cNvPicPr>
            <a:picLocks noChangeAspect="1"/>
          </p:cNvPicPr>
          <p:nvPr/>
        </p:nvPicPr>
        <p:blipFill>
          <a:blip r:embed="rId11"/>
          <a:stretch>
            <a:fillRect/>
          </a:stretch>
        </p:blipFill>
        <p:spPr>
          <a:xfrm>
            <a:off x="9491472" y="1719072"/>
            <a:ext cx="256032" cy="256032"/>
          </a:xfrm>
          <a:prstGeom prst="rect">
            <a:avLst/>
          </a:prstGeom>
        </p:spPr>
      </p:pic>
      <p:sp>
        <p:nvSpPr>
          <p:cNvPr id="17459" name="TextBox 17458"/>
          <p:cNvSpPr txBox="1"/>
          <p:nvPr/>
        </p:nvSpPr>
        <p:spPr>
          <a:xfrm>
            <a:off x="9939528" y="1618488"/>
            <a:ext cx="1856232" cy="457200"/>
          </a:xfrm>
          <a:prstGeom prst="rect">
            <a:avLst/>
          </a:prstGeom>
          <a:noFill/>
        </p:spPr>
        <p:txBody>
          <a:bodyPr wrap="square" lIns="45720" rIns="45720" tIns="18288" bIns="18288" anchor="ctr"/>
          <a:lstStyle/>
          <a:p>
            <a:pPr algn="l"/>
            <a:r>
              <a:rPr sz="1300" b="1" i="0">
                <a:solidFill>
                  <a:srgbClr val="1F3864"/>
                </a:solidFill>
                <a:latin typeface="Arial"/>
              </a:rPr>
              <a:t>Economic</a:t>
            </a:r>
          </a:p>
        </p:txBody>
      </p:sp>
      <p:sp>
        <p:nvSpPr>
          <p:cNvPr id="17460" name="TextBox 17459"/>
          <p:cNvSpPr txBox="1"/>
          <p:nvPr/>
        </p:nvSpPr>
        <p:spPr>
          <a:xfrm>
            <a:off x="9390888" y="2148839"/>
            <a:ext cx="2404872" cy="566928"/>
          </a:xfrm>
          <a:prstGeom prst="rect">
            <a:avLst/>
          </a:prstGeom>
          <a:noFill/>
        </p:spPr>
        <p:txBody>
          <a:bodyPr wrap="square" lIns="45720" rIns="45720" tIns="18288" bIns="18288" anchor="t"/>
          <a:lstStyle/>
          <a:p>
            <a:pPr algn="l"/>
            <a:r>
              <a:rPr sz="1100" b="0" i="0">
                <a:solidFill>
                  <a:srgbClr val="1A1A1A"/>
                </a:solidFill>
                <a:latin typeface="Arial"/>
              </a:rPr>
              <a:t>no licence cost; one upload
replaces repeated returns</a:t>
            </a:r>
          </a:p>
        </p:txBody>
      </p:sp>
      <p:sp>
        <p:nvSpPr>
          <p:cNvPr id="17461" name="Rounded Rectangle 17460"/>
          <p:cNvSpPr/>
          <p:nvPr/>
        </p:nvSpPr>
        <p:spPr>
          <a:xfrm>
            <a:off x="6583680" y="2862072"/>
            <a:ext cx="2587752" cy="1261872"/>
          </a:xfrm>
          <a:prstGeom prst="roundRect">
            <a:avLst>
              <a:gd name="adj" fmla="val 8695"/>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2" name="Oval 17461"/>
          <p:cNvSpPr/>
          <p:nvPr/>
        </p:nvSpPr>
        <p:spPr>
          <a:xfrm>
            <a:off x="6693408" y="2971800"/>
            <a:ext cx="457200" cy="457200"/>
          </a:xfrm>
          <a:prstGeom prst="ellipse">
            <a:avLst/>
          </a:prstGeom>
          <a:solidFill>
            <a:srgbClr val="1E7B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3" name="Picture 17462" descr="LuLeaf_white.png"/>
          <p:cNvPicPr>
            <a:picLocks noChangeAspect="1"/>
          </p:cNvPicPr>
          <p:nvPr/>
        </p:nvPicPr>
        <p:blipFill>
          <a:blip r:embed="rId12"/>
          <a:stretch>
            <a:fillRect/>
          </a:stretch>
        </p:blipFill>
        <p:spPr>
          <a:xfrm>
            <a:off x="6793992" y="3072384"/>
            <a:ext cx="256032" cy="256032"/>
          </a:xfrm>
          <a:prstGeom prst="rect">
            <a:avLst/>
          </a:prstGeom>
        </p:spPr>
      </p:pic>
      <p:sp>
        <p:nvSpPr>
          <p:cNvPr id="17464" name="TextBox 17463"/>
          <p:cNvSpPr txBox="1"/>
          <p:nvPr/>
        </p:nvSpPr>
        <p:spPr>
          <a:xfrm>
            <a:off x="7242048" y="2971800"/>
            <a:ext cx="1856232" cy="457200"/>
          </a:xfrm>
          <a:prstGeom prst="rect">
            <a:avLst/>
          </a:prstGeom>
          <a:noFill/>
        </p:spPr>
        <p:txBody>
          <a:bodyPr wrap="square" lIns="45720" rIns="45720" tIns="18288" bIns="18288" anchor="ctr"/>
          <a:lstStyle/>
          <a:p>
            <a:pPr algn="l"/>
            <a:r>
              <a:rPr sz="1300" b="1" i="0">
                <a:solidFill>
                  <a:srgbClr val="1F3864"/>
                </a:solidFill>
                <a:latin typeface="Arial"/>
              </a:rPr>
              <a:t>Environmental</a:t>
            </a:r>
          </a:p>
        </p:txBody>
      </p:sp>
      <p:sp>
        <p:nvSpPr>
          <p:cNvPr id="17465" name="TextBox 17464"/>
          <p:cNvSpPr txBox="1"/>
          <p:nvPr/>
        </p:nvSpPr>
        <p:spPr>
          <a:xfrm>
            <a:off x="6693408" y="3502152"/>
            <a:ext cx="2404872" cy="566928"/>
          </a:xfrm>
          <a:prstGeom prst="rect">
            <a:avLst/>
          </a:prstGeom>
          <a:noFill/>
        </p:spPr>
        <p:txBody>
          <a:bodyPr wrap="square" lIns="45720" rIns="45720" tIns="18288" bIns="18288" anchor="t"/>
          <a:lstStyle/>
          <a:p>
            <a:pPr algn="l"/>
            <a:r>
              <a:rPr sz="1100" b="0" i="0">
                <a:solidFill>
                  <a:srgbClr val="1A1A1A"/>
                </a:solidFill>
                <a:latin typeface="Arial"/>
              </a:rPr>
              <a:t>paperless returns and
verification; no courier checks</a:t>
            </a:r>
          </a:p>
        </p:txBody>
      </p:sp>
      <p:sp>
        <p:nvSpPr>
          <p:cNvPr id="17466" name="Rounded Rectangle 17465"/>
          <p:cNvSpPr/>
          <p:nvPr/>
        </p:nvSpPr>
        <p:spPr>
          <a:xfrm>
            <a:off x="9281160" y="2862072"/>
            <a:ext cx="2587752" cy="1261872"/>
          </a:xfrm>
          <a:prstGeom prst="roundRect">
            <a:avLst>
              <a:gd name="adj" fmla="val 8695"/>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67" name="Oval 17466"/>
          <p:cNvSpPr/>
          <p:nvPr/>
        </p:nvSpPr>
        <p:spPr>
          <a:xfrm>
            <a:off x="9390888" y="2971800"/>
            <a:ext cx="457200" cy="457200"/>
          </a:xfrm>
          <a:prstGeom prst="ellipse">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68" name="Picture 17467" descr="LuLandmark_white.png"/>
          <p:cNvPicPr>
            <a:picLocks noChangeAspect="1"/>
          </p:cNvPicPr>
          <p:nvPr/>
        </p:nvPicPr>
        <p:blipFill>
          <a:blip r:embed="rId5"/>
          <a:stretch>
            <a:fillRect/>
          </a:stretch>
        </p:blipFill>
        <p:spPr>
          <a:xfrm>
            <a:off x="9491472" y="3072384"/>
            <a:ext cx="256032" cy="256032"/>
          </a:xfrm>
          <a:prstGeom prst="rect">
            <a:avLst/>
          </a:prstGeom>
        </p:spPr>
      </p:pic>
      <p:sp>
        <p:nvSpPr>
          <p:cNvPr id="17469" name="TextBox 17468"/>
          <p:cNvSpPr txBox="1"/>
          <p:nvPr/>
        </p:nvSpPr>
        <p:spPr>
          <a:xfrm>
            <a:off x="9939528" y="2971800"/>
            <a:ext cx="1856232" cy="457200"/>
          </a:xfrm>
          <a:prstGeom prst="rect">
            <a:avLst/>
          </a:prstGeom>
          <a:noFill/>
        </p:spPr>
        <p:txBody>
          <a:bodyPr wrap="square" lIns="45720" rIns="45720" tIns="18288" bIns="18288" anchor="ctr"/>
          <a:lstStyle/>
          <a:p>
            <a:pPr algn="l"/>
            <a:r>
              <a:rPr sz="1300" b="1" i="0">
                <a:solidFill>
                  <a:srgbClr val="1F3864"/>
                </a:solidFill>
                <a:latin typeface="Arial"/>
              </a:rPr>
              <a:t>Governance</a:t>
            </a:r>
          </a:p>
        </p:txBody>
      </p:sp>
      <p:sp>
        <p:nvSpPr>
          <p:cNvPr id="17470" name="TextBox 17469"/>
          <p:cNvSpPr txBox="1"/>
          <p:nvPr/>
        </p:nvSpPr>
        <p:spPr>
          <a:xfrm>
            <a:off x="9390888" y="3502152"/>
            <a:ext cx="2404872" cy="566928"/>
          </a:xfrm>
          <a:prstGeom prst="rect">
            <a:avLst/>
          </a:prstGeom>
          <a:noFill/>
        </p:spPr>
        <p:txBody>
          <a:bodyPr wrap="square" lIns="45720" rIns="45720" tIns="18288" bIns="18288" anchor="t"/>
          <a:lstStyle/>
          <a:p>
            <a:pPr algn="l"/>
            <a:r>
              <a:rPr sz="1100" b="0" i="0">
                <a:solidFill>
                  <a:srgbClr val="1A1A1A"/>
                </a:solidFill>
                <a:latin typeface="Arial"/>
              </a:rPr>
              <a:t>audited evidence pack for
review and show-cause</a:t>
            </a:r>
          </a:p>
        </p:txBody>
      </p:sp>
      <p:sp>
        <p:nvSpPr>
          <p:cNvPr id="17471" name="Rounded Rectangle 17470"/>
          <p:cNvSpPr/>
          <p:nvPr/>
        </p:nvSpPr>
        <p:spPr>
          <a:xfrm>
            <a:off x="6601968" y="4288536"/>
            <a:ext cx="2340864" cy="1671227"/>
          </a:xfrm>
          <a:prstGeom prst="roundRect">
            <a:avLst>
              <a:gd name="adj" fmla="val 2188"/>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2" name="Picture 17471" descr="25_certificate.png"/>
          <p:cNvPicPr>
            <a:picLocks noChangeAspect="1"/>
          </p:cNvPicPr>
          <p:nvPr/>
        </p:nvPicPr>
        <p:blipFill>
          <a:blip r:embed="rId13"/>
          <a:srcRect/>
          <a:stretch>
            <a:fillRect/>
          </a:stretch>
        </p:blipFill>
        <p:spPr>
          <a:xfrm>
            <a:off x="6629400" y="4315968"/>
            <a:ext cx="2286000" cy="1616363"/>
          </a:xfrm>
          <a:prstGeom prst="rect">
            <a:avLst/>
          </a:prstGeom>
        </p:spPr>
      </p:pic>
      <p:sp>
        <p:nvSpPr>
          <p:cNvPr id="17473" name="Rounded Rectangle 17472"/>
          <p:cNvSpPr/>
          <p:nvPr/>
        </p:nvSpPr>
        <p:spPr>
          <a:xfrm>
            <a:off x="9235440" y="4288536"/>
            <a:ext cx="2633472" cy="1313949"/>
          </a:xfrm>
          <a:prstGeom prst="roundRect">
            <a:avLst>
              <a:gd name="adj" fmla="val 2783"/>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74" name="Picture 17473" descr="23_public_qr_verified.png"/>
          <p:cNvPicPr>
            <a:picLocks noChangeAspect="1"/>
          </p:cNvPicPr>
          <p:nvPr/>
        </p:nvPicPr>
        <p:blipFill>
          <a:blip r:embed="rId14"/>
          <a:srcRect l="17000" t="46000" r="51000" b="29000"/>
          <a:stretch>
            <a:fillRect/>
          </a:stretch>
        </p:blipFill>
        <p:spPr>
          <a:xfrm>
            <a:off x="9262872" y="4315968"/>
            <a:ext cx="2578608" cy="1259085"/>
          </a:xfrm>
          <a:prstGeom prst="rect">
            <a:avLst/>
          </a:prstGeom>
        </p:spPr>
      </p:pic>
      <p:sp>
        <p:nvSpPr>
          <p:cNvPr id="17475" name="TextBox 17474"/>
          <p:cNvSpPr txBox="1"/>
          <p:nvPr/>
        </p:nvSpPr>
        <p:spPr>
          <a:xfrm>
            <a:off x="6583680" y="5978051"/>
            <a:ext cx="2468880" cy="237744"/>
          </a:xfrm>
          <a:prstGeom prst="rect">
            <a:avLst/>
          </a:prstGeom>
          <a:noFill/>
        </p:spPr>
        <p:txBody>
          <a:bodyPr wrap="square" lIns="45720" rIns="45720" tIns="18288" bIns="18288" anchor="ctr"/>
          <a:lstStyle/>
          <a:p>
            <a:pPr algn="ctr"/>
            <a:r>
              <a:rPr sz="1050" b="0" i="0">
                <a:solidFill>
                  <a:srgbClr val="595959"/>
                </a:solidFill>
                <a:latin typeface="Arial"/>
              </a:rPr>
              <a:t>Certificate: APAAR ID + student ID + QR</a:t>
            </a:r>
          </a:p>
        </p:txBody>
      </p:sp>
      <p:sp>
        <p:nvSpPr>
          <p:cNvPr id="17476" name="TextBox 17475"/>
          <p:cNvSpPr txBox="1"/>
          <p:nvPr/>
        </p:nvSpPr>
        <p:spPr>
          <a:xfrm>
            <a:off x="9235440" y="5620773"/>
            <a:ext cx="2633472" cy="237744"/>
          </a:xfrm>
          <a:prstGeom prst="rect">
            <a:avLst/>
          </a:prstGeom>
          <a:noFill/>
        </p:spPr>
        <p:txBody>
          <a:bodyPr wrap="square" lIns="45720" rIns="45720" tIns="18288" bIns="18288" anchor="ctr"/>
          <a:lstStyle/>
          <a:p>
            <a:pPr algn="ctr"/>
            <a:r>
              <a:rPr sz="1050" b="0" i="0">
                <a:solidFill>
                  <a:srgbClr val="595959"/>
                </a:solidFill>
                <a:latin typeface="Arial"/>
              </a:rPr>
              <a:t>QR scan: verified, also on the device</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lang="en-US" sz="3600" b="1" dirty="0">
                <a:latin typeface="Times New Roman" panose="02020603050405020304" pitchFamily="18" charset="0"/>
                <a:ea typeface="ＭＳ Ｐゴシック" pitchFamily="1" charset="-128"/>
                <a:cs typeface="Times New Roman" panose="02020603050405020304" pitchFamily="18" charset="0"/>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a:lstStyle/>
          <a:p>
            <a:pPr algn="ctr"/>
            <a:r>
              <a:rPr lang="en-US" dirty="0" sz="1200"/>
              <a:t>AI Riders</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Rounded Rectangle 17409"/>
          <p:cNvSpPr/>
          <p:nvPr/>
        </p:nvSpPr>
        <p:spPr>
          <a:xfrm>
            <a:off x="320040" y="1097280"/>
            <a:ext cx="11548872" cy="310896"/>
          </a:xfrm>
          <a:prstGeom prst="roundRect">
            <a:avLst>
              <a:gd name="adj" fmla="val 23529"/>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r>
              <a:rPr sz="1200" b="1" i="0">
                <a:solidFill>
                  <a:srgbClr val="E46C0A"/>
                </a:solidFill>
                <a:latin typeface="Arial"/>
              </a:rPr>
              <a:t>❖ </a:t>
            </a:r>
            <a:r>
              <a:rPr sz="1200" b="1" i="0">
                <a:solidFill>
                  <a:srgbClr val="FFFFFF"/>
                </a:solidFill>
                <a:latin typeface="Arial"/>
              </a:rPr>
              <a:t>Details / Links of the reference and research work</a:t>
            </a:r>
          </a:p>
        </p:txBody>
      </p:sp>
      <p:sp>
        <p:nvSpPr>
          <p:cNvPr id="17411" name="TextBox 17410"/>
          <p:cNvSpPr txBox="1"/>
          <p:nvPr/>
        </p:nvSpPr>
        <p:spPr>
          <a:xfrm>
            <a:off x="320040" y="1463040"/>
            <a:ext cx="6400800" cy="274320"/>
          </a:xfrm>
          <a:prstGeom prst="rect">
            <a:avLst/>
          </a:prstGeom>
          <a:noFill/>
        </p:spPr>
        <p:txBody>
          <a:bodyPr wrap="square" lIns="45720" rIns="45720" tIns="18288" bIns="18288" anchor="ctr"/>
          <a:lstStyle/>
          <a:p>
            <a:pPr algn="l"/>
            <a:r>
              <a:rPr sz="1300" b="1" i="0">
                <a:solidFill>
                  <a:srgbClr val="1F3864"/>
                </a:solidFill>
                <a:latin typeface="Arial"/>
              </a:rPr>
              <a:t>Why not just use the systems that exist?</a:t>
            </a:r>
          </a:p>
        </p:txBody>
      </p:sp>
      <p:sp>
        <p:nvSpPr>
          <p:cNvPr id="17412" name="Rounded Rectangle 17411"/>
          <p:cNvSpPr/>
          <p:nvPr/>
        </p:nvSpPr>
        <p:spPr>
          <a:xfrm>
            <a:off x="2852928" y="1783080"/>
            <a:ext cx="932688"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NAD / DigiLocker</a:t>
            </a:r>
          </a:p>
        </p:txBody>
      </p:sp>
      <p:sp>
        <p:nvSpPr>
          <p:cNvPr id="17413" name="Rounded Rectangle 17412"/>
          <p:cNvSpPr/>
          <p:nvPr/>
        </p:nvSpPr>
        <p:spPr>
          <a:xfrm>
            <a:off x="3822191" y="1783080"/>
            <a:ext cx="738835"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ABC</a:t>
            </a:r>
          </a:p>
        </p:txBody>
      </p:sp>
      <p:sp>
        <p:nvSpPr>
          <p:cNvPr id="17414" name="Rounded Rectangle 17413"/>
          <p:cNvSpPr/>
          <p:nvPr/>
        </p:nvSpPr>
        <p:spPr>
          <a:xfrm>
            <a:off x="4597603" y="1783080"/>
            <a:ext cx="1126540" cy="347472"/>
          </a:xfrm>
          <a:prstGeom prst="roundRect">
            <a:avLst>
              <a:gd name="adj" fmla="val 13157"/>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AISHE</a:t>
            </a:r>
          </a:p>
        </p:txBody>
      </p:sp>
      <p:sp>
        <p:nvSpPr>
          <p:cNvPr id="17415" name="Rounded Rectangle 17414"/>
          <p:cNvSpPr/>
          <p:nvPr/>
        </p:nvSpPr>
        <p:spPr>
          <a:xfrm>
            <a:off x="5760720" y="1783080"/>
            <a:ext cx="981151" cy="347472"/>
          </a:xfrm>
          <a:prstGeom prst="roundRect">
            <a:avLst>
              <a:gd name="adj" fmla="val 13157"/>
            </a:avLst>
          </a:prstGeom>
          <a:solidFill>
            <a:srgbClr val="E46C0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r>
              <a:rPr sz="1000" b="1" i="0">
                <a:solidFill>
                  <a:srgbClr val="FFFFFF"/>
                </a:solidFill>
                <a:latin typeface="Arial"/>
              </a:rPr>
              <a:t>Vidya Pramaan</a:t>
            </a:r>
          </a:p>
        </p:txBody>
      </p:sp>
      <p:sp>
        <p:nvSpPr>
          <p:cNvPr id="17416" name="Rounded Rectangle 17415"/>
          <p:cNvSpPr/>
          <p:nvPr/>
        </p:nvSpPr>
        <p:spPr>
          <a:xfrm>
            <a:off x="320040" y="2185416"/>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17" name="TextBox 17416"/>
          <p:cNvSpPr txBox="1"/>
          <p:nvPr/>
        </p:nvSpPr>
        <p:spPr>
          <a:xfrm>
            <a:off x="365759" y="2185416"/>
            <a:ext cx="2423160" cy="402336"/>
          </a:xfrm>
          <a:prstGeom prst="rect">
            <a:avLst/>
          </a:prstGeom>
          <a:noFill/>
        </p:spPr>
        <p:txBody>
          <a:bodyPr wrap="square" lIns="45720" rIns="45720" tIns="18288" bIns="18288" anchor="ctr"/>
          <a:lstStyle/>
          <a:p>
            <a:pPr algn="l"/>
            <a:r>
              <a:rPr sz="1050" b="0" i="0">
                <a:solidFill>
                  <a:srgbClr val="1A1A1A"/>
                </a:solidFill>
                <a:latin typeface="Arial"/>
              </a:rPr>
              <a:t>Student-level admissions vs approved intake</a:t>
            </a:r>
          </a:p>
        </p:txBody>
      </p:sp>
      <p:sp>
        <p:nvSpPr>
          <p:cNvPr id="17418" name="TextBox 17417"/>
          <p:cNvSpPr txBox="1"/>
          <p:nvPr/>
        </p:nvSpPr>
        <p:spPr>
          <a:xfrm>
            <a:off x="2834640" y="2185416"/>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19" name="TextBox 17418"/>
          <p:cNvSpPr txBox="1"/>
          <p:nvPr/>
        </p:nvSpPr>
        <p:spPr>
          <a:xfrm>
            <a:off x="3803904" y="2185416"/>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0" name="TextBox 17419"/>
          <p:cNvSpPr txBox="1"/>
          <p:nvPr/>
        </p:nvSpPr>
        <p:spPr>
          <a:xfrm>
            <a:off x="4579315" y="2185416"/>
            <a:ext cx="1163116" cy="402336"/>
          </a:xfrm>
          <a:prstGeom prst="rect">
            <a:avLst/>
          </a:prstGeom>
          <a:noFill/>
        </p:spPr>
        <p:txBody>
          <a:bodyPr wrap="square" lIns="45720" rIns="45720" tIns="18288" bIns="18288" anchor="ctr"/>
          <a:lstStyle/>
          <a:p>
            <a:pPr algn="ctr"/>
            <a:r>
              <a:rPr sz="900" b="0" i="0">
                <a:solidFill>
                  <a:srgbClr val="595959"/>
                </a:solidFill>
                <a:latin typeface="Arial"/>
              </a:rPr>
              <a:t>aggregate, 2–3 yr lag</a:t>
            </a:r>
          </a:p>
        </p:txBody>
      </p:sp>
      <p:sp>
        <p:nvSpPr>
          <p:cNvPr id="17421" name="TextBox 17420"/>
          <p:cNvSpPr txBox="1"/>
          <p:nvPr/>
        </p:nvSpPr>
        <p:spPr>
          <a:xfrm>
            <a:off x="5742432" y="2185416"/>
            <a:ext cx="1017727" cy="402336"/>
          </a:xfrm>
          <a:prstGeom prst="rect">
            <a:avLst/>
          </a:prstGeom>
          <a:noFill/>
        </p:spPr>
        <p:txBody>
          <a:bodyPr wrap="square" lIns="45720" rIns="45720" tIns="18288" bIns="18288" anchor="ctr"/>
          <a:lstStyle/>
          <a:p>
            <a:pPr algn="ctr"/>
            <a:r>
              <a:rPr sz="1050" b="1" i="0">
                <a:solidFill>
                  <a:srgbClr val="1E7B3E"/>
                </a:solidFill>
                <a:latin typeface="Arial"/>
              </a:rPr>
              <a:t>✔ live</a:t>
            </a:r>
          </a:p>
        </p:txBody>
      </p:sp>
      <p:sp>
        <p:nvSpPr>
          <p:cNvPr id="17422" name="Rounded Rectangle 17421"/>
          <p:cNvSpPr/>
          <p:nvPr/>
        </p:nvSpPr>
        <p:spPr>
          <a:xfrm>
            <a:off x="320040" y="2615184"/>
            <a:ext cx="6440119" cy="402336"/>
          </a:xfrm>
          <a:prstGeom prst="roundRect">
            <a:avLst>
              <a:gd name="adj" fmla="val 9090"/>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3" name="TextBox 17422"/>
          <p:cNvSpPr txBox="1"/>
          <p:nvPr/>
        </p:nvSpPr>
        <p:spPr>
          <a:xfrm>
            <a:off x="365759" y="2615184"/>
            <a:ext cx="2423160" cy="402336"/>
          </a:xfrm>
          <a:prstGeom prst="rect">
            <a:avLst/>
          </a:prstGeom>
          <a:noFill/>
        </p:spPr>
        <p:txBody>
          <a:bodyPr wrap="square" lIns="45720" rIns="45720" tIns="18288" bIns="18288" anchor="ctr"/>
          <a:lstStyle/>
          <a:p>
            <a:pPr algn="l"/>
            <a:r>
              <a:rPr sz="1050" b="0" i="0">
                <a:solidFill>
                  <a:srgbClr val="1A1A1A"/>
                </a:solidFill>
                <a:latin typeface="Arial"/>
              </a:rPr>
              <a:t>Same student at two colleges; ghost admissions</a:t>
            </a:r>
          </a:p>
        </p:txBody>
      </p:sp>
      <p:sp>
        <p:nvSpPr>
          <p:cNvPr id="17424" name="TextBox 17423"/>
          <p:cNvSpPr txBox="1"/>
          <p:nvPr/>
        </p:nvSpPr>
        <p:spPr>
          <a:xfrm>
            <a:off x="2834640" y="2615184"/>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5" name="TextBox 17424"/>
          <p:cNvSpPr txBox="1"/>
          <p:nvPr/>
        </p:nvSpPr>
        <p:spPr>
          <a:xfrm>
            <a:off x="3803904" y="2615184"/>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6" name="TextBox 17425"/>
          <p:cNvSpPr txBox="1"/>
          <p:nvPr/>
        </p:nvSpPr>
        <p:spPr>
          <a:xfrm>
            <a:off x="4579315" y="2615184"/>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27" name="TextBox 17426"/>
          <p:cNvSpPr txBox="1"/>
          <p:nvPr/>
        </p:nvSpPr>
        <p:spPr>
          <a:xfrm>
            <a:off x="5742432" y="2615184"/>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28" name="Rounded Rectangle 17427"/>
          <p:cNvSpPr/>
          <p:nvPr/>
        </p:nvSpPr>
        <p:spPr>
          <a:xfrm>
            <a:off x="320040" y="3044952"/>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29" name="TextBox 17428"/>
          <p:cNvSpPr txBox="1"/>
          <p:nvPr/>
        </p:nvSpPr>
        <p:spPr>
          <a:xfrm>
            <a:off x="365759" y="3044952"/>
            <a:ext cx="2423160" cy="402336"/>
          </a:xfrm>
          <a:prstGeom prst="rect">
            <a:avLst/>
          </a:prstGeom>
          <a:noFill/>
        </p:spPr>
        <p:txBody>
          <a:bodyPr wrap="square" lIns="45720" rIns="45720" tIns="18288" bIns="18288" anchor="ctr"/>
          <a:lstStyle/>
          <a:p>
            <a:pPr algn="l"/>
            <a:r>
              <a:rPr sz="1050" b="0" i="0">
                <a:solidFill>
                  <a:srgbClr val="1A1A1A"/>
                </a:solidFill>
                <a:latin typeface="Arial"/>
              </a:rPr>
              <a:t>Supernumerary caps by programme and year</a:t>
            </a:r>
          </a:p>
        </p:txBody>
      </p:sp>
      <p:sp>
        <p:nvSpPr>
          <p:cNvPr id="17430" name="TextBox 17429"/>
          <p:cNvSpPr txBox="1"/>
          <p:nvPr/>
        </p:nvSpPr>
        <p:spPr>
          <a:xfrm>
            <a:off x="2834640" y="3044952"/>
            <a:ext cx="969264"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1" name="TextBox 17430"/>
          <p:cNvSpPr txBox="1"/>
          <p:nvPr/>
        </p:nvSpPr>
        <p:spPr>
          <a:xfrm>
            <a:off x="3803904" y="3044952"/>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2" name="TextBox 17431"/>
          <p:cNvSpPr txBox="1"/>
          <p:nvPr/>
        </p:nvSpPr>
        <p:spPr>
          <a:xfrm>
            <a:off x="4579315" y="3044952"/>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3" name="TextBox 17432"/>
          <p:cNvSpPr txBox="1"/>
          <p:nvPr/>
        </p:nvSpPr>
        <p:spPr>
          <a:xfrm>
            <a:off x="5742432" y="3044952"/>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34" name="Rounded Rectangle 17433"/>
          <p:cNvSpPr/>
          <p:nvPr/>
        </p:nvSpPr>
        <p:spPr>
          <a:xfrm>
            <a:off x="320040" y="3474720"/>
            <a:ext cx="6440119" cy="402336"/>
          </a:xfrm>
          <a:prstGeom prst="roundRect">
            <a:avLst>
              <a:gd name="adj" fmla="val 9090"/>
            </a:avLst>
          </a:prstGeom>
          <a:solidFill>
            <a:srgbClr val="FFFFFF"/>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35" name="TextBox 17434"/>
          <p:cNvSpPr txBox="1"/>
          <p:nvPr/>
        </p:nvSpPr>
        <p:spPr>
          <a:xfrm>
            <a:off x="365759" y="3474720"/>
            <a:ext cx="2423160" cy="402336"/>
          </a:xfrm>
          <a:prstGeom prst="rect">
            <a:avLst/>
          </a:prstGeom>
          <a:noFill/>
        </p:spPr>
        <p:txBody>
          <a:bodyPr wrap="square" lIns="45720" rIns="45720" tIns="18288" bIns="18288" anchor="ctr"/>
          <a:lstStyle/>
          <a:p>
            <a:pPr algn="l"/>
            <a:r>
              <a:rPr sz="1050" b="0" i="0">
                <a:solidFill>
                  <a:srgbClr val="1A1A1A"/>
                </a:solidFill>
                <a:latin typeface="Arial"/>
              </a:rPr>
              <a:t>Consent-based verification for employers</a:t>
            </a:r>
          </a:p>
        </p:txBody>
      </p:sp>
      <p:sp>
        <p:nvSpPr>
          <p:cNvPr id="17436" name="TextBox 17435"/>
          <p:cNvSpPr txBox="1"/>
          <p:nvPr/>
        </p:nvSpPr>
        <p:spPr>
          <a:xfrm>
            <a:off x="2834640" y="3474720"/>
            <a:ext cx="969264"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37" name="TextBox 17436"/>
          <p:cNvSpPr txBox="1"/>
          <p:nvPr/>
        </p:nvSpPr>
        <p:spPr>
          <a:xfrm>
            <a:off x="3803904" y="3474720"/>
            <a:ext cx="775411"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8" name="TextBox 17437"/>
          <p:cNvSpPr txBox="1"/>
          <p:nvPr/>
        </p:nvSpPr>
        <p:spPr>
          <a:xfrm>
            <a:off x="4579315" y="3474720"/>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39" name="TextBox 17438"/>
          <p:cNvSpPr txBox="1"/>
          <p:nvPr/>
        </p:nvSpPr>
        <p:spPr>
          <a:xfrm>
            <a:off x="5742432" y="3474720"/>
            <a:ext cx="1017727" cy="402336"/>
          </a:xfrm>
          <a:prstGeom prst="rect">
            <a:avLst/>
          </a:prstGeom>
          <a:noFill/>
        </p:spPr>
        <p:txBody>
          <a:bodyPr wrap="square" lIns="45720" rIns="45720" tIns="18288" bIns="18288" anchor="ctr"/>
          <a:lstStyle/>
          <a:p>
            <a:pPr algn="ctr"/>
            <a:r>
              <a:rPr sz="900" b="1" i="0">
                <a:solidFill>
                  <a:srgbClr val="1E7B3E"/>
                </a:solidFill>
                <a:latin typeface="Arial"/>
              </a:rPr>
              <a:t>✔ field-level</a:t>
            </a:r>
          </a:p>
        </p:txBody>
      </p:sp>
      <p:sp>
        <p:nvSpPr>
          <p:cNvPr id="17440" name="Rounded Rectangle 17439"/>
          <p:cNvSpPr/>
          <p:nvPr/>
        </p:nvSpPr>
        <p:spPr>
          <a:xfrm>
            <a:off x="320040" y="3904487"/>
            <a:ext cx="6440119" cy="402336"/>
          </a:xfrm>
          <a:prstGeom prst="roundRect">
            <a:avLst>
              <a:gd name="adj" fmla="val 9090"/>
            </a:avLst>
          </a:prstGeom>
          <a:solidFill>
            <a:srgbClr val="EEF3FA"/>
          </a:solidFill>
          <a:ln w="9525">
            <a:solidFill>
              <a:srgbClr val="C9D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41" name="TextBox 17440"/>
          <p:cNvSpPr txBox="1"/>
          <p:nvPr/>
        </p:nvSpPr>
        <p:spPr>
          <a:xfrm>
            <a:off x="365759" y="3904487"/>
            <a:ext cx="2423160" cy="402336"/>
          </a:xfrm>
          <a:prstGeom prst="rect">
            <a:avLst/>
          </a:prstGeom>
          <a:noFill/>
        </p:spPr>
        <p:txBody>
          <a:bodyPr wrap="square" lIns="45720" rIns="45720" tIns="18288" bIns="18288" anchor="ctr"/>
          <a:lstStyle/>
          <a:p>
            <a:pPr algn="l"/>
            <a:r>
              <a:rPr sz="1050" b="0" i="0">
                <a:solidFill>
                  <a:srgbClr val="1A1A1A"/>
                </a:solidFill>
                <a:latin typeface="Arial"/>
              </a:rPr>
              <a:t>APAAR + student ID feed for degree printing</a:t>
            </a:r>
          </a:p>
        </p:txBody>
      </p:sp>
      <p:sp>
        <p:nvSpPr>
          <p:cNvPr id="17442" name="TextBox 17441"/>
          <p:cNvSpPr txBox="1"/>
          <p:nvPr/>
        </p:nvSpPr>
        <p:spPr>
          <a:xfrm>
            <a:off x="2834640" y="3904487"/>
            <a:ext cx="969264" cy="402336"/>
          </a:xfrm>
          <a:prstGeom prst="rect">
            <a:avLst/>
          </a:prstGeom>
          <a:noFill/>
        </p:spPr>
        <p:txBody>
          <a:bodyPr wrap="square" lIns="45720" rIns="45720" tIns="18288" bIns="18288" anchor="ctr"/>
          <a:lstStyle/>
          <a:p>
            <a:pPr algn="ctr"/>
            <a:r>
              <a:rPr sz="900" b="0" i="0">
                <a:solidFill>
                  <a:srgbClr val="595959"/>
                </a:solidFill>
                <a:latin typeface="Arial"/>
              </a:rPr>
              <a:t>issuer uploads</a:t>
            </a:r>
          </a:p>
        </p:txBody>
      </p:sp>
      <p:sp>
        <p:nvSpPr>
          <p:cNvPr id="17443" name="TextBox 17442"/>
          <p:cNvSpPr txBox="1"/>
          <p:nvPr/>
        </p:nvSpPr>
        <p:spPr>
          <a:xfrm>
            <a:off x="3803904" y="3904487"/>
            <a:ext cx="775411" cy="402336"/>
          </a:xfrm>
          <a:prstGeom prst="rect">
            <a:avLst/>
          </a:prstGeom>
          <a:noFill/>
        </p:spPr>
        <p:txBody>
          <a:bodyPr wrap="square" lIns="45720" rIns="45720" tIns="18288" bIns="18288" anchor="ctr"/>
          <a:lstStyle/>
          <a:p>
            <a:pPr algn="ctr"/>
            <a:r>
              <a:rPr sz="900" b="0" i="0">
                <a:solidFill>
                  <a:srgbClr val="595959"/>
                </a:solidFill>
                <a:latin typeface="Arial"/>
              </a:rPr>
              <a:t>credits only</a:t>
            </a:r>
          </a:p>
        </p:txBody>
      </p:sp>
      <p:sp>
        <p:nvSpPr>
          <p:cNvPr id="17444" name="TextBox 17443"/>
          <p:cNvSpPr txBox="1"/>
          <p:nvPr/>
        </p:nvSpPr>
        <p:spPr>
          <a:xfrm>
            <a:off x="4579315" y="3904487"/>
            <a:ext cx="1163116" cy="402336"/>
          </a:xfrm>
          <a:prstGeom prst="rect">
            <a:avLst/>
          </a:prstGeom>
          <a:noFill/>
        </p:spPr>
        <p:txBody>
          <a:bodyPr wrap="square" lIns="45720" rIns="45720" tIns="18288" bIns="18288" anchor="ctr"/>
          <a:lstStyle/>
          <a:p>
            <a:pPr algn="ctr"/>
            <a:r>
              <a:rPr sz="1050" b="0" i="0">
                <a:solidFill>
                  <a:srgbClr val="595959"/>
                </a:solidFill>
                <a:latin typeface="Arial"/>
              </a:rPr>
              <a:t>—</a:t>
            </a:r>
          </a:p>
        </p:txBody>
      </p:sp>
      <p:sp>
        <p:nvSpPr>
          <p:cNvPr id="17445" name="TextBox 17444"/>
          <p:cNvSpPr txBox="1"/>
          <p:nvPr/>
        </p:nvSpPr>
        <p:spPr>
          <a:xfrm>
            <a:off x="5742432" y="3904487"/>
            <a:ext cx="1017727" cy="402336"/>
          </a:xfrm>
          <a:prstGeom prst="rect">
            <a:avLst/>
          </a:prstGeom>
          <a:noFill/>
        </p:spPr>
        <p:txBody>
          <a:bodyPr wrap="square" lIns="45720" rIns="45720" tIns="18288" bIns="18288" anchor="ctr"/>
          <a:lstStyle/>
          <a:p>
            <a:pPr algn="ctr"/>
            <a:r>
              <a:rPr sz="1050" b="1" i="0">
                <a:solidFill>
                  <a:srgbClr val="1E7B3E"/>
                </a:solidFill>
                <a:latin typeface="Arial"/>
              </a:rPr>
              <a:t>✔</a:t>
            </a:r>
          </a:p>
        </p:txBody>
      </p:sp>
      <p:sp>
        <p:nvSpPr>
          <p:cNvPr id="17446" name="TextBox 17445"/>
          <p:cNvSpPr txBox="1"/>
          <p:nvPr/>
        </p:nvSpPr>
        <p:spPr>
          <a:xfrm>
            <a:off x="320040" y="4352544"/>
            <a:ext cx="6400800" cy="384048"/>
          </a:xfrm>
          <a:prstGeom prst="rect">
            <a:avLst/>
          </a:prstGeom>
          <a:noFill/>
        </p:spPr>
        <p:txBody>
          <a:bodyPr wrap="square" lIns="45720" rIns="45720" tIns="18288" bIns="18288" anchor="t"/>
          <a:lstStyle/>
          <a:p>
            <a:pPr algn="l"/>
            <a:r>
              <a:rPr sz="1000" b="0" i="0">
                <a:solidFill>
                  <a:srgbClr val="595959"/>
                </a:solidFill>
                <a:latin typeface="Arial"/>
              </a:rPr>
              <a:t>Vidya Pramaan consumes APAAR and feeds NAD / ABC and AISHE: no new ID, no parallel credential store, no invented APAAR checksum (none is published), and no student rejected for opting out.</a:t>
            </a:r>
          </a:p>
        </p:txBody>
      </p:sp>
      <p:sp>
        <p:nvSpPr>
          <p:cNvPr id="17447" name="TextBox 17446"/>
          <p:cNvSpPr txBox="1"/>
          <p:nvPr/>
        </p:nvSpPr>
        <p:spPr>
          <a:xfrm>
            <a:off x="6949440" y="1463040"/>
            <a:ext cx="4937760" cy="274320"/>
          </a:xfrm>
          <a:prstGeom prst="rect">
            <a:avLst/>
          </a:prstGeom>
          <a:noFill/>
        </p:spPr>
        <p:txBody>
          <a:bodyPr wrap="square" lIns="45720" rIns="45720" tIns="18288" bIns="18288" anchor="ctr"/>
          <a:lstStyle/>
          <a:p>
            <a:pPr algn="l"/>
            <a:r>
              <a:rPr sz="1300" b="1" i="0">
                <a:solidFill>
                  <a:srgbClr val="1F3864"/>
                </a:solidFill>
                <a:latin typeface="Arial"/>
              </a:rPr>
              <a:t>References</a:t>
            </a:r>
          </a:p>
        </p:txBody>
      </p:sp>
      <p:sp>
        <p:nvSpPr>
          <p:cNvPr id="17448" name="TextBox 17447"/>
          <p:cNvSpPr txBox="1"/>
          <p:nvPr/>
        </p:nvSpPr>
        <p:spPr>
          <a:xfrm>
            <a:off x="6949440" y="1755648"/>
            <a:ext cx="4919472" cy="3154680"/>
          </a:xfrm>
          <a:prstGeom prst="rect">
            <a:avLst/>
          </a:prstGeom>
          <a:noFill/>
        </p:spPr>
        <p:txBody>
          <a:bodyPr wrap="square" lIns="45720" rIns="45720" tIns="18288" bIns="18288" anchor="t"/>
          <a:lstStyle/>
          <a:p>
            <a:pPr algn="l">
              <a:spcAft>
                <a:spcPts val="300"/>
              </a:spcAft>
            </a:pPr>
            <a:r>
              <a:rPr sz="1000" b="0" i="0">
                <a:solidFill>
                  <a:srgbClr val="1A1A1A"/>
                </a:solidFill>
                <a:latin typeface="Arial"/>
              </a:rPr>
              <a:t>1. AICTE PS SIH26263, SIH 2026  </a:t>
            </a:r>
            <a:r>
              <a:rPr sz="950" b="0" i="0">
                <a:solidFill>
                  <a:srgbClr val="0070C0"/>
                </a:solidFill>
                <a:latin typeface="Arial"/>
              </a:rPr>
              <a:t>sih.gov.in</a:t>
            </a:r>
          </a:p>
          <a:p>
            <a:pPr algn="l">
              <a:spcAft>
                <a:spcPts val="300"/>
              </a:spcAft>
            </a:pPr>
            <a:r>
              <a:rPr sz="1000" b="0" i="0">
                <a:solidFill>
                  <a:srgbClr val="1A1A1A"/>
                </a:solidFill>
                <a:latin typeface="Arial"/>
              </a:rPr>
              <a:t>2. AICTE Approval Process Handbook 2024-27 and 2026-27 addendum (FN/OCI/PIO caps)  </a:t>
            </a:r>
            <a:r>
              <a:rPr sz="950" b="0" i="0">
                <a:solidFill>
                  <a:srgbClr val="0070C0"/>
                </a:solidFill>
                <a:latin typeface="Arial"/>
              </a:rPr>
              <a:t>aicte.gov.in</a:t>
            </a:r>
          </a:p>
          <a:p>
            <a:pPr algn="l">
              <a:spcAft>
                <a:spcPts val="300"/>
              </a:spcAft>
            </a:pPr>
            <a:r>
              <a:rPr sz="1000" b="0" i="0">
                <a:solidFill>
                  <a:srgbClr val="1A1A1A"/>
                </a:solidFill>
                <a:latin typeface="Arial"/>
              </a:rPr>
              <a:t>3. Supreme Court, FORE School of Management v AICTE (2019): 5× fee per excess student  </a:t>
            </a:r>
            <a:r>
              <a:rPr sz="950" b="0" i="0">
                <a:solidFill>
                  <a:srgbClr val="0070C0"/>
                </a:solidFill>
                <a:latin typeface="Arial"/>
              </a:rPr>
              <a:t>sci.gov.in</a:t>
            </a:r>
          </a:p>
          <a:p>
            <a:pPr algn="l">
              <a:spcAft>
                <a:spcPts val="300"/>
              </a:spcAft>
            </a:pPr>
            <a:r>
              <a:rPr sz="1000" b="0" i="0">
                <a:solidFill>
                  <a:srgbClr val="1A1A1A"/>
                </a:solidFill>
                <a:latin typeface="Arial"/>
              </a:rPr>
              <a:t>4. NAD on DigiLocker: consent-based verification (FAQ)  </a:t>
            </a:r>
            <a:r>
              <a:rPr sz="950" b="0" i="0">
                <a:solidFill>
                  <a:srgbClr val="0070C0"/>
                </a:solidFill>
                <a:latin typeface="Arial"/>
              </a:rPr>
              <a:t>nad.digilocker.gov.in</a:t>
            </a:r>
          </a:p>
          <a:p>
            <a:pPr algn="l">
              <a:spcAft>
                <a:spcPts val="300"/>
              </a:spcAft>
            </a:pPr>
            <a:r>
              <a:rPr sz="1000" b="0" i="0">
                <a:solidFill>
                  <a:srgbClr val="1A1A1A"/>
                </a:solidFill>
                <a:latin typeface="Arial"/>
              </a:rPr>
              <a:t>5. AISHE 2022-23 &amp; 2023-24 reports (released 2026)  </a:t>
            </a:r>
            <a:r>
              <a:rPr sz="950" b="0" i="0">
                <a:solidFill>
                  <a:srgbClr val="0070C0"/>
                </a:solidFill>
                <a:latin typeface="Arial"/>
              </a:rPr>
              <a:t>aishe.gov.in</a:t>
            </a:r>
          </a:p>
          <a:p>
            <a:pPr algn="l">
              <a:spcAft>
                <a:spcPts val="300"/>
              </a:spcAft>
            </a:pPr>
            <a:r>
              <a:rPr sz="1000" b="0" i="0">
                <a:solidFill>
                  <a:srgbClr val="1A1A1A"/>
                </a:solidFill>
                <a:latin typeface="Arial"/>
              </a:rPr>
              <a:t>6. APAAR consent and opt-out: MoE guidance; Supreme Court proceedings 2026  </a:t>
            </a:r>
            <a:r>
              <a:rPr sz="950" b="0" i="0">
                <a:solidFill>
                  <a:srgbClr val="0070C0"/>
                </a:solidFill>
                <a:latin typeface="Arial"/>
              </a:rPr>
              <a:t>apaar.education.gov.in</a:t>
            </a:r>
          </a:p>
          <a:p>
            <a:pPr algn="l">
              <a:spcAft>
                <a:spcPts val="300"/>
              </a:spcAft>
            </a:pPr>
            <a:r>
              <a:rPr sz="1000" b="0" i="0">
                <a:solidFill>
                  <a:srgbClr val="1A1A1A"/>
                </a:solidFill>
                <a:latin typeface="Arial"/>
              </a:rPr>
              <a:t>7. Digital Personal Data Protection Act 2023; DPDP Rules 2025  </a:t>
            </a:r>
            <a:r>
              <a:rPr sz="950" b="0" i="0">
                <a:solidFill>
                  <a:srgbClr val="0070C0"/>
                </a:solidFill>
                <a:latin typeface="Arial"/>
              </a:rPr>
              <a:t>meity.gov.in</a:t>
            </a:r>
          </a:p>
          <a:p>
            <a:pPr algn="l">
              <a:spcAft>
                <a:spcPts val="300"/>
              </a:spcAft>
            </a:pPr>
            <a:r>
              <a:rPr sz="1000" b="0" i="0">
                <a:solidFill>
                  <a:srgbClr val="1A1A1A"/>
                </a:solidFill>
                <a:latin typeface="Arial"/>
              </a:rPr>
              <a:t>8. W3C Verifiable Credentials; RFC 8032 (Ed25519)  </a:t>
            </a:r>
            <a:r>
              <a:rPr sz="950" b="0" i="0">
                <a:solidFill>
                  <a:srgbClr val="0070C0"/>
                </a:solidFill>
                <a:latin typeface="Arial"/>
              </a:rPr>
              <a:t>w3.org · rfc-editor.org</a:t>
            </a:r>
          </a:p>
          <a:p>
            <a:pPr algn="l">
              <a:spcAft>
                <a:spcPts val="300"/>
              </a:spcAft>
            </a:pPr>
            <a:r>
              <a:rPr sz="1000" b="0" i="0">
                <a:solidFill>
                  <a:srgbClr val="1A1A1A"/>
                </a:solidFill>
                <a:latin typeface="Arial"/>
              </a:rPr>
              <a:t>9. Liu et al. (2008) Isolation Forest; IDinsight (2021) matching Indian names  </a:t>
            </a:r>
            <a:r>
              <a:rPr sz="950" b="0" i="0">
                <a:solidFill>
                  <a:srgbClr val="0070C0"/>
                </a:solidFill>
                <a:latin typeface="Arial"/>
              </a:rPr>
              <a:t>doi.org/10.1109/ICDM.2008.17 · idinsight.org</a:t>
            </a:r>
          </a:p>
        </p:txBody>
      </p:sp>
      <p:sp>
        <p:nvSpPr>
          <p:cNvPr id="17449" name="Rounded Rectangle 17448"/>
          <p:cNvSpPr/>
          <p:nvPr/>
        </p:nvSpPr>
        <p:spPr>
          <a:xfrm>
            <a:off x="320040" y="4983480"/>
            <a:ext cx="11548872" cy="1261872"/>
          </a:xfrm>
          <a:prstGeom prst="roundRect">
            <a:avLst>
              <a:gd name="adj" fmla="val 8695"/>
            </a:avLst>
          </a:prstGeom>
          <a:solidFill>
            <a:srgbClr val="FDF1E6"/>
          </a:solidFill>
          <a:ln w="9525">
            <a:solidFill>
              <a:srgbClr val="E46C0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450" name="Picture 17449" descr="qr_live.png"/>
          <p:cNvPicPr>
            <a:picLocks noChangeAspect="1"/>
          </p:cNvPicPr>
          <p:nvPr/>
        </p:nvPicPr>
        <p:blipFill>
          <a:blip r:embed="rId4"/>
          <a:stretch>
            <a:fillRect/>
          </a:stretch>
        </p:blipFill>
        <p:spPr>
          <a:xfrm>
            <a:off x="457200" y="5074920"/>
            <a:ext cx="1078992" cy="1078992"/>
          </a:xfrm>
          <a:prstGeom prst="rect">
            <a:avLst/>
          </a:prstGeom>
        </p:spPr>
      </p:pic>
      <p:sp>
        <p:nvSpPr>
          <p:cNvPr id="17451" name="TextBox 17450"/>
          <p:cNvSpPr txBox="1"/>
          <p:nvPr/>
        </p:nvSpPr>
        <p:spPr>
          <a:xfrm>
            <a:off x="1664208" y="5093208"/>
            <a:ext cx="4389120" cy="1042415"/>
          </a:xfrm>
          <a:prstGeom prst="rect">
            <a:avLst/>
          </a:prstGeom>
          <a:noFill/>
        </p:spPr>
        <p:txBody>
          <a:bodyPr wrap="square" lIns="45720" rIns="45720" tIns="18288" bIns="18288" anchor="ctr"/>
          <a:lstStyle/>
          <a:p>
            <a:pPr algn="l"/>
            <a:r>
              <a:rPr sz="1300" b="1" i="0">
                <a:solidFill>
                  <a:srgbClr val="E46C0A"/>
                </a:solidFill>
                <a:latin typeface="Arial"/>
              </a:rPr>
              <a:t>Live prototype</a:t>
            </a:r>
          </a:p>
          <a:p>
            <a:pPr algn="l"/>
            <a:r>
              <a:rPr sz="1200" b="0" i="0">
                <a:solidFill>
                  <a:srgbClr val="0070C0"/>
                </a:solidFill>
                <a:latin typeface="Arial"/>
              </a:rPr>
              <a:t>https://vidya-pramaan-sih26263.onrender.com</a:t>
            </a:r>
          </a:p>
          <a:p>
            <a:pPr algn="l"/>
            <a:r>
              <a:rPr sz="1050" b="0" i="0">
                <a:solidFill>
                  <a:srgbClr val="595959"/>
                </a:solidFill>
                <a:latin typeface="Arial"/>
              </a:rPr>
              <a:t>Synthetic data only · 7 demo roles · works on phones</a:t>
            </a:r>
          </a:p>
        </p:txBody>
      </p:sp>
      <p:pic>
        <p:nvPicPr>
          <p:cNvPr id="17452" name="Picture 17451" descr="qr_repo.png"/>
          <p:cNvPicPr>
            <a:picLocks noChangeAspect="1"/>
          </p:cNvPicPr>
          <p:nvPr/>
        </p:nvPicPr>
        <p:blipFill>
          <a:blip r:embed="rId5"/>
          <a:stretch>
            <a:fillRect/>
          </a:stretch>
        </p:blipFill>
        <p:spPr>
          <a:xfrm>
            <a:off x="6217920" y="5074920"/>
            <a:ext cx="1078992" cy="1078992"/>
          </a:xfrm>
          <a:prstGeom prst="rect">
            <a:avLst/>
          </a:prstGeom>
        </p:spPr>
      </p:pic>
      <p:sp>
        <p:nvSpPr>
          <p:cNvPr id="17453" name="TextBox 17452"/>
          <p:cNvSpPr txBox="1"/>
          <p:nvPr/>
        </p:nvSpPr>
        <p:spPr>
          <a:xfrm>
            <a:off x="7424927" y="5093208"/>
            <a:ext cx="4389120" cy="1042415"/>
          </a:xfrm>
          <a:prstGeom prst="rect">
            <a:avLst/>
          </a:prstGeom>
          <a:noFill/>
        </p:spPr>
        <p:txBody>
          <a:bodyPr wrap="square" lIns="45720" rIns="45720" tIns="18288" bIns="18288" anchor="ctr"/>
          <a:lstStyle/>
          <a:p>
            <a:pPr algn="l"/>
            <a:r>
              <a:rPr sz="1300" b="1" i="0">
                <a:solidFill>
                  <a:srgbClr val="E46C0A"/>
                </a:solidFill>
                <a:latin typeface="Arial"/>
              </a:rPr>
              <a:t>Source code &amp; tests</a:t>
            </a:r>
          </a:p>
          <a:p>
            <a:pPr algn="l"/>
            <a:r>
              <a:rPr sz="1200" b="0" i="0">
                <a:solidFill>
                  <a:srgbClr val="0070C0"/>
                </a:solidFill>
                <a:latin typeface="Arial"/>
              </a:rPr>
              <a:t>https://github.com/Pulkitkh/VidyaPramaan</a:t>
            </a:r>
          </a:p>
          <a:p>
            <a:pPr algn="l"/>
            <a:r>
              <a:rPr sz="1050" b="0" i="0">
                <a:solidFill>
                  <a:srgbClr val="595959"/>
                </a:solidFill>
                <a:latin typeface="Arial"/>
              </a:rPr>
              <a:t>59 automated tests + browser walkthrough · MIT licence</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Vidya Pramaan: SIH26263 idea submission</dc:title>
  <dc:subject>Development of an APAAR ID-Based Student Data Management and Verification Platform for AICTE-Approved Institutions</dc:subject>
  <dc:creator>Team AI Riders</dc:creator>
  <cp:keywords>SIH 2026, SIH26263, APAAR, AICTE</cp:keywords>
  <dc:description/>
  <cp:lastModifiedBy>AICTE</cp:lastModifiedBy>
  <cp:revision>148</cp:revision>
  <dcterms:created xsi:type="dcterms:W3CDTF">2013-12-12T18:46:50Z</dcterms:created>
  <dcterms:modified xsi:type="dcterms:W3CDTF">2026-06-02T09:29:39Z</dcterms:modified>
  <cp:category/>
</cp:coreProperties>
</file>