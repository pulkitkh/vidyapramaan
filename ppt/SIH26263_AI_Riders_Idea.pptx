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29.6 lakh enrolments in AICTE institutions in 2025-26 and 24.25 crore APAAR IDs, yet AICTE today receives totals only. Excess admission costs five times the fee per student, and it surfaces in annual returns or inspections. Our flow is the one the problem statement asks for: upload, APAAR check, verification, central record, monitoring after every submission, consented verification. What is new is the per-student check against approved intake, which no existing national system makes, plus twin-safe name matching, ghost-admission rings, remembered decisions, signed audit checkpoints, sourced rules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We are explicit about what is simulated: there is no public APAAR API yet, so the registry lookup is a mock behind an adapter that switches to DigiLocker or API Setu after onboarding.</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These are measurements on synthetic data, and we say so. On 49 held-out name pairs: precision 0.79, recall 0.92, against 0.65 and 0.68 for our earlier matcher. None of the 80 seeded twin pairs is flagged; 2 of 12 held-out twin pairs are, and go to an officer, who decides. Real-world accuracy is the first thing the pilot measures. 65 tests on SQLite and PostgreSQL with 93% coverage, plus security and accessibility checks on every push.</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see problems at submission, institutions get explained errors, universities print APAAR on degrees, employers check a QR, students control access. Every item on the left is sourced: 42 excess seats times an 11 lakh fee times five is the 23.1 crore fine the Supreme Court upheld, national statistics arrive years late, and universities report APAAR mismatches this year. The benefits on the right are expected, not yet measured; the pilot measures them.</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Both QR codes work: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on this slide, with seven demo roles and synthetic data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8.png"/><Relationship Id="rId8" Type="http://schemas.openxmlformats.org/officeDocument/2006/relationships/image" Target="../media/image10.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8.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19.png"/><Relationship Id="rId13" Type="http://schemas.openxmlformats.org/officeDocument/2006/relationships/image" Target="../media/image14.png"/><Relationship Id="rId14" Type="http://schemas.openxmlformats.org/officeDocument/2006/relationships/image" Target="../media/image26.png"/><Relationship Id="rId15"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411480" y="5394960"/>
            <a:ext cx="5760720" cy="1005840"/>
          </a:xfrm>
          <a:prstGeom prst="roundRect">
            <a:avLst>
              <a:gd name="adj" fmla="val 1090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8640" y="5550408"/>
            <a:ext cx="694944" cy="6949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ShieldCheck_white.png"/>
          <p:cNvPicPr>
            <a:picLocks noChangeAspect="1"/>
          </p:cNvPicPr>
          <p:nvPr/>
        </p:nvPicPr>
        <p:blipFill>
          <a:blip r:embed="rId4"/>
          <a:stretch>
            <a:fillRect/>
          </a:stretch>
        </p:blipFill>
        <p:spPr>
          <a:xfrm>
            <a:off x="701527" y="5703295"/>
            <a:ext cx="389168" cy="389168"/>
          </a:xfrm>
          <a:prstGeom prst="rect">
            <a:avLst/>
          </a:prstGeom>
        </p:spPr>
      </p:pic>
      <p:sp>
        <p:nvSpPr>
          <p:cNvPr id="41" name="TextBox 40"/>
          <p:cNvSpPr txBox="1"/>
          <p:nvPr/>
        </p:nvSpPr>
        <p:spPr>
          <a:xfrm>
            <a:off x="1389888" y="5440680"/>
            <a:ext cx="4709160" cy="914400"/>
          </a:xfrm>
          <a:prstGeom prst="rect">
            <a:avLst/>
          </a:prstGeom>
          <a:noFill/>
        </p:spPr>
        <p:txBody>
          <a:bodyPr wrap="square" lIns="45720" rIns="45720" tIns="18288" bIns="18288" anchor="ctr"/>
          <a:lstStyle/>
          <a:p>
            <a:pPr algn="l"/>
            <a:r>
              <a:rPr sz="2000" b="1" i="0">
                <a:solidFill>
                  <a:srgbClr val="1F3864"/>
                </a:solidFill>
                <a:latin typeface="Arial"/>
              </a:rPr>
              <a:t>VIDYA PRAMAAN</a:t>
            </a:r>
          </a:p>
          <a:p>
            <a:pPr algn="l"/>
            <a:r>
              <a:rPr sz="1200" b="0" i="0">
                <a:solidFill>
                  <a:srgbClr val="1A1A1A"/>
                </a:solidFill>
                <a:latin typeface="Arial"/>
              </a:rPr>
              <a:t>One student. One APAAR ID. One verifiable record.</a:t>
            </a:r>
          </a:p>
          <a:p>
            <a:pPr algn="l"/>
            <a:r>
              <a:rPr sz="1100" b="0" i="0">
                <a:solidFill>
                  <a:srgbClr val="595959"/>
                </a:solidFill>
                <a:latin typeface="Arial"/>
              </a:rPr>
              <a:t>Working prototype: </a:t>
            </a:r>
            <a:r>
              <a:rPr sz="1100" b="0" i="0">
                <a:solidFill>
                  <a:srgbClr val="0070C0"/>
                </a:solidFill>
                <a:latin typeface="Arial"/>
              </a:rPr>
              <a:t>https://vidya-pramaan-sih26263.onrender.com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011680" y="731520"/>
            <a:ext cx="8138160" cy="310896"/>
          </a:xfrm>
          <a:prstGeom prst="rect">
            <a:avLst/>
          </a:prstGeom>
          <a:noFill/>
        </p:spPr>
        <p:txBody>
          <a:bodyPr wrap="square" lIns="45720" rIns="45720" tIns="18288" bIns="18288" anchor="ctr"/>
          <a:lstStyle/>
          <a:p>
            <a:pPr algn="ctr"/>
            <a:r>
              <a:rPr sz="1200" b="1" i="0">
                <a:solidFill>
                  <a:srgbClr val="1F3864"/>
                </a:solidFill>
                <a:latin typeface="Arial"/>
              </a:rPr>
              <a:t>29.6 lakh</a:t>
            </a:r>
            <a:r>
              <a:rPr sz="1200" b="0" i="0">
                <a:solidFill>
                  <a:srgbClr val="595959"/>
                </a:solidFill>
                <a:latin typeface="Arial"/>
              </a:rPr>
              <a:t> enrolments in AICTE institutions (2025-26)  ·  </a:t>
            </a:r>
            <a:r>
              <a:rPr sz="1200" b="1" i="0">
                <a:solidFill>
                  <a:srgbClr val="1F3864"/>
                </a:solidFill>
                <a:latin typeface="Arial"/>
              </a:rPr>
              <a:t>24.25 crore</a:t>
            </a:r>
            <a:r>
              <a:rPr sz="1200" b="0" i="0">
                <a:solidFill>
                  <a:srgbClr val="595959"/>
                </a:solidFill>
                <a:latin typeface="Arial"/>
              </a:rPr>
              <a:t> APAAR IDs issued (Mar 2026)</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858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206550" y="2004364"/>
            <a:ext cx="307238" cy="307238"/>
          </a:xfrm>
          <a:prstGeom prst="rect">
            <a:avLst/>
          </a:prstGeom>
        </p:spPr>
      </p:pic>
      <p:cxnSp>
        <p:nvCxnSpPr>
          <p:cNvPr id="15368" name="Connector 15367"/>
          <p:cNvCxnSpPr/>
          <p:nvPr/>
        </p:nvCxnSpPr>
        <p:spPr>
          <a:xfrm>
            <a:off x="172592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8323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103930" y="2004364"/>
            <a:ext cx="307238" cy="307238"/>
          </a:xfrm>
          <a:prstGeom prst="rect">
            <a:avLst/>
          </a:prstGeom>
        </p:spPr>
      </p:pic>
      <p:cxnSp>
        <p:nvCxnSpPr>
          <p:cNvPr id="15373" name="Connector 15372"/>
          <p:cNvCxnSpPr/>
          <p:nvPr/>
        </p:nvCxnSpPr>
        <p:spPr>
          <a:xfrm>
            <a:off x="362331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8060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5001310" y="2004364"/>
            <a:ext cx="307238" cy="307238"/>
          </a:xfrm>
          <a:prstGeom prst="rect">
            <a:avLst/>
          </a:prstGeom>
        </p:spPr>
      </p:pic>
      <p:cxnSp>
        <p:nvCxnSpPr>
          <p:cNvPr id="15378" name="Connector 15377"/>
          <p:cNvCxnSpPr/>
          <p:nvPr/>
        </p:nvCxnSpPr>
        <p:spPr>
          <a:xfrm>
            <a:off x="552069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7799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98690" y="2004364"/>
            <a:ext cx="307238" cy="307238"/>
          </a:xfrm>
          <a:prstGeom prst="rect">
            <a:avLst/>
          </a:prstGeom>
        </p:spPr>
      </p:pic>
      <p:cxnSp>
        <p:nvCxnSpPr>
          <p:cNvPr id="15383" name="Connector 15382"/>
          <p:cNvCxnSpPr/>
          <p:nvPr/>
        </p:nvCxnSpPr>
        <p:spPr>
          <a:xfrm>
            <a:off x="7418069" y="2157984"/>
            <a:ext cx="1165861"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7536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96070" y="2004364"/>
            <a:ext cx="307238" cy="307238"/>
          </a:xfrm>
          <a:prstGeom prst="rect">
            <a:avLst/>
          </a:prstGeom>
        </p:spPr>
      </p:pic>
      <p:cxnSp>
        <p:nvCxnSpPr>
          <p:cNvPr id="15388" name="Connector 15387"/>
          <p:cNvCxnSpPr/>
          <p:nvPr/>
        </p:nvCxnSpPr>
        <p:spPr>
          <a:xfrm>
            <a:off x="931544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after every submission</a:t>
            </a:r>
          </a:p>
        </p:txBody>
      </p:sp>
      <p:sp>
        <p:nvSpPr>
          <p:cNvPr id="15391" name="Oval 15390"/>
          <p:cNvSpPr/>
          <p:nvPr/>
        </p:nvSpPr>
        <p:spPr>
          <a:xfrm>
            <a:off x="105727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93450" y="2004364"/>
            <a:ext cx="307238" cy="307238"/>
          </a:xfrm>
          <a:prstGeom prst="rect">
            <a:avLst/>
          </a:prstGeom>
        </p:spPr>
      </p:pic>
      <p:sp>
        <p:nvSpPr>
          <p:cNvPr id="15393" name="TextBox 15392"/>
          <p:cNvSpPr txBox="1"/>
          <p:nvPr/>
        </p:nvSpPr>
        <p:spPr>
          <a:xfrm>
            <a:off x="98983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2962656"/>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E46C0A"/>
                </a:solidFill>
                <a:latin typeface="Arial"/>
              </a:rPr>
              <a:t>What is new  </a:t>
            </a:r>
            <a:r>
              <a:rPr sz="1100" b="0" i="0">
                <a:solidFill>
                  <a:srgbClr val="1A1A1A"/>
                </a:solidFill>
                <a:latin typeface="Arial"/>
              </a:rPr>
              <a:t>APAAR, NAD / DigiLocker and ABC hold IDs and awards; none checks each admission against approved intake. We add that check (slide 6).</a:t>
            </a:r>
          </a:p>
        </p:txBody>
      </p:sp>
      <p:sp>
        <p:nvSpPr>
          <p:cNvPr id="15396" name="Rounded Rectangle 15395"/>
          <p:cNvSpPr/>
          <p:nvPr/>
        </p:nvSpPr>
        <p:spPr>
          <a:xfrm>
            <a:off x="320040" y="3328416"/>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7" name="Rounded Rectangle 15396"/>
          <p:cNvSpPr/>
          <p:nvPr/>
        </p:nvSpPr>
        <p:spPr>
          <a:xfrm>
            <a:off x="320040" y="373075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Only total enrolment reaches AICTE (except PGDM), per the PS</a:t>
            </a:r>
          </a:p>
        </p:txBody>
      </p:sp>
      <p:cxnSp>
        <p:nvCxnSpPr>
          <p:cNvPr id="15398" name="Connector 15397"/>
          <p:cNvCxnSpPr/>
          <p:nvPr/>
        </p:nvCxnSpPr>
        <p:spPr>
          <a:xfrm>
            <a:off x="2880360" y="400507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9" name="Rounded Rectangle 15398"/>
          <p:cNvSpPr/>
          <p:nvPr/>
        </p:nvSpPr>
        <p:spPr>
          <a:xfrm>
            <a:off x="3383280" y="373075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Student-level records keyed on APAAR, per upload</a:t>
            </a:r>
          </a:p>
        </p:txBody>
      </p:sp>
      <p:sp>
        <p:nvSpPr>
          <p:cNvPr id="15400" name="Rounded Rectangle 15399"/>
          <p:cNvSpPr/>
          <p:nvPr/>
        </p:nvSpPr>
        <p:spPr>
          <a:xfrm>
            <a:off x="320040" y="437083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Excess admission: fine of 5× the fee per student (APH)</a:t>
            </a:r>
          </a:p>
        </p:txBody>
      </p:sp>
      <p:cxnSp>
        <p:nvCxnSpPr>
          <p:cNvPr id="15401" name="Connector 15400"/>
          <p:cNvCxnSpPr/>
          <p:nvPr/>
        </p:nvCxnSpPr>
        <p:spPr>
          <a:xfrm>
            <a:off x="2880360" y="464515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2" name="Rounded Rectangle 15401"/>
          <p:cNvSpPr/>
          <p:nvPr/>
        </p:nvSpPr>
        <p:spPr>
          <a:xfrm>
            <a:off x="3383280" y="437083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Seat #61 of 60 refused at upload and at submit</a:t>
            </a:r>
          </a:p>
        </p:txBody>
      </p:sp>
      <p:sp>
        <p:nvSpPr>
          <p:cNvPr id="15403" name="Rounded Rectangle 15402"/>
          <p:cNvSpPr/>
          <p:nvPr/>
        </p:nvSpPr>
        <p:spPr>
          <a:xfrm>
            <a:off x="320040" y="50109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Same student enrolled at two colleges goes unseen</a:t>
            </a:r>
          </a:p>
        </p:txBody>
      </p:sp>
      <p:cxnSp>
        <p:nvCxnSpPr>
          <p:cNvPr id="15404" name="Connector 15403"/>
          <p:cNvCxnSpPr/>
          <p:nvPr/>
        </p:nvCxnSpPr>
        <p:spPr>
          <a:xfrm>
            <a:off x="2880360" y="52852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5" name="Rounded Rectangle 15404"/>
          <p:cNvSpPr/>
          <p:nvPr/>
        </p:nvSpPr>
        <p:spPr>
          <a:xfrm>
            <a:off x="3383280" y="50109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Cross-college match + shared-contact rings</a:t>
            </a:r>
          </a:p>
        </p:txBody>
      </p:sp>
      <p:sp>
        <p:nvSpPr>
          <p:cNvPr id="15406" name="Rounded Rectangle 15405"/>
          <p:cNvSpPr/>
          <p:nvPr/>
        </p:nvSpPr>
        <p:spPr>
          <a:xfrm>
            <a:off x="320040" y="565099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Records are hard to verify at source (PS)</a:t>
            </a:r>
          </a:p>
        </p:txBody>
      </p:sp>
      <p:cxnSp>
        <p:nvCxnSpPr>
          <p:cNvPr id="15407" name="Connector 15406"/>
          <p:cNvCxnSpPr/>
          <p:nvPr/>
        </p:nvCxnSpPr>
        <p:spPr>
          <a:xfrm>
            <a:off x="2880360" y="592531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8" name="Rounded Rectangle 15407"/>
          <p:cNvSpPr/>
          <p:nvPr/>
        </p:nvSpPr>
        <p:spPr>
          <a:xfrm>
            <a:off x="3383280" y="565099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Signed QR, checked even offline; consent for more</a:t>
            </a:r>
          </a:p>
        </p:txBody>
      </p:sp>
      <p:sp>
        <p:nvSpPr>
          <p:cNvPr id="15409" name="Rounded Rectangle 15408"/>
          <p:cNvSpPr/>
          <p:nvPr/>
        </p:nvSpPr>
        <p:spPr>
          <a:xfrm>
            <a:off x="6217920" y="3328416"/>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10" name="Rounded Rectangle 15409"/>
          <p:cNvSpPr/>
          <p:nvPr/>
        </p:nvSpPr>
        <p:spPr>
          <a:xfrm>
            <a:off x="621792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1" name="Oval 15410"/>
          <p:cNvSpPr/>
          <p:nvPr/>
        </p:nvSpPr>
        <p:spPr>
          <a:xfrm>
            <a:off x="689457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2" name="Picture 15411" descr="LuUsers2_white.png"/>
          <p:cNvPicPr>
            <a:picLocks noChangeAspect="1"/>
          </p:cNvPicPr>
          <p:nvPr/>
        </p:nvPicPr>
        <p:blipFill>
          <a:blip r:embed="rId10"/>
          <a:stretch>
            <a:fillRect/>
          </a:stretch>
        </p:blipFill>
        <p:spPr>
          <a:xfrm>
            <a:off x="6995160" y="3904488"/>
            <a:ext cx="256032" cy="256032"/>
          </a:xfrm>
          <a:prstGeom prst="rect">
            <a:avLst/>
          </a:prstGeom>
        </p:spPr>
      </p:pic>
      <p:sp>
        <p:nvSpPr>
          <p:cNvPr id="15413" name="TextBox 15412"/>
          <p:cNvSpPr txBox="1"/>
          <p:nvPr/>
        </p:nvSpPr>
        <p:spPr>
          <a:xfrm>
            <a:off x="626364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4" name="TextBox 15413"/>
          <p:cNvSpPr txBox="1"/>
          <p:nvPr/>
        </p:nvSpPr>
        <p:spPr>
          <a:xfrm>
            <a:off x="626364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Mohd = Mohammed,
but Rohit ≠ Mohit</a:t>
            </a:r>
          </a:p>
        </p:txBody>
      </p:sp>
      <p:sp>
        <p:nvSpPr>
          <p:cNvPr id="15415" name="Rounded Rectangle 15414"/>
          <p:cNvSpPr/>
          <p:nvPr/>
        </p:nvSpPr>
        <p:spPr>
          <a:xfrm>
            <a:off x="813816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6" name="Oval 15415"/>
          <p:cNvSpPr/>
          <p:nvPr/>
        </p:nvSpPr>
        <p:spPr>
          <a:xfrm>
            <a:off x="881481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7" name="Picture 15416" descr="LuNetwork_white.png"/>
          <p:cNvPicPr>
            <a:picLocks noChangeAspect="1"/>
          </p:cNvPicPr>
          <p:nvPr/>
        </p:nvPicPr>
        <p:blipFill>
          <a:blip r:embed="rId11"/>
          <a:stretch>
            <a:fillRect/>
          </a:stretch>
        </p:blipFill>
        <p:spPr>
          <a:xfrm>
            <a:off x="8915400" y="3904488"/>
            <a:ext cx="256032" cy="256032"/>
          </a:xfrm>
          <a:prstGeom prst="rect">
            <a:avLst/>
          </a:prstGeom>
        </p:spPr>
      </p:pic>
      <p:sp>
        <p:nvSpPr>
          <p:cNvPr id="15418" name="TextBox 15417"/>
          <p:cNvSpPr txBox="1"/>
          <p:nvPr/>
        </p:nvSpPr>
        <p:spPr>
          <a:xfrm>
            <a:off x="818388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9" name="TextBox 15418"/>
          <p:cNvSpPr txBox="1"/>
          <p:nvPr/>
        </p:nvSpPr>
        <p:spPr>
          <a:xfrm>
            <a:off x="818388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1 phone, 8 students,
2 colleges: flagged</a:t>
            </a:r>
          </a:p>
        </p:txBody>
      </p:sp>
      <p:sp>
        <p:nvSpPr>
          <p:cNvPr id="15420" name="Rounded Rectangle 15419"/>
          <p:cNvSpPr/>
          <p:nvPr/>
        </p:nvSpPr>
        <p:spPr>
          <a:xfrm>
            <a:off x="1005840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1" name="Oval 15420"/>
          <p:cNvSpPr/>
          <p:nvPr/>
        </p:nvSpPr>
        <p:spPr>
          <a:xfrm>
            <a:off x="1073505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2" name="Picture 15421" descr="LuHistory_white.png"/>
          <p:cNvPicPr>
            <a:picLocks noChangeAspect="1"/>
          </p:cNvPicPr>
          <p:nvPr/>
        </p:nvPicPr>
        <p:blipFill>
          <a:blip r:embed="rId12"/>
          <a:stretch>
            <a:fillRect/>
          </a:stretch>
        </p:blipFill>
        <p:spPr>
          <a:xfrm>
            <a:off x="10835640" y="3904488"/>
            <a:ext cx="256032" cy="256032"/>
          </a:xfrm>
          <a:prstGeom prst="rect">
            <a:avLst/>
          </a:prstGeom>
        </p:spPr>
      </p:pic>
      <p:sp>
        <p:nvSpPr>
          <p:cNvPr id="15423" name="TextBox 15422"/>
          <p:cNvSpPr txBox="1"/>
          <p:nvPr/>
        </p:nvSpPr>
        <p:spPr>
          <a:xfrm>
            <a:off x="1010412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4" name="TextBox 15423"/>
          <p:cNvSpPr txBox="1"/>
          <p:nvPr/>
        </p:nvSpPr>
        <p:spPr>
          <a:xfrm>
            <a:off x="1010412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reason required;
never re-flagged</a:t>
            </a:r>
          </a:p>
        </p:txBody>
      </p:sp>
      <p:sp>
        <p:nvSpPr>
          <p:cNvPr id="15425" name="Rounded Rectangle 15424"/>
          <p:cNvSpPr/>
          <p:nvPr/>
        </p:nvSpPr>
        <p:spPr>
          <a:xfrm>
            <a:off x="621792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6" name="Oval 15425"/>
          <p:cNvSpPr/>
          <p:nvPr/>
        </p:nvSpPr>
        <p:spPr>
          <a:xfrm>
            <a:off x="689457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7" name="Picture 15426" descr="LuStamp_white.png"/>
          <p:cNvPicPr>
            <a:picLocks noChangeAspect="1"/>
          </p:cNvPicPr>
          <p:nvPr/>
        </p:nvPicPr>
        <p:blipFill>
          <a:blip r:embed="rId13"/>
          <a:stretch>
            <a:fillRect/>
          </a:stretch>
        </p:blipFill>
        <p:spPr>
          <a:xfrm>
            <a:off x="6995160" y="5202936"/>
            <a:ext cx="256032" cy="256032"/>
          </a:xfrm>
          <a:prstGeom prst="rect">
            <a:avLst/>
          </a:prstGeom>
        </p:spPr>
      </p:pic>
      <p:sp>
        <p:nvSpPr>
          <p:cNvPr id="15428" name="TextBox 15427"/>
          <p:cNvSpPr txBox="1"/>
          <p:nvPr/>
        </p:nvSpPr>
        <p:spPr>
          <a:xfrm>
            <a:off x="626364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9" name="TextBox 15428"/>
          <p:cNvSpPr txBox="1"/>
          <p:nvPr/>
        </p:nvSpPr>
        <p:spPr>
          <a:xfrm>
            <a:off x="626364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even a full history
rewrite is caught</a:t>
            </a:r>
          </a:p>
        </p:txBody>
      </p:sp>
      <p:sp>
        <p:nvSpPr>
          <p:cNvPr id="15430" name="Rounded Rectangle 15429"/>
          <p:cNvSpPr/>
          <p:nvPr/>
        </p:nvSpPr>
        <p:spPr>
          <a:xfrm>
            <a:off x="813816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1" name="Oval 15430"/>
          <p:cNvSpPr/>
          <p:nvPr/>
        </p:nvSpPr>
        <p:spPr>
          <a:xfrm>
            <a:off x="881481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2" name="Picture 15431" descr="LuScale_white.png"/>
          <p:cNvPicPr>
            <a:picLocks noChangeAspect="1"/>
          </p:cNvPicPr>
          <p:nvPr/>
        </p:nvPicPr>
        <p:blipFill>
          <a:blip r:embed="rId14"/>
          <a:stretch>
            <a:fillRect/>
          </a:stretch>
        </p:blipFill>
        <p:spPr>
          <a:xfrm>
            <a:off x="8915400" y="5202936"/>
            <a:ext cx="256032" cy="256032"/>
          </a:xfrm>
          <a:prstGeom prst="rect">
            <a:avLst/>
          </a:prstGeom>
        </p:spPr>
      </p:pic>
      <p:sp>
        <p:nvSpPr>
          <p:cNvPr id="15433" name="TextBox 15432"/>
          <p:cNvSpPr txBox="1"/>
          <p:nvPr/>
        </p:nvSpPr>
        <p:spPr>
          <a:xfrm>
            <a:off x="818388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4" name="TextBox 15433"/>
          <p:cNvSpPr txBox="1"/>
          <p:nvPr/>
        </p:nvSpPr>
        <p:spPr>
          <a:xfrm>
            <a:off x="818388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each value sourced;
unconfirmed: warn only</a:t>
            </a:r>
          </a:p>
        </p:txBody>
      </p:sp>
      <p:sp>
        <p:nvSpPr>
          <p:cNvPr id="15435" name="Rounded Rectangle 15434"/>
          <p:cNvSpPr/>
          <p:nvPr/>
        </p:nvSpPr>
        <p:spPr>
          <a:xfrm>
            <a:off x="1005840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6" name="Oval 15435"/>
          <p:cNvSpPr/>
          <p:nvPr/>
        </p:nvSpPr>
        <p:spPr>
          <a:xfrm>
            <a:off x="1073505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7" name="Picture 15436" descr="LuGraduationCap_white.png"/>
          <p:cNvPicPr>
            <a:picLocks noChangeAspect="1"/>
          </p:cNvPicPr>
          <p:nvPr/>
        </p:nvPicPr>
        <p:blipFill>
          <a:blip r:embed="rId15"/>
          <a:stretch>
            <a:fillRect/>
          </a:stretch>
        </p:blipFill>
        <p:spPr>
          <a:xfrm>
            <a:off x="10835640" y="5202936"/>
            <a:ext cx="256032" cy="256032"/>
          </a:xfrm>
          <a:prstGeom prst="rect">
            <a:avLst/>
          </a:prstGeom>
        </p:spPr>
      </p:pic>
      <p:sp>
        <p:nvSpPr>
          <p:cNvPr id="15438" name="TextBox 15437"/>
          <p:cNvSpPr txBox="1"/>
          <p:nvPr/>
        </p:nvSpPr>
        <p:spPr>
          <a:xfrm>
            <a:off x="1010412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9" name="TextBox 15438"/>
          <p:cNvSpPr txBox="1"/>
          <p:nvPr/>
        </p:nvSpPr>
        <p:spPr>
          <a:xfrm>
            <a:off x="1010412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university print feed
with verification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did:web · AES-GCM</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788920"/>
            <a:ext cx="5266944" cy="1687601"/>
          </a:xfrm>
          <a:prstGeom prst="roundRect">
            <a:avLst>
              <a:gd name="adj" fmla="val 2167"/>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53000"/>
          <a:stretch>
            <a:fillRect/>
          </a:stretch>
        </p:blipFill>
        <p:spPr>
          <a:xfrm>
            <a:off x="6629400" y="2816352"/>
            <a:ext cx="5212080" cy="1632737"/>
          </a:xfrm>
          <a:prstGeom prst="rect">
            <a:avLst/>
          </a:prstGeom>
        </p:spPr>
      </p:pic>
      <p:sp>
        <p:nvSpPr>
          <p:cNvPr id="17468" name="TextBox 17467"/>
          <p:cNvSpPr txBox="1"/>
          <p:nvPr/>
        </p:nvSpPr>
        <p:spPr>
          <a:xfrm>
            <a:off x="6629400" y="4494809"/>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4778273"/>
            <a:ext cx="5266944" cy="822960"/>
          </a:xfrm>
          <a:prstGeom prst="roundRect">
            <a:avLst>
              <a:gd name="adj" fmla="val 1333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0" name="TextBox 17469"/>
          <p:cNvSpPr txBox="1"/>
          <p:nvPr/>
        </p:nvSpPr>
        <p:spPr>
          <a:xfrm>
            <a:off x="6675120" y="4814849"/>
            <a:ext cx="5138928" cy="256032"/>
          </a:xfrm>
          <a:prstGeom prst="rect">
            <a:avLst/>
          </a:prstGeom>
          <a:noFill/>
        </p:spPr>
        <p:txBody>
          <a:bodyPr wrap="square" lIns="45720" rIns="45720" tIns="18288" bIns="18288" anchor="ctr"/>
          <a:lstStyle/>
          <a:p>
            <a:pPr algn="l"/>
            <a:r>
              <a:rPr sz="1050" b="1" i="0">
                <a:solidFill>
                  <a:srgbClr val="1E7B3E"/>
                </a:solidFill>
                <a:latin typeface="Arial"/>
              </a:rPr>
              <a:t>Built: </a:t>
            </a:r>
            <a:r>
              <a:rPr sz="1050" b="0" i="0">
                <a:solidFill>
                  <a:srgbClr val="1A1A1A"/>
                </a:solidFill>
                <a:latin typeface="Arial"/>
              </a:rPr>
              <a:t>upload, 31 rules, scan, risk score, consent, signed QR, audit</a:t>
            </a:r>
          </a:p>
        </p:txBody>
      </p:sp>
      <p:sp>
        <p:nvSpPr>
          <p:cNvPr id="17471" name="TextBox 17470"/>
          <p:cNvSpPr txBox="1"/>
          <p:nvPr/>
        </p:nvSpPr>
        <p:spPr>
          <a:xfrm>
            <a:off x="6675120" y="5070881"/>
            <a:ext cx="5138928" cy="256032"/>
          </a:xfrm>
          <a:prstGeom prst="rect">
            <a:avLst/>
          </a:prstGeom>
          <a:noFill/>
        </p:spPr>
        <p:txBody>
          <a:bodyPr wrap="square" lIns="45720" rIns="45720" tIns="18288" bIns="18288" anchor="ctr"/>
          <a:lstStyle/>
          <a:p>
            <a:pPr algn="l"/>
            <a:r>
              <a:rPr sz="1050" b="1" i="0">
                <a:solidFill>
                  <a:srgbClr val="E46C0A"/>
                </a:solidFill>
                <a:latin typeface="Arial"/>
              </a:rPr>
              <a:t>Simulated (no public API yet): </a:t>
            </a:r>
            <a:r>
              <a:rPr sz="1050" b="0" i="0">
                <a:solidFill>
                  <a:srgbClr val="1A1A1A"/>
                </a:solidFill>
                <a:latin typeface="Arial"/>
              </a:rPr>
              <a:t>APAAR lookup, DigiLocker, portal sign-in</a:t>
            </a:r>
          </a:p>
        </p:txBody>
      </p:sp>
      <p:sp>
        <p:nvSpPr>
          <p:cNvPr id="17472" name="TextBox 17471"/>
          <p:cNvSpPr txBox="1"/>
          <p:nvPr/>
        </p:nvSpPr>
        <p:spPr>
          <a:xfrm>
            <a:off x="6675120" y="5326913"/>
            <a:ext cx="5138928" cy="256032"/>
          </a:xfrm>
          <a:prstGeom prst="rect">
            <a:avLst/>
          </a:prstGeom>
          <a:noFill/>
        </p:spPr>
        <p:txBody>
          <a:bodyPr wrap="square" lIns="45720" rIns="45720" tIns="18288" bIns="18288" anchor="ctr"/>
          <a:lstStyle/>
          <a:p>
            <a:pPr algn="l"/>
            <a:r>
              <a:rPr sz="1050" b="1" i="0">
                <a:solidFill>
                  <a:srgbClr val="0070C0"/>
                </a:solidFill>
                <a:latin typeface="Arial"/>
              </a:rPr>
              <a:t>Planned: </a:t>
            </a:r>
            <a:r>
              <a:rPr sz="1050" b="0" i="0">
                <a:solidFill>
                  <a:srgbClr val="1A1A1A"/>
                </a:solidFill>
                <a:latin typeface="Arial"/>
              </a:rPr>
              <a:t>API Setu / DigiLocker partner access, govt SSO, STQC audit</a:t>
            </a:r>
          </a:p>
        </p:txBody>
      </p:sp>
      <p:sp>
        <p:nvSpPr>
          <p:cNvPr id="17473" name="Rounded Rectangle 17472"/>
          <p:cNvSpPr/>
          <p:nvPr/>
        </p:nvSpPr>
        <p:spPr>
          <a:xfrm>
            <a:off x="6601968" y="5674385"/>
            <a:ext cx="5266944" cy="589254"/>
          </a:xfrm>
          <a:prstGeom prst="roundRect">
            <a:avLst>
              <a:gd name="adj" fmla="val 18621"/>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qr_live.png"/>
          <p:cNvPicPr>
            <a:picLocks noChangeAspect="1"/>
          </p:cNvPicPr>
          <p:nvPr/>
        </p:nvPicPr>
        <p:blipFill>
          <a:blip r:embed="rId11"/>
          <a:stretch>
            <a:fillRect/>
          </a:stretch>
        </p:blipFill>
        <p:spPr>
          <a:xfrm>
            <a:off x="6693408" y="5729249"/>
            <a:ext cx="479526" cy="479526"/>
          </a:xfrm>
          <a:prstGeom prst="rect">
            <a:avLst/>
          </a:prstGeom>
        </p:spPr>
      </p:pic>
      <p:sp>
        <p:nvSpPr>
          <p:cNvPr id="17475" name="TextBox 17474"/>
          <p:cNvSpPr txBox="1"/>
          <p:nvPr/>
        </p:nvSpPr>
        <p:spPr>
          <a:xfrm>
            <a:off x="7282662" y="5701817"/>
            <a:ext cx="4389120" cy="534390"/>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rPr>
              <a:t>https://vidya-pramaan-sih26263.onrender.com</a:t>
            </a:r>
          </a:p>
          <a:p>
            <a:pPr algn="l"/>
            <a:r>
              <a:rPr sz="1050" b="0" i="0">
                <a:solidFill>
                  <a:srgbClr val="595959"/>
                </a:solidFill>
                <a:latin typeface="Arial"/>
              </a:rPr>
              <a:t>7 demo roles · synthetic data · first load can take a minute (free server)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41690" y="1657258"/>
            <a:ext cx="215066" cy="215066"/>
          </a:xfrm>
          <a:prstGeom prst="rect">
            <a:avLst/>
          </a:prstGeom>
        </p:spPr>
      </p:pic>
      <p:sp>
        <p:nvSpPr>
          <p:cNvPr id="17414" name="TextBox 17413"/>
          <p:cNvSpPr txBox="1"/>
          <p:nvPr/>
        </p:nvSpPr>
        <p:spPr>
          <a:xfrm>
            <a:off x="88696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0.79 / 0.92</a:t>
            </a:r>
          </a:p>
        </p:txBody>
      </p:sp>
      <p:sp>
        <p:nvSpPr>
          <p:cNvPr id="17415" name="TextBox 17414"/>
          <p:cNvSpPr txBox="1"/>
          <p:nvPr/>
        </p:nvSpPr>
        <p:spPr>
          <a:xfrm>
            <a:off x="45720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held-out precision / recall
(old matcher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6502" y="1657258"/>
            <a:ext cx="215066" cy="215066"/>
          </a:xfrm>
          <a:prstGeom prst="rect">
            <a:avLst/>
          </a:prstGeom>
        </p:spPr>
      </p:pic>
      <p:sp>
        <p:nvSpPr>
          <p:cNvPr id="17419" name="TextBox 17418"/>
          <p:cNvSpPr txBox="1"/>
          <p:nvPr/>
        </p:nvSpPr>
        <p:spPr>
          <a:xfrm>
            <a:off x="2811780"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0/80 · 2/12</a:t>
            </a:r>
          </a:p>
        </p:txBody>
      </p:sp>
      <p:sp>
        <p:nvSpPr>
          <p:cNvPr id="17420" name="TextBox 17419"/>
          <p:cNvSpPr txBox="1"/>
          <p:nvPr/>
        </p:nvSpPr>
        <p:spPr>
          <a:xfrm>
            <a:off x="2382012" y="2048256"/>
            <a:ext cx="1696212" cy="512064"/>
          </a:xfrm>
          <a:prstGeom prst="rect">
            <a:avLst/>
          </a:prstGeom>
          <a:noFill/>
        </p:spPr>
        <p:txBody>
          <a:bodyPr wrap="square" lIns="45720" rIns="45720" tIns="18288" bIns="18288" anchor="t"/>
          <a:lstStyle/>
          <a:p>
            <a:pPr algn="l"/>
            <a:r>
              <a:rPr sz="1050" b="0" i="0">
                <a:solidFill>
                  <a:srgbClr val="1A1A1A"/>
                </a:solidFill>
                <a:latin typeface="Arial"/>
              </a:rPr>
              <a:t>twins flagged: seeded ·
held-out (sent for review)</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91314" y="1657258"/>
            <a:ext cx="215066" cy="215066"/>
          </a:xfrm>
          <a:prstGeom prst="rect">
            <a:avLst/>
          </a:prstGeom>
        </p:spPr>
      </p:pic>
      <p:sp>
        <p:nvSpPr>
          <p:cNvPr id="17424" name="TextBox 17423"/>
          <p:cNvSpPr txBox="1"/>
          <p:nvPr/>
        </p:nvSpPr>
        <p:spPr>
          <a:xfrm>
            <a:off x="4736592"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17/17</a:t>
            </a:r>
          </a:p>
        </p:txBody>
      </p:sp>
      <p:sp>
        <p:nvSpPr>
          <p:cNvPr id="17425" name="TextBox 17424"/>
          <p:cNvSpPr txBox="1"/>
          <p:nvPr/>
        </p:nvSpPr>
        <p:spPr>
          <a:xfrm>
            <a:off x="4306824"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error types; 0 false
flags on 56 clean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6126" y="1657258"/>
            <a:ext cx="215066" cy="215066"/>
          </a:xfrm>
          <a:prstGeom prst="rect">
            <a:avLst/>
          </a:prstGeom>
        </p:spPr>
      </p:pic>
      <p:sp>
        <p:nvSpPr>
          <p:cNvPr id="17429" name="TextBox 17428"/>
          <p:cNvSpPr txBox="1"/>
          <p:nvPr/>
        </p:nvSpPr>
        <p:spPr>
          <a:xfrm>
            <a:off x="6661403"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164 · 57 · 4</a:t>
            </a:r>
          </a:p>
        </p:txBody>
      </p:sp>
      <p:sp>
        <p:nvSpPr>
          <p:cNvPr id="17430" name="TextBox 17429"/>
          <p:cNvSpPr txBox="1"/>
          <p:nvPr/>
        </p:nvSpPr>
        <p:spPr>
          <a:xfrm>
            <a:off x="6231636"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dual enrolments,
identity dupes,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40938" y="1657258"/>
            <a:ext cx="215066" cy="215066"/>
          </a:xfrm>
          <a:prstGeom prst="rect">
            <a:avLst/>
          </a:prstGeom>
        </p:spPr>
      </p:pic>
      <p:sp>
        <p:nvSpPr>
          <p:cNvPr id="17434" name="TextBox 17433"/>
          <p:cNvSpPr txBox="1"/>
          <p:nvPr/>
        </p:nvSpPr>
        <p:spPr>
          <a:xfrm>
            <a:off x="8586215"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42/46</a:t>
            </a:r>
          </a:p>
        </p:txBody>
      </p:sp>
      <p:sp>
        <p:nvSpPr>
          <p:cNvPr id="17435" name="TextBox 17434"/>
          <p:cNvSpPr txBox="1"/>
          <p:nvPr/>
        </p:nvSpPr>
        <p:spPr>
          <a:xfrm>
            <a:off x="8156448" y="2048256"/>
            <a:ext cx="1696212" cy="512064"/>
          </a:xfrm>
          <a:prstGeom prst="rect">
            <a:avLst/>
          </a:prstGeom>
          <a:noFill/>
        </p:spPr>
        <p:txBody>
          <a:bodyPr wrap="square" lIns="45720" rIns="45720" tIns="18288" bIns="18288" anchor="t"/>
          <a:lstStyle/>
          <a:p>
            <a:pPr algn="l"/>
            <a:r>
              <a:rPr sz="1050" b="0" i="0">
                <a:solidFill>
                  <a:srgbClr val="1A1A1A"/>
                </a:solidFill>
                <a:latin typeface="Arial"/>
              </a:rPr>
              <a:t>top-ranked colleges
were planted anomalies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5750" y="1657258"/>
            <a:ext cx="215066" cy="215066"/>
          </a:xfrm>
          <a:prstGeom prst="rect">
            <a:avLst/>
          </a:prstGeom>
        </p:spPr>
      </p:pic>
      <p:sp>
        <p:nvSpPr>
          <p:cNvPr id="17439" name="TextBox 17438"/>
          <p:cNvSpPr txBox="1"/>
          <p:nvPr/>
        </p:nvSpPr>
        <p:spPr>
          <a:xfrm>
            <a:off x="1051102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65 tests</a:t>
            </a:r>
          </a:p>
        </p:txBody>
      </p:sp>
      <p:sp>
        <p:nvSpPr>
          <p:cNvPr id="17440" name="TextBox 17439"/>
          <p:cNvSpPr txBox="1"/>
          <p:nvPr/>
        </p:nvSpPr>
        <p:spPr>
          <a:xfrm>
            <a:off x="1008126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93% coverage; security
and WCAG checks in CI</a:t>
            </a:r>
          </a:p>
        </p:txBody>
      </p:sp>
      <p:sp>
        <p:nvSpPr>
          <p:cNvPr id="17441" name="Rounded Rectangle 17440"/>
          <p:cNvSpPr/>
          <p:nvPr/>
        </p:nvSpPr>
        <p:spPr>
          <a:xfrm>
            <a:off x="320040" y="2624328"/>
            <a:ext cx="11548872" cy="292608"/>
          </a:xfrm>
          <a:prstGeom prst="roundRect">
            <a:avLst>
              <a:gd name="adj" fmla="val 1875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100" b="1" i="0">
                <a:solidFill>
                  <a:srgbClr val="B42B2B"/>
                </a:solidFill>
                <a:latin typeface="Arial"/>
              </a:rPr>
              <a:t>All synthetic data: </a:t>
            </a:r>
            <a:r>
              <a:rPr sz="1100" b="0" i="0">
                <a:solidFill>
                  <a:srgbClr val="1A1A1A"/>
                </a:solidFill>
                <a:latin typeface="Arial"/>
              </a:rPr>
              <a:t>regression checks, not real-world accuracy, which the pilot will measure. A flag never acts on its own: an officer decides, with a recorded reason.</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15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Registry adapter: mock now → DigiLocker / API Setu after partner onboarding</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15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Provisional ID, never rejected; mother's or guardian's name accepted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150" b="1" i="0">
                <a:solidFill>
                  <a:srgbClr val="1A1A1A"/>
                </a:solidFill>
                <a:latin typeface="Arial"/>
              </a:rPr>
              <a:t>Student 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Consent per field, contacts encrypted at rest, no Aadhaar stored</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150" b="1" i="0">
                <a:solidFill>
                  <a:srgbClr val="1A1A1A"/>
                </a:solidFill>
                <a:latin typeface="Arial"/>
              </a:rPr>
              <a:t>Wrong flags: twins, spelling variants, bad data</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Rejected rows never reach risk scores; reasons shown; officer decides</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150" b="1" i="0">
                <a:solidFill>
                  <a:srgbClr val="1A1A1A"/>
                </a:solidFill>
                <a:latin typeface="Arial"/>
              </a:rPr>
              <a:t>Rules change; some values not yet confirmed</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Rules file per year; unconfirmed values warn, never reject</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150" b="1" i="0">
                <a:solidFill>
                  <a:srgbClr val="1A1A1A"/>
                </a:solidFill>
                <a:latin typeface="Arial"/>
              </a:rPr>
              <a:t>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ERP headers auto-mapped, Excel template, API keys, Hindi, phone app</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050" b="1" i="0">
                <a:solidFill>
                  <a:srgbClr val="E46C0A"/>
                </a:solidFill>
                <a:latin typeface="Arial"/>
              </a:rPr>
              <a:t>Roadmap  </a:t>
            </a:r>
            <a:r>
              <a:rPr sz="1050" b="0" i="0">
                <a:solidFill>
                  <a:srgbClr val="1A1A1A"/>
                </a:solidFill>
                <a:latin typeface="Arial"/>
              </a:rPr>
              <a:t>M1–3 pilot, 1 state, 50 colleges: measure hours saved and false flags → M4–6 API Setu, SSO, STQC → M7–12 national   </a:t>
            </a:r>
            <a:r>
              <a:rPr sz="1050" b="1" i="0">
                <a:solidFill>
                  <a:srgbClr val="E46C0A"/>
                </a:solidFill>
                <a:latin typeface="Arial"/>
              </a:rPr>
              <a:t>Cost  </a:t>
            </a:r>
            <a:r>
              <a:rPr sz="1050" b="0" i="0">
                <a:solidFill>
                  <a:srgbClr val="1A1A1A"/>
                </a:solidFill>
                <a:latin typeface="Arial"/>
              </a:rPr>
              <a:t>no licence fees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excess &amp; dual enrolment
caught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one upload; errors and
corrections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APAAR + student ID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QR check on a phone;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050" b="0" i="0">
                <a:solidFill>
                  <a:srgbClr val="1A1A1A"/>
                </a:solidFill>
                <a:latin typeface="Arial"/>
              </a:rPr>
              <a:t>own record; control
over who sees it</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150" b="1" i="0">
                <a:solidFill>
                  <a:srgbClr val="B42B2B"/>
                </a:solidFill>
                <a:latin typeface="Arial"/>
              </a:rPr>
              <a:t>Today</a:t>
            </a:r>
          </a:p>
        </p:txBody>
      </p:sp>
      <p:sp>
        <p:nvSpPr>
          <p:cNvPr id="17446" name="TextBox 17445"/>
          <p:cNvSpPr txBox="1"/>
          <p:nvPr/>
        </p:nvSpPr>
        <p:spPr>
          <a:xfrm>
            <a:off x="393192" y="4718304"/>
            <a:ext cx="1865376" cy="1444752"/>
          </a:xfrm>
          <a:prstGeom prst="rect">
            <a:avLst/>
          </a:prstGeom>
          <a:noFill/>
        </p:spPr>
        <p:txBody>
          <a:bodyPr wrap="square" lIns="45720" rIns="45720" tIns="18288" bIns="18288" anchor="t"/>
          <a:lstStyle/>
          <a:p>
            <a:pPr algn="l">
              <a:spcAft>
                <a:spcPts val="200"/>
              </a:spcAft>
            </a:pPr>
            <a:r>
              <a:rPr sz="1000" b="1" i="0">
                <a:solidFill>
                  <a:srgbClr val="B42B2B"/>
                </a:solidFill>
                <a:latin typeface="Arial"/>
              </a:rPr>
              <a:t>✖ </a:t>
            </a:r>
            <a:r>
              <a:rPr sz="1000" b="0" i="0">
                <a:solidFill>
                  <a:srgbClr val="1A1A1A"/>
                </a:solidFill>
                <a:latin typeface="Arial"/>
              </a:rPr>
              <a:t>₹23.1 cr fine = 42 excess seats × ₹11 lakh fee × 5 (FORE v AICTE, SC 2019)</a:t>
            </a:r>
          </a:p>
          <a:p>
            <a:pPr algn="l">
              <a:spcAft>
                <a:spcPts val="200"/>
              </a:spcAft>
            </a:pPr>
            <a:r>
              <a:rPr sz="1000" b="1" i="0">
                <a:solidFill>
                  <a:srgbClr val="B42B2B"/>
                </a:solidFill>
                <a:latin typeface="Arial"/>
              </a:rPr>
              <a:t>✖ </a:t>
            </a:r>
            <a:r>
              <a:rPr sz="1000" b="0" i="0">
                <a:solidFill>
                  <a:srgbClr val="1A1A1A"/>
                </a:solidFill>
                <a:latin typeface="Arial"/>
              </a:rPr>
              <a:t>AISHE 2022-23 data published in 2026</a:t>
            </a:r>
          </a:p>
          <a:p>
            <a:pPr algn="l">
              <a:spcAft>
                <a:spcPts val="200"/>
              </a:spcAft>
            </a:pPr>
            <a:r>
              <a:rPr sz="1000" b="1" i="0">
                <a:solidFill>
                  <a:srgbClr val="B42B2B"/>
                </a:solidFill>
                <a:latin typeface="Arial"/>
              </a:rPr>
              <a:t>✖ </a:t>
            </a:r>
            <a:r>
              <a:rPr sz="1000" b="0" i="0">
                <a:solidFill>
                  <a:srgbClr val="1A1A1A"/>
                </a:solidFill>
                <a:latin typeface="Arial"/>
              </a:rPr>
              <a:t>“a number of students have mismatch in Aadhaar and APAAR ID details” (CU Srinagar, 2026)</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150" b="1" i="0">
                <a:solidFill>
                  <a:srgbClr val="1E7B3E"/>
                </a:solidFill>
                <a:latin typeface="Arial"/>
              </a:rPr>
              <a:t>With Vidya Pramaan</a:t>
            </a:r>
          </a:p>
        </p:txBody>
      </p:sp>
      <p:sp>
        <p:nvSpPr>
          <p:cNvPr id="17449" name="TextBox 17448"/>
          <p:cNvSpPr txBox="1"/>
          <p:nvPr/>
        </p:nvSpPr>
        <p:spPr>
          <a:xfrm>
            <a:off x="4389120" y="4718304"/>
            <a:ext cx="1892807" cy="1444752"/>
          </a:xfrm>
          <a:prstGeom prst="rect">
            <a:avLst/>
          </a:prstGeom>
          <a:noFill/>
        </p:spPr>
        <p:txBody>
          <a:bodyPr wrap="square" lIns="45720" rIns="45720" tIns="18288" bIns="18288" anchor="t"/>
          <a:lstStyle/>
          <a:p>
            <a:pPr algn="l">
              <a:spcAft>
                <a:spcPts val="200"/>
              </a:spcAft>
            </a:pPr>
            <a:r>
              <a:rPr sz="1000" b="1" i="0">
                <a:solidFill>
                  <a:srgbClr val="1E7B3E"/>
                </a:solidFill>
                <a:latin typeface="Arial"/>
              </a:rPr>
              <a:t>✔ </a:t>
            </a:r>
            <a:r>
              <a:rPr sz="1000" b="0" i="0">
                <a:solidFill>
                  <a:srgbClr val="1A1A1A"/>
                </a:solidFill>
                <a:latin typeface="Arial"/>
              </a:rPr>
              <a:t>Seat #61 of 60 refused at upload, the same day</a:t>
            </a:r>
          </a:p>
          <a:p>
            <a:pPr algn="l">
              <a:spcAft>
                <a:spcPts val="200"/>
              </a:spcAft>
            </a:pPr>
            <a:r>
              <a:rPr sz="1000" b="1" i="0">
                <a:solidFill>
                  <a:srgbClr val="1E7B3E"/>
                </a:solidFill>
                <a:latin typeface="Arial"/>
              </a:rPr>
              <a:t>✔ </a:t>
            </a:r>
            <a:r>
              <a:rPr sz="1000" b="0" i="0">
                <a:solidFill>
                  <a:srgbClr val="1A1A1A"/>
                </a:solidFill>
                <a:latin typeface="Arial"/>
              </a:rPr>
              <a:t>National view refreshed after each submission</a:t>
            </a:r>
          </a:p>
          <a:p>
            <a:pPr algn="l">
              <a:spcAft>
                <a:spcPts val="200"/>
              </a:spcAft>
            </a:pPr>
            <a:r>
              <a:rPr sz="1000" b="1" i="0">
                <a:solidFill>
                  <a:srgbClr val="1E7B3E"/>
                </a:solidFill>
                <a:latin typeface="Arial"/>
              </a:rPr>
              <a:t>✔ </a:t>
            </a:r>
            <a:r>
              <a:rPr sz="1000" b="0" i="0">
                <a:solidFill>
                  <a:srgbClr val="1A1A1A"/>
                </a:solidFill>
                <a:latin typeface="Arial"/>
              </a:rPr>
              <a:t>Mismatch returned with its reason; fixed by re-upload</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57276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673352"/>
            <a:ext cx="256032" cy="256032"/>
          </a:xfrm>
          <a:prstGeom prst="rect">
            <a:avLst/>
          </a:prstGeom>
        </p:spPr>
      </p:pic>
      <p:sp>
        <p:nvSpPr>
          <p:cNvPr id="17454" name="TextBox 17453"/>
          <p:cNvSpPr txBox="1"/>
          <p:nvPr/>
        </p:nvSpPr>
        <p:spPr>
          <a:xfrm>
            <a:off x="724204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084832"/>
            <a:ext cx="2404872" cy="548640"/>
          </a:xfrm>
          <a:prstGeom prst="rect">
            <a:avLst/>
          </a:prstGeom>
          <a:noFill/>
        </p:spPr>
        <p:txBody>
          <a:bodyPr wrap="square" lIns="45720" rIns="45720" tIns="18288" bIns="18288" anchor="t"/>
          <a:lstStyle/>
          <a:p>
            <a:pPr algn="l"/>
            <a:r>
              <a:rPr sz="1100" b="0" i="0">
                <a:solidFill>
                  <a:srgbClr val="1A1A1A"/>
                </a:solidFill>
                <a:latin typeface="Arial"/>
              </a:rPr>
              <a:t>APAAR opt-outs never refused,
as the Supreme Court requires</a:t>
            </a:r>
          </a:p>
        </p:txBody>
      </p:sp>
      <p:sp>
        <p:nvSpPr>
          <p:cNvPr id="17456" name="Rounded Rectangle 17455"/>
          <p:cNvSpPr/>
          <p:nvPr/>
        </p:nvSpPr>
        <p:spPr>
          <a:xfrm>
            <a:off x="928116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57276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673352"/>
            <a:ext cx="256032" cy="256032"/>
          </a:xfrm>
          <a:prstGeom prst="rect">
            <a:avLst/>
          </a:prstGeom>
        </p:spPr>
      </p:pic>
      <p:sp>
        <p:nvSpPr>
          <p:cNvPr id="17459" name="TextBox 17458"/>
          <p:cNvSpPr txBox="1"/>
          <p:nvPr/>
        </p:nvSpPr>
        <p:spPr>
          <a:xfrm>
            <a:off x="993952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084832"/>
            <a:ext cx="2404872" cy="548640"/>
          </a:xfrm>
          <a:prstGeom prst="rect">
            <a:avLst/>
          </a:prstGeom>
          <a:noFill/>
        </p:spPr>
        <p:txBody>
          <a:bodyPr wrap="square" lIns="45720" rIns="45720" tIns="18288" bIns="18288" anchor="t"/>
          <a:lstStyle/>
          <a:p>
            <a:pPr algn="l"/>
            <a:r>
              <a:rPr sz="1100" b="0" i="0">
                <a:solidFill>
                  <a:srgbClr val="1A1A1A"/>
                </a:solidFill>
                <a:latin typeface="Arial"/>
              </a:rPr>
              <a:t>no licence fees; one upload
serves AICTE and university</a:t>
            </a:r>
          </a:p>
        </p:txBody>
      </p:sp>
      <p:sp>
        <p:nvSpPr>
          <p:cNvPr id="17461" name="Rounded Rectangle 17460"/>
          <p:cNvSpPr/>
          <p:nvPr/>
        </p:nvSpPr>
        <p:spPr>
          <a:xfrm>
            <a:off x="658368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83464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2935224"/>
            <a:ext cx="256032" cy="256032"/>
          </a:xfrm>
          <a:prstGeom prst="rect">
            <a:avLst/>
          </a:prstGeom>
        </p:spPr>
      </p:pic>
      <p:sp>
        <p:nvSpPr>
          <p:cNvPr id="17464" name="TextBox 17463"/>
          <p:cNvSpPr txBox="1"/>
          <p:nvPr/>
        </p:nvSpPr>
        <p:spPr>
          <a:xfrm>
            <a:off x="724204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346704"/>
            <a:ext cx="2404872" cy="548640"/>
          </a:xfrm>
          <a:prstGeom prst="rect">
            <a:avLst/>
          </a:prstGeom>
          <a:noFill/>
        </p:spPr>
        <p:txBody>
          <a:bodyPr wrap="square" lIns="45720" rIns="45720" tIns="18288" bIns="18288" anchor="t"/>
          <a:lstStyle/>
          <a:p>
            <a:pPr algn="l"/>
            <a:r>
              <a:rPr sz="1100" b="0" i="0">
                <a:solidFill>
                  <a:srgbClr val="1A1A1A"/>
                </a:solidFill>
                <a:latin typeface="Arial"/>
              </a:rPr>
              <a:t>fewer paper returns and
verification letters</a:t>
            </a:r>
          </a:p>
        </p:txBody>
      </p:sp>
      <p:sp>
        <p:nvSpPr>
          <p:cNvPr id="17466" name="Rounded Rectangle 17465"/>
          <p:cNvSpPr/>
          <p:nvPr/>
        </p:nvSpPr>
        <p:spPr>
          <a:xfrm>
            <a:off x="928116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83464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2935224"/>
            <a:ext cx="256032" cy="256032"/>
          </a:xfrm>
          <a:prstGeom prst="rect">
            <a:avLst/>
          </a:prstGeom>
        </p:spPr>
      </p:pic>
      <p:sp>
        <p:nvSpPr>
          <p:cNvPr id="17469" name="TextBox 17468"/>
          <p:cNvSpPr txBox="1"/>
          <p:nvPr/>
        </p:nvSpPr>
        <p:spPr>
          <a:xfrm>
            <a:off x="993952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346704"/>
            <a:ext cx="2404872" cy="548640"/>
          </a:xfrm>
          <a:prstGeom prst="rect">
            <a:avLst/>
          </a:prstGeom>
          <a:noFill/>
        </p:spPr>
        <p:txBody>
          <a:bodyPr wrap="square" lIns="45720" rIns="45720" tIns="18288" bIns="18288" anchor="t"/>
          <a:lstStyle/>
          <a:p>
            <a:pPr algn="l"/>
            <a:r>
              <a:rPr sz="1100" b="0" i="0">
                <a:solidFill>
                  <a:srgbClr val="1A1A1A"/>
                </a:solidFill>
                <a:latin typeface="Arial"/>
              </a:rPr>
              <a:t>audited evidence pack for
review and show-cause</a:t>
            </a:r>
          </a:p>
        </p:txBody>
      </p:sp>
      <p:sp>
        <p:nvSpPr>
          <p:cNvPr id="17471" name="TextBox 17470"/>
          <p:cNvSpPr txBox="1"/>
          <p:nvPr/>
        </p:nvSpPr>
        <p:spPr>
          <a:xfrm>
            <a:off x="6583680" y="3931920"/>
            <a:ext cx="5285232" cy="237744"/>
          </a:xfrm>
          <a:prstGeom prst="rect">
            <a:avLst/>
          </a:prstGeom>
          <a:noFill/>
        </p:spPr>
        <p:txBody>
          <a:bodyPr wrap="square" lIns="45720" rIns="45720" tIns="18288" bIns="18288" anchor="ctr"/>
          <a:lstStyle/>
          <a:p>
            <a:pPr algn="ctr"/>
            <a:r>
              <a:rPr sz="1050" b="0" i="0">
                <a:solidFill>
                  <a:srgbClr val="595959"/>
                </a:solidFill>
                <a:latin typeface="Arial"/>
              </a:rPr>
              <a:t>Expected benefits; the pilot measures hours saved and flags confirmed.</a:t>
            </a:r>
          </a:p>
        </p:txBody>
      </p:sp>
      <p:sp>
        <p:nvSpPr>
          <p:cNvPr id="17472" name="Rounded Rectangle 17471"/>
          <p:cNvSpPr/>
          <p:nvPr/>
        </p:nvSpPr>
        <p:spPr>
          <a:xfrm>
            <a:off x="6601968" y="4306824"/>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3" name="Picture 17472" descr="25_certificate.png"/>
          <p:cNvPicPr>
            <a:picLocks noChangeAspect="1"/>
          </p:cNvPicPr>
          <p:nvPr/>
        </p:nvPicPr>
        <p:blipFill>
          <a:blip r:embed="rId13"/>
          <a:srcRect/>
          <a:stretch>
            <a:fillRect/>
          </a:stretch>
        </p:blipFill>
        <p:spPr>
          <a:xfrm>
            <a:off x="6629400" y="4334256"/>
            <a:ext cx="2286000" cy="1616363"/>
          </a:xfrm>
          <a:prstGeom prst="rect">
            <a:avLst/>
          </a:prstGeom>
        </p:spPr>
      </p:pic>
      <p:sp>
        <p:nvSpPr>
          <p:cNvPr id="17474" name="Rounded Rectangle 17473"/>
          <p:cNvSpPr/>
          <p:nvPr/>
        </p:nvSpPr>
        <p:spPr>
          <a:xfrm>
            <a:off x="9235440" y="4306824"/>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5" name="Picture 17474" descr="23_public_qr_verified.png"/>
          <p:cNvPicPr>
            <a:picLocks noChangeAspect="1"/>
          </p:cNvPicPr>
          <p:nvPr/>
        </p:nvPicPr>
        <p:blipFill>
          <a:blip r:embed="rId14"/>
          <a:srcRect l="17000" t="46000" r="51000" b="29000"/>
          <a:stretch>
            <a:fillRect/>
          </a:stretch>
        </p:blipFill>
        <p:spPr>
          <a:xfrm>
            <a:off x="9262872" y="4334256"/>
            <a:ext cx="2578608" cy="1259085"/>
          </a:xfrm>
          <a:prstGeom prst="rect">
            <a:avLst/>
          </a:prstGeom>
        </p:spPr>
      </p:pic>
      <p:sp>
        <p:nvSpPr>
          <p:cNvPr id="17476" name="TextBox 17475"/>
          <p:cNvSpPr txBox="1"/>
          <p:nvPr/>
        </p:nvSpPr>
        <p:spPr>
          <a:xfrm>
            <a:off x="6583680" y="5996339"/>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7" name="TextBox 17476"/>
          <p:cNvSpPr txBox="1"/>
          <p:nvPr/>
        </p:nvSpPr>
        <p:spPr>
          <a:xfrm>
            <a:off x="9235440" y="5639061"/>
            <a:ext cx="2633472" cy="237744"/>
          </a:xfrm>
          <a:prstGeom prst="rect">
            <a:avLst/>
          </a:prstGeom>
          <a:noFill/>
        </p:spPr>
        <p:txBody>
          <a:bodyPr wrap="square" lIns="45720" rIns="45720" tIns="18288" bIns="18288" anchor="ctr"/>
          <a:lstStyle/>
          <a:p>
            <a:pPr algn="ctr"/>
            <a:r>
              <a:rPr sz="1050" b="0" i="0">
                <a:solidFill>
                  <a:srgbClr val="595959"/>
                </a:solidFill>
                <a:latin typeface="Arial"/>
              </a:rPr>
              <a:t>QR: on-device check + revocation list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50" b="0" i="0">
                <a:solidFill>
                  <a:srgbClr val="595959"/>
                </a:solidFill>
                <a:latin typeface="Arial"/>
              </a:rPr>
              <a:t>totals, 2–3 yrs late</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950" b="1" i="0">
                <a:solidFill>
                  <a:srgbClr val="1E7B3E"/>
                </a:solidFill>
                <a:latin typeface="Arial"/>
              </a:rPr>
              <a:t>✔ per upload</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5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5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5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566928"/>
          </a:xfrm>
          <a:prstGeom prst="rect">
            <a:avLst/>
          </a:prstGeom>
          <a:noFill/>
        </p:spPr>
        <p:txBody>
          <a:bodyPr wrap="square" lIns="45720" rIns="45720" tIns="18288" bIns="18288" anchor="t"/>
          <a:lstStyle/>
          <a:p>
            <a:pPr algn="l"/>
            <a:r>
              <a:rPr sz="1050" b="1" i="0">
                <a:solidFill>
                  <a:srgbClr val="1F3864"/>
                </a:solidFill>
                <a:latin typeface="Arial"/>
              </a:rPr>
              <a:t>✔ = built and covered by a test (docs/CLAIMS.md); other columns from public documentation (refs 4–5). </a:t>
            </a:r>
            <a:r>
              <a:rPr sz="1050" b="0" i="0">
                <a:solidFill>
                  <a:srgbClr val="595959"/>
                </a:solidFill>
                <a:latin typeface="Arial"/>
              </a:rPr>
              <a:t>Vidya Pramaan reuses APAAR and feeds NAD / ABC and AISHE: no new ID, no parallel credential store, no student rejected for opting out.</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2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2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2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2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2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200"/>
              </a:spcAft>
            </a:pPr>
            <a:r>
              <a:rPr sz="1000" b="0" i="0">
                <a:solidFill>
                  <a:srgbClr val="1A1A1A"/>
                </a:solidFill>
                <a:latin typeface="Arial"/>
              </a:rPr>
              <a:t>6. APAAR opt-out: Orissa HC, Rohit Anand Das (Dec 2025); Supreme Court direction (Jul 2026)  </a:t>
            </a:r>
            <a:r>
              <a:rPr sz="950" b="0" i="0">
                <a:solidFill>
                  <a:srgbClr val="0070C0"/>
                </a:solidFill>
                <a:latin typeface="Arial"/>
              </a:rPr>
              <a:t>scconline.com · livelaw.in</a:t>
            </a:r>
          </a:p>
          <a:p>
            <a:pPr algn="l">
              <a:spcAft>
                <a:spcPts val="200"/>
              </a:spcAft>
            </a:pPr>
            <a:r>
              <a:rPr sz="1000" b="0" i="0">
                <a:solidFill>
                  <a:srgbClr val="1A1A1A"/>
                </a:solidFill>
                <a:latin typeface="Arial"/>
              </a:rPr>
              <a:t>7. Parliament replies: AICTE enrolment 2025-26 (Lok Sabha); APAAR IDs at 30 Mar 2026 (Rajya Sabha)  </a:t>
            </a:r>
            <a:r>
              <a:rPr sz="950" b="0" i="0">
                <a:solidFill>
                  <a:srgbClr val="0070C0"/>
                </a:solidFill>
                <a:latin typeface="Arial"/>
              </a:rPr>
              <a:t>sansad.in</a:t>
            </a:r>
          </a:p>
          <a:p>
            <a:pPr algn="l">
              <a:spcAft>
                <a:spcPts val="200"/>
              </a:spcAft>
            </a:pPr>
            <a:r>
              <a:rPr sz="1000" b="0" i="0">
                <a:solidFill>
                  <a:srgbClr val="1A1A1A"/>
                </a:solidFill>
                <a:latin typeface="Arial"/>
              </a:rPr>
              <a:t>8. Digital Personal Data Protection Act 2023; DPDP Rules 2025  </a:t>
            </a:r>
            <a:r>
              <a:rPr sz="950" b="0" i="0">
                <a:solidFill>
                  <a:srgbClr val="0070C0"/>
                </a:solidFill>
                <a:latin typeface="Arial"/>
              </a:rPr>
              <a:t>meity.gov.in</a:t>
            </a:r>
          </a:p>
          <a:p>
            <a:pPr algn="l">
              <a:spcAft>
                <a:spcPts val="200"/>
              </a:spcAft>
            </a:pPr>
            <a:r>
              <a:rPr sz="1000" b="0" i="0">
                <a:solidFill>
                  <a:srgbClr val="1A1A1A"/>
                </a:solidFill>
                <a:latin typeface="Arial"/>
              </a:rPr>
              <a:t>9. W3C Verifiable Credentials and did:web; RFC 8032 (Ed25519)  </a:t>
            </a:r>
            <a:r>
              <a:rPr sz="950" b="0" i="0">
                <a:solidFill>
                  <a:srgbClr val="0070C0"/>
                </a:solidFill>
                <a:latin typeface="Arial"/>
              </a:rPr>
              <a:t>w3.org · rfc-editor.org</a:t>
            </a:r>
          </a:p>
          <a:p>
            <a:pPr algn="l">
              <a:spcAft>
                <a:spcPts val="200"/>
              </a:spcAft>
            </a:pPr>
            <a:r>
              <a:rPr sz="1000" b="0" i="0">
                <a:solidFill>
                  <a:srgbClr val="1A1A1A"/>
                </a:solidFill>
                <a:latin typeface="Arial"/>
              </a:rPr>
              <a:t>10. Liu, Ting &amp; Zhou (2008) Isolation Forest; IDinsight on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live.png"/>
          <p:cNvPicPr>
            <a:picLocks noChangeAspect="1"/>
          </p:cNvPicPr>
          <p:nvPr/>
        </p:nvPicPr>
        <p:blipFill>
          <a:blip r:embed="rId4"/>
          <a:stretch>
            <a:fillRect/>
          </a:stretch>
        </p:blipFill>
        <p:spPr>
          <a:xfrm>
            <a:off x="457200" y="5074920"/>
            <a:ext cx="1078992" cy="1078992"/>
          </a:xfrm>
          <a:prstGeom prst="rect">
            <a:avLst/>
          </a:prstGeom>
        </p:spPr>
      </p:pic>
      <p:sp>
        <p:nvSpPr>
          <p:cNvPr id="17451" name="TextBox 17450"/>
          <p:cNvSpPr txBox="1"/>
          <p:nvPr/>
        </p:nvSpPr>
        <p:spPr>
          <a:xfrm>
            <a:off x="1664208"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200" b="0" i="0">
                <a:solidFill>
                  <a:srgbClr val="0070C0"/>
                </a:solidFill>
                <a:latin typeface="Arial"/>
              </a:rPr>
              <a:t>https://vidya-pramaan-sih26263.onrender.com</a:t>
            </a:r>
          </a:p>
          <a:p>
            <a:pPr algn="l"/>
            <a:r>
              <a:rPr sz="1050" b="0" i="0">
                <a:solidFill>
                  <a:srgbClr val="595959"/>
                </a:solidFill>
                <a:latin typeface="Arial"/>
              </a:rPr>
              <a:t>Synthetic data only · 7 demo roles · works on phones</a:t>
            </a:r>
          </a:p>
        </p:txBody>
      </p:sp>
      <p:pic>
        <p:nvPicPr>
          <p:cNvPr id="17452" name="Picture 17451" descr="qr_repo.png"/>
          <p:cNvPicPr>
            <a:picLocks noChangeAspect="1"/>
          </p:cNvPicPr>
          <p:nvPr/>
        </p:nvPicPr>
        <p:blipFill>
          <a:blip r:embed="rId5"/>
          <a:stretch>
            <a:fillRect/>
          </a:stretch>
        </p:blipFill>
        <p:spPr>
          <a:xfrm>
            <a:off x="6217920" y="5074920"/>
            <a:ext cx="1078992" cy="1078992"/>
          </a:xfrm>
          <a:prstGeom prst="rect">
            <a:avLst/>
          </a:prstGeom>
        </p:spPr>
      </p:pic>
      <p:sp>
        <p:nvSpPr>
          <p:cNvPr id="17453" name="TextBox 17452"/>
          <p:cNvSpPr txBox="1"/>
          <p:nvPr/>
        </p:nvSpPr>
        <p:spPr>
          <a:xfrm>
            <a:off x="7424927"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200" b="0" i="0">
                <a:solidFill>
                  <a:srgbClr val="0070C0"/>
                </a:solidFill>
                <a:latin typeface="Arial"/>
              </a:rPr>
              <a:t>https://github.com/Pulkitkh/VidyaPramaan</a:t>
            </a:r>
          </a:p>
          <a:p>
            <a:pPr algn="l"/>
            <a:r>
              <a:rPr sz="1050" b="0" i="0">
                <a:solidFill>
                  <a:srgbClr val="595959"/>
                </a:solidFill>
                <a:latin typeface="Arial"/>
              </a:rPr>
              <a:t>65 tests · 93% coverage · MIT licence</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