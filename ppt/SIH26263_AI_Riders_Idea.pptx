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010f5f10-b597-e6d6-bd5f-72e4ab37ccd1}">
          <p14:sldIdLst>
            <p14:sldId id="256"/>
          </p14:sldIdLst>
        </p14:section>
        <p14:section name="Proposed solution" id="{3a3e4072-cbb9-cf21-35a6-6e5afb5f2ca7}">
          <p14:sldIdLst>
            <p14:sldId id="257"/>
          </p14:sldIdLst>
        </p14:section>
        <p14:section name="Technical approach" id="{a92d262f-eb22-bed5-7974-33fd1109d33f}">
          <p14:sldIdLst>
            <p14:sldId id="258"/>
          </p14:sldIdLst>
        </p14:section>
        <p14:section name="Feasibility and viability" id="{009a29ad-28c7-6fb3-4af0-5b76d605cbf9}">
          <p14:sldIdLst>
            <p14:sldId id="259"/>
          </p14:sldIdLst>
        </p14:section>
        <p14:section name="Impact and benefits" id="{b1ec1f82-1419-0272-08cc-28c92393e8ba}">
          <p14:sldIdLst>
            <p14:sldId id="260"/>
          </p14:sldIdLst>
        </p14:section>
        <p14:section name="Research and references" id="{de10a48a-4206-e780-175d-50a17ecde6e7}">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Vidya Pramaan gives AICTE one authentic, verifiable register of students keyed on the APAAR ID. Everything shown is a working prototype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PS pipeline exactly. Innovation is not collection but explainable checks before storage, a live seat ledger, cross-institution identity matching, an explainable risk score, consent-first verification and signed records. Students who decline APAAR and FN/OCI students get a provisional ID instead of being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APAAR registry sits behind an adapter: the demo uses a mock registry, production plugs in DigiLocker / API Setu after partner onboarding. Validation, scan, consent and credential services all share one data model and one audit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measured by scripts/benchmark.py on the seeded synthetic dataset. The main external dependency, live APAAR lookups, is isolated behind an adapter so the rest of the system is buildable and testable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stakeholder in the PS gets something concrete. Rollout starts where student-level data already exists (PGDM), then adds live APAAR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research: each design choice traces to a regulation or a fact about APAAR. The QR opens the repository with the running prototype and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325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411480"/>
            <a:ext cx="640080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02920" y="777240"/>
            <a:ext cx="6035040" cy="9601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02920" y="6510528"/>
            <a:ext cx="6400800" cy="228600"/>
          </a:xfrm>
          <a:prstGeom prst="rect">
            <a:avLst/>
          </a:prstGeom>
          <a:noFill/>
          <a:ln/>
        </p:spPr>
        <p:txBody>
          <a:bodyPr wrap="square" lIns="0" tIns="0" rIns="0" bIns="0" rtlCol="0" anchor="ctr"/>
          <a:lstStyle/>
          <a:p>
            <a:pPr indent="0" marL="0">
              <a:buNone/>
            </a:pPr>
            <a:r>
              <a:rPr lang="en-US" sz="1000" dirty="0">
                <a:solidFill>
                  <a:schemeClr val="accent6"/>
                </a:solidFill>
              </a:rPr>
              <a:t>SIH 2026 · SIH26263 · Team AI Riders · Vidya Pramaan</a:t>
            </a:r>
            <a:endParaRPr lang="en-US" sz="10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3.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Pulkitkh/AI_Riders_"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02920" y="411480"/>
            <a:ext cx="6400800" cy="320040"/>
          </a:xfrm>
          <a:prstGeom prst="rect">
            <a:avLst/>
          </a:prstGeom>
          <a:noFill/>
          <a:ln/>
        </p:spPr>
        <p:txBody>
          <a:bodyPr wrap="square" lIns="0" tIns="0" rIns="0" bIns="0" rtlCol="0"/>
          <a:lstStyle/>
          <a:p>
            <a:pPr indent="0" marL="0">
              <a:buNone/>
            </a:pPr>
            <a:r>
              <a:rPr lang="en-US" sz="1300" b="1" spc="200" kern="0" dirty="0">
                <a:solidFill>
                  <a:schemeClr val="accent2"/>
                </a:solidFill>
              </a:rPr>
              <a:t>SMART INDIA HACKATHON 2026 · IDEA SUBMISSION</a:t>
            </a:r>
            <a:endParaRPr lang="en-US" sz="1300" dirty="0"/>
          </a:p>
        </p:txBody>
      </p:sp>
      <p:sp>
        <p:nvSpPr>
          <p:cNvPr id="3" name="Text 0"/>
          <p:cNvSpPr/>
          <p:nvPr>
            <p:ph idx="101" type="title" hasCustomPrompt="1"/>
          </p:nvPr>
        </p:nvSpPr>
        <p:spPr>
          <a:xfrm>
            <a:off x="502920" y="777240"/>
            <a:ext cx="6035040" cy="960120"/>
          </a:xfrm>
          <a:prstGeom prst="rect">
            <a:avLst/>
          </a:prstGeom>
          <a:noFill/>
          <a:ln/>
        </p:spPr>
        <p:txBody>
          <a:bodyPr wrap="square" lIns="0" tIns="0" rIns="0" bIns="0" rtlCol="0" anchor="t"/>
          <a:lstStyle/>
          <a:p>
            <a:pPr algn="l" indent="0" marL="0">
              <a:buNone/>
            </a:pPr>
            <a:r>
              <a:rPr lang="en-US" sz="5400" b="1" dirty="0">
                <a:solidFill>
                  <a:schemeClr val="bg1"/>
                </a:solidFill>
              </a:rPr>
              <a:t>Vidya Pramaan</a:t>
            </a:r>
            <a:endParaRPr lang="en-US" sz="5400" dirty="0"/>
          </a:p>
        </p:txBody>
      </p:sp>
      <p:sp>
        <p:nvSpPr>
          <p:cNvPr id="4" name="Text 2"/>
          <p:cNvSpPr txBox="1"/>
          <p:nvPr/>
        </p:nvSpPr>
        <p:spPr>
          <a:xfrm>
            <a:off x="502920" y="1783080"/>
            <a:ext cx="5852160" cy="868680"/>
          </a:xfrm>
          <a:prstGeom prst="rect">
            <a:avLst/>
          </a:prstGeom>
          <a:noFill/>
          <a:ln/>
        </p:spPr>
        <p:txBody>
          <a:bodyPr wrap="square" lIns="0" tIns="0" rIns="0" bIns="0" rtlCol="0" anchor="t"/>
          <a:lstStyle/>
          <a:p>
            <a:pPr indent="0" marL="0">
              <a:buNone/>
            </a:pPr>
            <a:r>
              <a:rPr lang="en-US" sz="2000" dirty="0">
                <a:solidFill>
                  <a:srgbClr val="CADCF4"/>
                </a:solidFill>
              </a:rPr>
              <a:t>APAAR ID-based Student Data Management &amp; Verification Platform for AICTE-Approved Institutions</a:t>
            </a:r>
            <a:endParaRPr lang="en-US" sz="2000" dirty="0"/>
          </a:p>
        </p:txBody>
      </p:sp>
      <p:sp>
        <p:nvSpPr>
          <p:cNvPr id="5" name="Text 3"/>
          <p:cNvSpPr txBox="1"/>
          <p:nvPr/>
        </p:nvSpPr>
        <p:spPr>
          <a:xfrm>
            <a:off x="502920" y="2697480"/>
            <a:ext cx="5852160" cy="365760"/>
          </a:xfrm>
          <a:prstGeom prst="rect">
            <a:avLst/>
          </a:prstGeom>
          <a:noFill/>
          <a:ln/>
        </p:spPr>
        <p:txBody>
          <a:bodyPr wrap="square" lIns="0" tIns="0" rIns="0" bIns="0" rtlCol="0" anchor="ctr"/>
          <a:lstStyle/>
          <a:p>
            <a:pPr indent="0" marL="0">
              <a:buNone/>
            </a:pPr>
            <a:r>
              <a:rPr lang="en-US" sz="1600" b="1" i="1" dirty="0">
                <a:solidFill>
                  <a:schemeClr val="accent2"/>
                </a:solidFill>
              </a:rPr>
              <a:t>One student. One APAAR ID. One verifiable record.</a:t>
            </a:r>
            <a:endParaRPr lang="en-US" sz="1600" dirty="0"/>
          </a:p>
        </p:txBody>
      </p:sp>
      <p:sp>
        <p:nvSpPr>
          <p:cNvPr id="6" name="Shape 4"/>
          <p:cNvSpPr/>
          <p:nvPr/>
        </p:nvSpPr>
        <p:spPr>
          <a:xfrm>
            <a:off x="502920" y="3337560"/>
            <a:ext cx="2834640" cy="786384"/>
          </a:xfrm>
          <a:prstGeom prst="roundRect">
            <a:avLst>
              <a:gd name="adj" fmla="val 9302"/>
            </a:avLst>
          </a:prstGeom>
          <a:solidFill>
            <a:schemeClr val="bg1">
              <a:alpha val="10000"/>
            </a:schemeClr>
          </a:solidFill>
          <a:ln w="9525">
            <a:solidFill>
              <a:srgbClr val="3D5A82"/>
            </a:solidFill>
            <a:prstDash val="solid"/>
          </a:ln>
        </p:spPr>
      </p:sp>
      <p:sp>
        <p:nvSpPr>
          <p:cNvPr id="7" name="Text 5"/>
          <p:cNvSpPr txBox="1"/>
          <p:nvPr/>
        </p:nvSpPr>
        <p:spPr>
          <a:xfrm>
            <a:off x="640080" y="3410712"/>
            <a:ext cx="2606040" cy="658368"/>
          </a:xfrm>
          <a:prstGeom prst="rect">
            <a:avLst/>
          </a:prstGeom>
          <a:noFill/>
          <a:ln/>
        </p:spPr>
        <p:txBody>
          <a:bodyPr wrap="square" lIns="0" tIns="0" rIns="0" bIns="0" rtlCol="0" anchor="ctr"/>
          <a:lstStyle/>
          <a:p>
            <a:pPr indent="0" marL="0">
              <a:buNone/>
            </a:pPr>
            <a:r>
              <a:rPr lang="en-US" sz="1100" dirty="0">
                <a:solidFill>
                  <a:srgbClr val="A9BDD8"/>
                </a:solidFill>
              </a:rPr>
              <a:t>Problem Statement ID</a:t>
            </a:r>
            <a:endParaRPr lang="en-US" sz="1100" dirty="0"/>
          </a:p>
          <a:p>
            <a:pPr indent="0" marL="0">
              <a:buNone/>
            </a:pPr>
            <a:r>
              <a:rPr lang="en-US" sz="1500" b="1" dirty="0">
                <a:solidFill>
                  <a:srgbClr val="FFFFFF"/>
                </a:solidFill>
              </a:rPr>
              <a:t>SIH26263</a:t>
            </a:r>
            <a:endParaRPr lang="en-US" sz="1100" dirty="0"/>
          </a:p>
        </p:txBody>
      </p:sp>
      <p:sp>
        <p:nvSpPr>
          <p:cNvPr id="8" name="Shape 6"/>
          <p:cNvSpPr/>
          <p:nvPr/>
        </p:nvSpPr>
        <p:spPr>
          <a:xfrm>
            <a:off x="3474720" y="3337560"/>
            <a:ext cx="2834640" cy="786384"/>
          </a:xfrm>
          <a:prstGeom prst="roundRect">
            <a:avLst>
              <a:gd name="adj" fmla="val 9302"/>
            </a:avLst>
          </a:prstGeom>
          <a:solidFill>
            <a:schemeClr val="bg1">
              <a:alpha val="10000"/>
            </a:schemeClr>
          </a:solidFill>
          <a:ln w="9525">
            <a:solidFill>
              <a:srgbClr val="3D5A82"/>
            </a:solidFill>
            <a:prstDash val="solid"/>
          </a:ln>
        </p:spPr>
      </p:sp>
      <p:sp>
        <p:nvSpPr>
          <p:cNvPr id="9" name="Text 7"/>
          <p:cNvSpPr txBox="1"/>
          <p:nvPr/>
        </p:nvSpPr>
        <p:spPr>
          <a:xfrm>
            <a:off x="3611880" y="3410712"/>
            <a:ext cx="2606040" cy="658368"/>
          </a:xfrm>
          <a:prstGeom prst="rect">
            <a:avLst/>
          </a:prstGeom>
          <a:noFill/>
          <a:ln/>
        </p:spPr>
        <p:txBody>
          <a:bodyPr wrap="square" lIns="0" tIns="0" rIns="0" bIns="0" rtlCol="0" anchor="ctr"/>
          <a:lstStyle/>
          <a:p>
            <a:pPr indent="0" marL="0">
              <a:buNone/>
            </a:pPr>
            <a:r>
              <a:rPr lang="en-US" sz="1100" dirty="0">
                <a:solidFill>
                  <a:srgbClr val="A9BDD8"/>
                </a:solidFill>
              </a:rPr>
              <a:t>Problem Statement Title</a:t>
            </a:r>
            <a:endParaRPr lang="en-US" sz="1100" dirty="0"/>
          </a:p>
          <a:p>
            <a:pPr indent="0" marL="0">
              <a:buNone/>
            </a:pPr>
            <a:r>
              <a:rPr lang="en-US" sz="1500" b="1" dirty="0">
                <a:solidFill>
                  <a:srgbClr val="FFFFFF"/>
                </a:solidFill>
              </a:rPr>
              <a:t>APAAR ID-based student data platform</a:t>
            </a:r>
            <a:endParaRPr lang="en-US" sz="1100" dirty="0"/>
          </a:p>
        </p:txBody>
      </p:sp>
      <p:sp>
        <p:nvSpPr>
          <p:cNvPr id="10" name="Shape 8"/>
          <p:cNvSpPr/>
          <p:nvPr/>
        </p:nvSpPr>
        <p:spPr>
          <a:xfrm>
            <a:off x="502920" y="4270248"/>
            <a:ext cx="2834640" cy="786384"/>
          </a:xfrm>
          <a:prstGeom prst="roundRect">
            <a:avLst>
              <a:gd name="adj" fmla="val 9302"/>
            </a:avLst>
          </a:prstGeom>
          <a:solidFill>
            <a:schemeClr val="bg1">
              <a:alpha val="10000"/>
            </a:schemeClr>
          </a:solidFill>
          <a:ln w="9525">
            <a:solidFill>
              <a:srgbClr val="3D5A82"/>
            </a:solidFill>
            <a:prstDash val="solid"/>
          </a:ln>
        </p:spPr>
      </p:sp>
      <p:sp>
        <p:nvSpPr>
          <p:cNvPr id="11" name="Text 9"/>
          <p:cNvSpPr txBox="1"/>
          <p:nvPr/>
        </p:nvSpPr>
        <p:spPr>
          <a:xfrm>
            <a:off x="640080" y="4343400"/>
            <a:ext cx="2606040" cy="658368"/>
          </a:xfrm>
          <a:prstGeom prst="rect">
            <a:avLst/>
          </a:prstGeom>
          <a:noFill/>
          <a:ln/>
        </p:spPr>
        <p:txBody>
          <a:bodyPr wrap="square" lIns="0" tIns="0" rIns="0" bIns="0" rtlCol="0" anchor="ctr"/>
          <a:lstStyle/>
          <a:p>
            <a:pPr indent="0" marL="0">
              <a:buNone/>
            </a:pPr>
            <a:r>
              <a:rPr lang="en-US" sz="1100" dirty="0">
                <a:solidFill>
                  <a:srgbClr val="A9BDD8"/>
                </a:solidFill>
              </a:rPr>
              <a:t>Theme</a:t>
            </a:r>
            <a:endParaRPr lang="en-US" sz="1100" dirty="0"/>
          </a:p>
          <a:p>
            <a:pPr indent="0" marL="0">
              <a:buNone/>
            </a:pPr>
            <a:r>
              <a:rPr lang="en-US" sz="1500" b="1" dirty="0">
                <a:solidFill>
                  <a:srgbClr val="FFFFFF"/>
                </a:solidFill>
              </a:rPr>
              <a:t>Smart Automation</a:t>
            </a:r>
            <a:endParaRPr lang="en-US" sz="1100" dirty="0"/>
          </a:p>
        </p:txBody>
      </p:sp>
      <p:sp>
        <p:nvSpPr>
          <p:cNvPr id="12" name="Shape 10"/>
          <p:cNvSpPr/>
          <p:nvPr/>
        </p:nvSpPr>
        <p:spPr>
          <a:xfrm>
            <a:off x="3474720" y="4270248"/>
            <a:ext cx="2834640" cy="786384"/>
          </a:xfrm>
          <a:prstGeom prst="roundRect">
            <a:avLst>
              <a:gd name="adj" fmla="val 9302"/>
            </a:avLst>
          </a:prstGeom>
          <a:solidFill>
            <a:schemeClr val="bg1">
              <a:alpha val="10000"/>
            </a:schemeClr>
          </a:solidFill>
          <a:ln w="9525">
            <a:solidFill>
              <a:srgbClr val="3D5A82"/>
            </a:solidFill>
            <a:prstDash val="solid"/>
          </a:ln>
        </p:spPr>
      </p:sp>
      <p:sp>
        <p:nvSpPr>
          <p:cNvPr id="13" name="Text 11"/>
          <p:cNvSpPr txBox="1"/>
          <p:nvPr/>
        </p:nvSpPr>
        <p:spPr>
          <a:xfrm>
            <a:off x="3611880" y="4343400"/>
            <a:ext cx="2606040" cy="658368"/>
          </a:xfrm>
          <a:prstGeom prst="rect">
            <a:avLst/>
          </a:prstGeom>
          <a:noFill/>
          <a:ln/>
        </p:spPr>
        <p:txBody>
          <a:bodyPr wrap="square" lIns="0" tIns="0" rIns="0" bIns="0" rtlCol="0" anchor="ctr"/>
          <a:lstStyle/>
          <a:p>
            <a:pPr indent="0" marL="0">
              <a:buNone/>
            </a:pPr>
            <a:r>
              <a:rPr lang="en-US" sz="1100" dirty="0">
                <a:solidFill>
                  <a:srgbClr val="A9BDD8"/>
                </a:solidFill>
              </a:rPr>
              <a:t>PS Category</a:t>
            </a:r>
            <a:endParaRPr lang="en-US" sz="1100" dirty="0"/>
          </a:p>
          <a:p>
            <a:pPr indent="0" marL="0">
              <a:buNone/>
            </a:pPr>
            <a:r>
              <a:rPr lang="en-US" sz="1500" b="1" dirty="0">
                <a:solidFill>
                  <a:srgbClr val="FFFFFF"/>
                </a:solidFill>
              </a:rPr>
              <a:t>Software</a:t>
            </a:r>
            <a:endParaRPr lang="en-US" sz="1100" dirty="0"/>
          </a:p>
        </p:txBody>
      </p:sp>
      <p:sp>
        <p:nvSpPr>
          <p:cNvPr id="14" name="Shape 12"/>
          <p:cNvSpPr/>
          <p:nvPr/>
        </p:nvSpPr>
        <p:spPr>
          <a:xfrm>
            <a:off x="502920" y="5202936"/>
            <a:ext cx="2834640" cy="786384"/>
          </a:xfrm>
          <a:prstGeom prst="roundRect">
            <a:avLst>
              <a:gd name="adj" fmla="val 9302"/>
            </a:avLst>
          </a:prstGeom>
          <a:solidFill>
            <a:schemeClr val="bg1">
              <a:alpha val="10000"/>
            </a:schemeClr>
          </a:solidFill>
          <a:ln w="9525">
            <a:solidFill>
              <a:srgbClr val="3D5A82"/>
            </a:solidFill>
            <a:prstDash val="solid"/>
          </a:ln>
        </p:spPr>
      </p:sp>
      <p:sp>
        <p:nvSpPr>
          <p:cNvPr id="15" name="Text 13"/>
          <p:cNvSpPr txBox="1"/>
          <p:nvPr/>
        </p:nvSpPr>
        <p:spPr>
          <a:xfrm>
            <a:off x="640080" y="5276088"/>
            <a:ext cx="2606040" cy="658368"/>
          </a:xfrm>
          <a:prstGeom prst="rect">
            <a:avLst/>
          </a:prstGeom>
          <a:noFill/>
          <a:ln/>
        </p:spPr>
        <p:txBody>
          <a:bodyPr wrap="square" lIns="0" tIns="0" rIns="0" bIns="0" rtlCol="0" anchor="ctr"/>
          <a:lstStyle/>
          <a:p>
            <a:pPr indent="0" marL="0">
              <a:buNone/>
            </a:pPr>
            <a:r>
              <a:rPr lang="en-US" sz="1100" dirty="0">
                <a:solidFill>
                  <a:srgbClr val="A9BDD8"/>
                </a:solidFill>
              </a:rPr>
              <a:t>Team ID</a:t>
            </a:r>
            <a:endParaRPr lang="en-US" sz="1100" dirty="0"/>
          </a:p>
          <a:p>
            <a:pPr indent="0" marL="0">
              <a:buNone/>
            </a:pPr>
            <a:r>
              <a:rPr lang="en-US" sz="1500" b="1" dirty="0">
                <a:solidFill>
                  <a:srgbClr val="FFFFFF"/>
                </a:solidFill>
              </a:rPr>
              <a:t>(as allotted on SIH portal)</a:t>
            </a:r>
            <a:endParaRPr lang="en-US" sz="1100" dirty="0"/>
          </a:p>
        </p:txBody>
      </p:sp>
      <p:sp>
        <p:nvSpPr>
          <p:cNvPr id="16" name="Shape 14"/>
          <p:cNvSpPr/>
          <p:nvPr/>
        </p:nvSpPr>
        <p:spPr>
          <a:xfrm>
            <a:off x="3474720" y="5202936"/>
            <a:ext cx="2834640" cy="786384"/>
          </a:xfrm>
          <a:prstGeom prst="roundRect">
            <a:avLst>
              <a:gd name="adj" fmla="val 9302"/>
            </a:avLst>
          </a:prstGeom>
          <a:solidFill>
            <a:schemeClr val="bg1">
              <a:alpha val="10000"/>
            </a:schemeClr>
          </a:solidFill>
          <a:ln w="9525">
            <a:solidFill>
              <a:srgbClr val="3D5A82"/>
            </a:solidFill>
            <a:prstDash val="solid"/>
          </a:ln>
        </p:spPr>
      </p:sp>
      <p:sp>
        <p:nvSpPr>
          <p:cNvPr id="17" name="Text 15"/>
          <p:cNvSpPr txBox="1"/>
          <p:nvPr/>
        </p:nvSpPr>
        <p:spPr>
          <a:xfrm>
            <a:off x="3611880" y="5276088"/>
            <a:ext cx="2606040" cy="658368"/>
          </a:xfrm>
          <a:prstGeom prst="rect">
            <a:avLst/>
          </a:prstGeom>
          <a:noFill/>
          <a:ln/>
        </p:spPr>
        <p:txBody>
          <a:bodyPr wrap="square" lIns="0" tIns="0" rIns="0" bIns="0" rtlCol="0" anchor="ctr"/>
          <a:lstStyle/>
          <a:p>
            <a:pPr indent="0" marL="0">
              <a:buNone/>
            </a:pPr>
            <a:r>
              <a:rPr lang="en-US" sz="1100" dirty="0">
                <a:solidFill>
                  <a:srgbClr val="A9BDD8"/>
                </a:solidFill>
              </a:rPr>
              <a:t>Team Name</a:t>
            </a:r>
            <a:endParaRPr lang="en-US" sz="1100" dirty="0"/>
          </a:p>
          <a:p>
            <a:pPr indent="0" marL="0">
              <a:buNone/>
            </a:pPr>
            <a:r>
              <a:rPr lang="en-US" sz="1500" b="1" dirty="0">
                <a:solidFill>
                  <a:srgbClr val="FFFFFF"/>
                </a:solidFill>
              </a:rPr>
              <a:t>AI Riders</a:t>
            </a:r>
            <a:endParaRPr lang="en-US" sz="1100" dirty="0"/>
          </a:p>
        </p:txBody>
      </p:sp>
      <p:sp>
        <p:nvSpPr>
          <p:cNvPr id="18" name="Shape 16"/>
          <p:cNvSpPr/>
          <p:nvPr/>
        </p:nvSpPr>
        <p:spPr>
          <a:xfrm>
            <a:off x="6638544" y="649224"/>
            <a:ext cx="5102352" cy="3216402"/>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19" name="AICTE national dashboard" descr="AICTE national dashboard">    </p:cNvPr>
          <p:cNvPicPr>
            <a:picLocks noChangeAspect="1"/>
          </p:cNvPicPr>
          <p:nvPr/>
        </p:nvPicPr>
        <p:blipFill>
          <a:blip r:embed="rId1"/>
          <a:stretch>
            <a:fillRect/>
          </a:stretch>
        </p:blipFill>
        <p:spPr>
          <a:xfrm>
            <a:off x="6675120" y="685800"/>
            <a:ext cx="5029200" cy="3143250"/>
          </a:xfrm>
          <a:prstGeom prst="rect">
            <a:avLst/>
          </a:prstGeom>
        </p:spPr>
      </p:pic>
      <p:sp>
        <p:nvSpPr>
          <p:cNvPr id="20" name="Shape 17"/>
          <p:cNvSpPr/>
          <p:nvPr/>
        </p:nvSpPr>
        <p:spPr>
          <a:xfrm>
            <a:off x="8238744" y="3895344"/>
            <a:ext cx="3502152" cy="2497562"/>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21" name="Certificate with APAAR ID and QR" descr="Certificate with APAAR ID and QR">    </p:cNvPr>
          <p:cNvPicPr>
            <a:picLocks noChangeAspect="1"/>
          </p:cNvPicPr>
          <p:nvPr/>
        </p:nvPicPr>
        <p:blipFill>
          <a:blip r:embed="rId2"/>
          <a:stretch>
            <a:fillRect/>
          </a:stretch>
        </p:blipFill>
        <p:spPr>
          <a:xfrm>
            <a:off x="8275320" y="3931920"/>
            <a:ext cx="3429000" cy="2424410"/>
          </a:xfrm>
          <a:prstGeom prst="rect">
            <a:avLst/>
          </a:prstGeom>
        </p:spPr>
      </p:pic>
      <p:sp>
        <p:nvSpPr>
          <p:cNvPr id="22" name="Text 18"/>
          <p:cNvSpPr txBox="1"/>
          <p:nvPr/>
        </p:nvSpPr>
        <p:spPr>
          <a:xfrm>
            <a:off x="6675120" y="4069080"/>
            <a:ext cx="1463040" cy="2011680"/>
          </a:xfrm>
          <a:prstGeom prst="rect">
            <a:avLst/>
          </a:prstGeom>
          <a:noFill/>
          <a:ln/>
        </p:spPr>
        <p:txBody>
          <a:bodyPr wrap="square" lIns="0" tIns="0" rIns="0" bIns="0" rtlCol="0" anchor="t"/>
          <a:lstStyle/>
          <a:p>
            <a:pPr indent="0" marL="0">
              <a:buNone/>
            </a:pPr>
            <a:r>
              <a:rPr lang="en-US" sz="1100" dirty="0">
                <a:solidFill>
                  <a:srgbClr val="A9BDD8"/>
                </a:solidFill>
              </a:rPr>
              <a:t>Working prototype: national dashboard and a certificate carrying APAAR ID + student ID + signed QR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PROPOSED SOLUTION</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An APAAR-keyed student register, validated before storage</a:t>
            </a:r>
            <a:endParaRPr lang="en-US" sz="2800" dirty="0"/>
          </a:p>
        </p:txBody>
      </p:sp>
      <p:sp>
        <p:nvSpPr>
          <p:cNvPr id="4" name="Shape 2"/>
          <p:cNvSpPr/>
          <p:nvPr/>
        </p:nvSpPr>
        <p:spPr>
          <a:xfrm>
            <a:off x="502920" y="1371600"/>
            <a:ext cx="3657600" cy="2103120"/>
          </a:xfrm>
          <a:prstGeom prst="roundRect">
            <a:avLst>
              <a:gd name="adj" fmla="val 3478"/>
            </a:avLst>
          </a:prstGeom>
          <a:solidFill>
            <a:schemeClr val="bg2"/>
          </a:solidFill>
          <a:ln w="9525">
            <a:solidFill>
              <a:srgbClr val="D7E2F1"/>
            </a:solidFill>
            <a:prstDash val="solid"/>
          </a:ln>
        </p:spPr>
      </p:sp>
      <p:sp>
        <p:nvSpPr>
          <p:cNvPr id="5" name="Text 3"/>
          <p:cNvSpPr txBox="1"/>
          <p:nvPr/>
        </p:nvSpPr>
        <p:spPr>
          <a:xfrm>
            <a:off x="685800" y="1481328"/>
            <a:ext cx="3337560" cy="19202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gap today</a:t>
            </a:r>
            <a:endParaRPr lang="en-US" sz="1300" dirty="0"/>
          </a:p>
          <a:p>
            <a:pPr marL="342900" indent="-342900">
              <a:spcAft>
                <a:spcPts val="400"/>
              </a:spcAft>
              <a:buSzPct val="100000"/>
              <a:buChar char="•"/>
            </a:pPr>
            <a:r>
              <a:rPr lang="en-US" sz="1300" dirty="0">
                <a:solidFill>
                  <a:schemeClr val="tx1"/>
                </a:solidFill>
              </a:rPr>
              <a:t>Only PGDM institutions send student-level data; the rest report totals at approval time</a:t>
            </a:r>
            <a:endParaRPr lang="en-US" sz="1300" dirty="0"/>
          </a:p>
          <a:p>
            <a:pPr marL="342900" indent="-342900">
              <a:spcAft>
                <a:spcPts val="400"/>
              </a:spcAft>
              <a:buSzPct val="100000"/>
              <a:buChar char="•"/>
            </a:pPr>
            <a:r>
              <a:rPr lang="en-US" sz="1300" dirty="0">
                <a:solidFill>
                  <a:schemeClr val="tx1"/>
                </a:solidFill>
              </a:rPr>
              <a:t>Excess admissions and dual enrolment surface late, if at all</a:t>
            </a:r>
            <a:endParaRPr lang="en-US" sz="1300" dirty="0"/>
          </a:p>
          <a:p>
            <a:pPr marL="342900" indent="-342900">
              <a:buSzPct val="100000"/>
              <a:buChar char="•"/>
            </a:pPr>
            <a:r>
              <a:rPr lang="en-US" sz="1300" dirty="0">
                <a:solidFill>
                  <a:schemeClr val="tx1"/>
                </a:solidFill>
              </a:rPr>
              <a:t>Employers and regulators cannot verify a student's record at source</a:t>
            </a:r>
            <a:endParaRPr lang="en-US" sz="1300" dirty="0"/>
          </a:p>
        </p:txBody>
      </p:sp>
      <p:sp>
        <p:nvSpPr>
          <p:cNvPr id="6" name="Shape 4"/>
          <p:cNvSpPr/>
          <p:nvPr/>
        </p:nvSpPr>
        <p:spPr>
          <a:xfrm>
            <a:off x="502920" y="3611880"/>
            <a:ext cx="3657600" cy="1783080"/>
          </a:xfrm>
          <a:prstGeom prst="roundRect">
            <a:avLst>
              <a:gd name="adj" fmla="val 4103"/>
            </a:avLst>
          </a:prstGeom>
          <a:solidFill>
            <a:schemeClr val="bg1"/>
          </a:solidFill>
          <a:ln w="9525">
            <a:solidFill>
              <a:srgbClr val="E1E0D9"/>
            </a:solidFill>
            <a:prstDash val="solid"/>
          </a:ln>
        </p:spPr>
      </p:sp>
      <p:sp>
        <p:nvSpPr>
          <p:cNvPr id="7" name="Text 5"/>
          <p:cNvSpPr txBox="1"/>
          <p:nvPr/>
        </p:nvSpPr>
        <p:spPr>
          <a:xfrm>
            <a:off x="685800" y="3703320"/>
            <a:ext cx="3337560" cy="164592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built</a:t>
            </a:r>
            <a:endParaRPr lang="en-US" sz="1250" dirty="0"/>
          </a:p>
          <a:p>
            <a:pPr indent="0" marL="0">
              <a:buNone/>
            </a:pPr>
            <a:r>
              <a:rPr lang="en-US" sz="1250" dirty="0">
                <a:solidFill>
                  <a:schemeClr val="tx1"/>
                </a:solidFill>
              </a:rPr>
              <a:t>A portal and API where each AICTE-approved institution submits student data after admissions. Every row is checked against APAAR, the approved intake and every other institution before it is stored. AICTE then monitors it live, and employers verify it only with the student's consent.</a:t>
            </a:r>
            <a:endParaRPr lang="en-US" sz="1250" dirty="0"/>
          </a:p>
        </p:txBody>
      </p:sp>
      <p:sp>
        <p:nvSpPr>
          <p:cNvPr id="8" name="Shape 6"/>
          <p:cNvSpPr/>
          <p:nvPr/>
        </p:nvSpPr>
        <p:spPr>
          <a:xfrm>
            <a:off x="502920" y="5532120"/>
            <a:ext cx="3657600" cy="777240"/>
          </a:xfrm>
          <a:prstGeom prst="roundRect">
            <a:avLst>
              <a:gd name="adj" fmla="val 9412"/>
            </a:avLst>
          </a:prstGeom>
          <a:solidFill>
            <a:srgbClr val="FDF3E8"/>
          </a:solidFill>
          <a:ln w="9525">
            <a:solidFill>
              <a:srgbClr val="F6D9B8"/>
            </a:solidFill>
            <a:prstDash val="solid"/>
          </a:ln>
        </p:spPr>
      </p:sp>
      <p:sp>
        <p:nvSpPr>
          <p:cNvPr id="9" name="Text 7"/>
          <p:cNvSpPr txBox="1"/>
          <p:nvPr/>
        </p:nvSpPr>
        <p:spPr>
          <a:xfrm>
            <a:off x="667512" y="5577840"/>
            <a:ext cx="3383280" cy="685800"/>
          </a:xfrm>
          <a:prstGeom prst="rect">
            <a:avLst/>
          </a:prstGeom>
          <a:noFill/>
          <a:ln/>
        </p:spPr>
        <p:txBody>
          <a:bodyPr wrap="square" lIns="0" tIns="0" rIns="0" bIns="0" rtlCol="0" anchor="ctr"/>
          <a:lstStyle/>
          <a:p>
            <a:pPr indent="0" marL="0">
              <a:buNone/>
            </a:pPr>
            <a:r>
              <a:rPr lang="en-US" sz="1200" b="1" dirty="0">
                <a:solidFill>
                  <a:srgbClr val="E07B1A"/>
                </a:solidFill>
              </a:rPr>
              <a:t>Inclusive by design: </a:t>
            </a:r>
            <a:pPr indent="0" marL="0">
              <a:buNone/>
            </a:pPr>
            <a:r>
              <a:rPr lang="en-US" sz="1200" dirty="0">
                <a:solidFill>
                  <a:srgbClr val="0B0B0B"/>
                </a:solidFill>
              </a:rPr>
              <a:t>students who opt out of APAAR, and FN / OCI students, get a provisional ID. They are noted, never rejected.</a:t>
            </a:r>
            <a:endParaRPr lang="en-US" sz="1200" dirty="0"/>
          </a:p>
        </p:txBody>
      </p:sp>
      <p:sp>
        <p:nvSpPr>
          <p:cNvPr id="10" name="Shape 8"/>
          <p:cNvSpPr/>
          <p:nvPr/>
        </p:nvSpPr>
        <p:spPr>
          <a:xfrm>
            <a:off x="5350231" y="1673352"/>
            <a:ext cx="587197" cy="0"/>
          </a:xfrm>
          <a:prstGeom prst="line">
            <a:avLst/>
          </a:prstGeom>
          <a:noFill/>
          <a:ln w="19050">
            <a:solidFill>
              <a:srgbClr val="C3C2B7"/>
            </a:solidFill>
            <a:prstDash val="solid"/>
            <a:tailEnd type="triangle"/>
          </a:ln>
        </p:spPr>
      </p:sp>
      <p:sp>
        <p:nvSpPr>
          <p:cNvPr id="11" name="Shape 9"/>
          <p:cNvSpPr/>
          <p:nvPr/>
        </p:nvSpPr>
        <p:spPr>
          <a:xfrm>
            <a:off x="4765015" y="1399032"/>
            <a:ext cx="548640" cy="548640"/>
          </a:xfrm>
          <a:prstGeom prst="ellipse">
            <a:avLst/>
          </a:prstGeom>
          <a:solidFill>
            <a:srgbClr val="E07B1A"/>
          </a:solidFill>
          <a:ln w="12700">
            <a:solidFill>
              <a:srgbClr val="E07B1A"/>
            </a:solidFill>
            <a:prstDash val="solid"/>
          </a:ln>
        </p:spPr>
      </p:sp>
      <p:pic>
        <p:nvPicPr>
          <p:cNvPr id="12" name="Image 0" descr="preencoded.png">    </p:cNvPr>
          <p:cNvPicPr>
            <a:picLocks noChangeAspect="1"/>
          </p:cNvPicPr>
          <p:nvPr/>
        </p:nvPicPr>
        <p:blipFill>
          <a:blip r:embed="rId1"/>
          <a:stretch>
            <a:fillRect/>
          </a:stretch>
        </p:blipFill>
        <p:spPr>
          <a:xfrm>
            <a:off x="4896688" y="1530706"/>
            <a:ext cx="285293" cy="285293"/>
          </a:xfrm>
          <a:prstGeom prst="rect">
            <a:avLst/>
          </a:prstGeom>
        </p:spPr>
      </p:pic>
      <p:sp>
        <p:nvSpPr>
          <p:cNvPr id="13" name="Text 10"/>
          <p:cNvSpPr txBox="1"/>
          <p:nvPr/>
        </p:nvSpPr>
        <p:spPr>
          <a:xfrm>
            <a:off x="4434840"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Institution upload</a:t>
            </a:r>
            <a:endParaRPr lang="en-US" sz="1150" dirty="0"/>
          </a:p>
        </p:txBody>
      </p:sp>
      <p:sp>
        <p:nvSpPr>
          <p:cNvPr id="14" name="Shape 11"/>
          <p:cNvSpPr/>
          <p:nvPr/>
        </p:nvSpPr>
        <p:spPr>
          <a:xfrm>
            <a:off x="6559220" y="1673352"/>
            <a:ext cx="587197" cy="0"/>
          </a:xfrm>
          <a:prstGeom prst="line">
            <a:avLst/>
          </a:prstGeom>
          <a:noFill/>
          <a:ln w="19050">
            <a:solidFill>
              <a:srgbClr val="C3C2B7"/>
            </a:solidFill>
            <a:prstDash val="solid"/>
            <a:tailEnd type="triangle"/>
          </a:ln>
        </p:spPr>
      </p:sp>
      <p:sp>
        <p:nvSpPr>
          <p:cNvPr id="15" name="Shape 12"/>
          <p:cNvSpPr/>
          <p:nvPr/>
        </p:nvSpPr>
        <p:spPr>
          <a:xfrm>
            <a:off x="5974004" y="1399032"/>
            <a:ext cx="548640" cy="548640"/>
          </a:xfrm>
          <a:prstGeom prst="ellipse">
            <a:avLst/>
          </a:prstGeom>
          <a:solidFill>
            <a:srgbClr val="14325C"/>
          </a:solidFill>
          <a:ln w="12700">
            <a:solidFill>
              <a:srgbClr val="14325C"/>
            </a:solidFill>
            <a:prstDash val="solid"/>
          </a:ln>
        </p:spPr>
      </p:sp>
      <p:pic>
        <p:nvPicPr>
          <p:cNvPr id="16" name="Image 1" descr="preencoded.png">    </p:cNvPr>
          <p:cNvPicPr>
            <a:picLocks noChangeAspect="1"/>
          </p:cNvPicPr>
          <p:nvPr/>
        </p:nvPicPr>
        <p:blipFill>
          <a:blip r:embed="rId2"/>
          <a:stretch>
            <a:fillRect/>
          </a:stretch>
        </p:blipFill>
        <p:spPr>
          <a:xfrm>
            <a:off x="6105677" y="1530706"/>
            <a:ext cx="285293" cy="285293"/>
          </a:xfrm>
          <a:prstGeom prst="rect">
            <a:avLst/>
          </a:prstGeom>
        </p:spPr>
      </p:pic>
      <p:sp>
        <p:nvSpPr>
          <p:cNvPr id="17" name="Text 13"/>
          <p:cNvSpPr txBox="1"/>
          <p:nvPr/>
        </p:nvSpPr>
        <p:spPr>
          <a:xfrm>
            <a:off x="5643829"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APAAR validation</a:t>
            </a:r>
            <a:endParaRPr lang="en-US" sz="1150" dirty="0"/>
          </a:p>
        </p:txBody>
      </p:sp>
      <p:sp>
        <p:nvSpPr>
          <p:cNvPr id="18" name="Shape 14"/>
          <p:cNvSpPr/>
          <p:nvPr/>
        </p:nvSpPr>
        <p:spPr>
          <a:xfrm>
            <a:off x="7768209" y="1673352"/>
            <a:ext cx="587197" cy="0"/>
          </a:xfrm>
          <a:prstGeom prst="line">
            <a:avLst/>
          </a:prstGeom>
          <a:noFill/>
          <a:ln w="19050">
            <a:solidFill>
              <a:srgbClr val="C3C2B7"/>
            </a:solidFill>
            <a:prstDash val="solid"/>
            <a:tailEnd type="triangle"/>
          </a:ln>
        </p:spPr>
      </p:sp>
      <p:sp>
        <p:nvSpPr>
          <p:cNvPr id="19" name="Shape 15"/>
          <p:cNvSpPr/>
          <p:nvPr/>
        </p:nvSpPr>
        <p:spPr>
          <a:xfrm>
            <a:off x="7182993" y="1399032"/>
            <a:ext cx="548640" cy="548640"/>
          </a:xfrm>
          <a:prstGeom prst="ellipse">
            <a:avLst/>
          </a:prstGeom>
          <a:solidFill>
            <a:srgbClr val="14325C"/>
          </a:solidFill>
          <a:ln w="12700">
            <a:solidFill>
              <a:srgbClr val="14325C"/>
            </a:solidFill>
            <a:prstDash val="solid"/>
          </a:ln>
        </p:spPr>
      </p:sp>
      <p:pic>
        <p:nvPicPr>
          <p:cNvPr id="20" name="Image 2" descr="preencoded.png">    </p:cNvPr>
          <p:cNvPicPr>
            <a:picLocks noChangeAspect="1"/>
          </p:cNvPicPr>
          <p:nvPr/>
        </p:nvPicPr>
        <p:blipFill>
          <a:blip r:embed="rId3"/>
          <a:stretch>
            <a:fillRect/>
          </a:stretch>
        </p:blipFill>
        <p:spPr>
          <a:xfrm>
            <a:off x="7314667" y="1530706"/>
            <a:ext cx="285293" cy="285293"/>
          </a:xfrm>
          <a:prstGeom prst="rect">
            <a:avLst/>
          </a:prstGeom>
        </p:spPr>
      </p:pic>
      <p:sp>
        <p:nvSpPr>
          <p:cNvPr id="21" name="Text 16"/>
          <p:cNvSpPr txBox="1"/>
          <p:nvPr/>
        </p:nvSpPr>
        <p:spPr>
          <a:xfrm>
            <a:off x="6852818"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Data verification</a:t>
            </a:r>
            <a:endParaRPr lang="en-US" sz="1150" dirty="0"/>
          </a:p>
        </p:txBody>
      </p:sp>
      <p:sp>
        <p:nvSpPr>
          <p:cNvPr id="22" name="Shape 17"/>
          <p:cNvSpPr/>
          <p:nvPr/>
        </p:nvSpPr>
        <p:spPr>
          <a:xfrm>
            <a:off x="8977198" y="1673352"/>
            <a:ext cx="587197" cy="0"/>
          </a:xfrm>
          <a:prstGeom prst="line">
            <a:avLst/>
          </a:prstGeom>
          <a:noFill/>
          <a:ln w="19050">
            <a:solidFill>
              <a:srgbClr val="C3C2B7"/>
            </a:solidFill>
            <a:prstDash val="solid"/>
            <a:tailEnd type="triangle"/>
          </a:ln>
        </p:spPr>
      </p:sp>
      <p:sp>
        <p:nvSpPr>
          <p:cNvPr id="23" name="Shape 18"/>
          <p:cNvSpPr/>
          <p:nvPr/>
        </p:nvSpPr>
        <p:spPr>
          <a:xfrm>
            <a:off x="8391982" y="1399032"/>
            <a:ext cx="548640" cy="548640"/>
          </a:xfrm>
          <a:prstGeom prst="ellipse">
            <a:avLst/>
          </a:prstGeom>
          <a:solidFill>
            <a:srgbClr val="14325C"/>
          </a:solidFill>
          <a:ln w="12700">
            <a:solidFill>
              <a:srgbClr val="14325C"/>
            </a:solidFill>
            <a:prstDash val="solid"/>
          </a:ln>
        </p:spPr>
      </p:sp>
      <p:pic>
        <p:nvPicPr>
          <p:cNvPr id="24" name="Image 3" descr="preencoded.png">    </p:cNvPr>
          <p:cNvPicPr>
            <a:picLocks noChangeAspect="1"/>
          </p:cNvPicPr>
          <p:nvPr/>
        </p:nvPicPr>
        <p:blipFill>
          <a:blip r:embed="rId4"/>
          <a:stretch>
            <a:fillRect/>
          </a:stretch>
        </p:blipFill>
        <p:spPr>
          <a:xfrm>
            <a:off x="8523656" y="1530706"/>
            <a:ext cx="285293" cy="285293"/>
          </a:xfrm>
          <a:prstGeom prst="rect">
            <a:avLst/>
          </a:prstGeom>
        </p:spPr>
      </p:pic>
      <p:sp>
        <p:nvSpPr>
          <p:cNvPr id="25" name="Text 19"/>
          <p:cNvSpPr txBox="1"/>
          <p:nvPr/>
        </p:nvSpPr>
        <p:spPr>
          <a:xfrm>
            <a:off x="8061808"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Central repository</a:t>
            </a:r>
            <a:endParaRPr lang="en-US" sz="1150" dirty="0"/>
          </a:p>
        </p:txBody>
      </p:sp>
      <p:sp>
        <p:nvSpPr>
          <p:cNvPr id="26" name="Shape 20"/>
          <p:cNvSpPr/>
          <p:nvPr/>
        </p:nvSpPr>
        <p:spPr>
          <a:xfrm>
            <a:off x="10186187" y="1673352"/>
            <a:ext cx="587197" cy="0"/>
          </a:xfrm>
          <a:prstGeom prst="line">
            <a:avLst/>
          </a:prstGeom>
          <a:noFill/>
          <a:ln w="19050">
            <a:solidFill>
              <a:srgbClr val="C3C2B7"/>
            </a:solidFill>
            <a:prstDash val="solid"/>
            <a:tailEnd type="triangle"/>
          </a:ln>
        </p:spPr>
      </p:sp>
      <p:sp>
        <p:nvSpPr>
          <p:cNvPr id="27" name="Shape 21"/>
          <p:cNvSpPr/>
          <p:nvPr/>
        </p:nvSpPr>
        <p:spPr>
          <a:xfrm>
            <a:off x="9600971" y="1399032"/>
            <a:ext cx="548640" cy="548640"/>
          </a:xfrm>
          <a:prstGeom prst="ellipse">
            <a:avLst/>
          </a:prstGeom>
          <a:solidFill>
            <a:srgbClr val="14325C"/>
          </a:solidFill>
          <a:ln w="12700">
            <a:solidFill>
              <a:srgbClr val="14325C"/>
            </a:solidFill>
            <a:prstDash val="solid"/>
          </a:ln>
        </p:spPr>
      </p:sp>
      <p:pic>
        <p:nvPicPr>
          <p:cNvPr id="28" name="Image 4" descr="preencoded.png">    </p:cNvPr>
          <p:cNvPicPr>
            <a:picLocks noChangeAspect="1"/>
          </p:cNvPicPr>
          <p:nvPr/>
        </p:nvPicPr>
        <p:blipFill>
          <a:blip r:embed="rId5"/>
          <a:stretch>
            <a:fillRect/>
          </a:stretch>
        </p:blipFill>
        <p:spPr>
          <a:xfrm>
            <a:off x="9732645" y="1530706"/>
            <a:ext cx="285293" cy="285293"/>
          </a:xfrm>
          <a:prstGeom prst="rect">
            <a:avLst/>
          </a:prstGeom>
        </p:spPr>
      </p:pic>
      <p:sp>
        <p:nvSpPr>
          <p:cNvPr id="29" name="Text 22"/>
          <p:cNvSpPr txBox="1"/>
          <p:nvPr/>
        </p:nvSpPr>
        <p:spPr>
          <a:xfrm>
            <a:off x="9270797"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Analytics &amp; monitoring</a:t>
            </a:r>
            <a:endParaRPr lang="en-US" sz="1150" dirty="0"/>
          </a:p>
        </p:txBody>
      </p:sp>
      <p:sp>
        <p:nvSpPr>
          <p:cNvPr id="30" name="Shape 23"/>
          <p:cNvSpPr/>
          <p:nvPr/>
        </p:nvSpPr>
        <p:spPr>
          <a:xfrm>
            <a:off x="10809961" y="1399032"/>
            <a:ext cx="548640" cy="548640"/>
          </a:xfrm>
          <a:prstGeom prst="ellipse">
            <a:avLst/>
          </a:prstGeom>
          <a:solidFill>
            <a:srgbClr val="E07B1A"/>
          </a:solidFill>
          <a:ln w="12700">
            <a:solidFill>
              <a:srgbClr val="E07B1A"/>
            </a:solidFill>
            <a:prstDash val="solid"/>
          </a:ln>
        </p:spPr>
      </p:sp>
      <p:pic>
        <p:nvPicPr>
          <p:cNvPr id="31" name="Image 5" descr="preencoded.png">    </p:cNvPr>
          <p:cNvPicPr>
            <a:picLocks noChangeAspect="1"/>
          </p:cNvPicPr>
          <p:nvPr/>
        </p:nvPicPr>
        <p:blipFill>
          <a:blip r:embed="rId6"/>
          <a:stretch>
            <a:fillRect/>
          </a:stretch>
        </p:blipFill>
        <p:spPr>
          <a:xfrm>
            <a:off x="10941634" y="1530706"/>
            <a:ext cx="285293" cy="285293"/>
          </a:xfrm>
          <a:prstGeom prst="rect">
            <a:avLst/>
          </a:prstGeom>
        </p:spPr>
      </p:pic>
      <p:sp>
        <p:nvSpPr>
          <p:cNvPr id="32" name="Text 24"/>
          <p:cNvSpPr txBox="1"/>
          <p:nvPr/>
        </p:nvSpPr>
        <p:spPr>
          <a:xfrm>
            <a:off x="10479786"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Authorised verification</a:t>
            </a:r>
            <a:endParaRPr lang="en-US" sz="1150" dirty="0"/>
          </a:p>
        </p:txBody>
      </p:sp>
      <p:sp>
        <p:nvSpPr>
          <p:cNvPr id="33" name="Shape 25"/>
          <p:cNvSpPr/>
          <p:nvPr/>
        </p:nvSpPr>
        <p:spPr>
          <a:xfrm>
            <a:off x="4434840"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34" name="Shape 26"/>
          <p:cNvSpPr/>
          <p:nvPr/>
        </p:nvSpPr>
        <p:spPr>
          <a:xfrm>
            <a:off x="4599432" y="2788920"/>
            <a:ext cx="420624" cy="420624"/>
          </a:xfrm>
          <a:prstGeom prst="ellipse">
            <a:avLst/>
          </a:prstGeom>
          <a:solidFill>
            <a:srgbClr val="14325C"/>
          </a:solidFill>
          <a:ln w="12700">
            <a:solidFill>
              <a:srgbClr val="14325C"/>
            </a:solidFill>
            <a:prstDash val="solid"/>
          </a:ln>
        </p:spPr>
      </p:sp>
      <p:pic>
        <p:nvPicPr>
          <p:cNvPr id="35" name="Image 6" descr="preencoded.png">    </p:cNvPr>
          <p:cNvPicPr>
            <a:picLocks noChangeAspect="1"/>
          </p:cNvPicPr>
          <p:nvPr/>
        </p:nvPicPr>
        <p:blipFill>
          <a:blip r:embed="rId7"/>
          <a:stretch>
            <a:fillRect/>
          </a:stretch>
        </p:blipFill>
        <p:spPr>
          <a:xfrm>
            <a:off x="4700382" y="2889870"/>
            <a:ext cx="218724" cy="218724"/>
          </a:xfrm>
          <a:prstGeom prst="rect">
            <a:avLst/>
          </a:prstGeom>
        </p:spPr>
      </p:pic>
      <p:sp>
        <p:nvSpPr>
          <p:cNvPr id="36" name="Text 27"/>
          <p:cNvSpPr txBox="1"/>
          <p:nvPr/>
        </p:nvSpPr>
        <p:spPr>
          <a:xfrm>
            <a:off x="5120640"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Explainable validation</a:t>
            </a:r>
            <a:endParaRPr lang="en-US" sz="1400" dirty="0"/>
          </a:p>
        </p:txBody>
      </p:sp>
      <p:sp>
        <p:nvSpPr>
          <p:cNvPr id="37" name="Text 28"/>
          <p:cNvSpPr txBox="1"/>
          <p:nvPr/>
        </p:nvSpPr>
        <p:spPr>
          <a:xfrm>
            <a:off x="4599432"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25 rule codes (APR, DUP, INT, CON), each with evidence and the ruleset version</a:t>
            </a:r>
            <a:endParaRPr lang="en-US" sz="1200" dirty="0"/>
          </a:p>
        </p:txBody>
      </p:sp>
      <p:sp>
        <p:nvSpPr>
          <p:cNvPr id="38" name="Shape 29"/>
          <p:cNvSpPr/>
          <p:nvPr/>
        </p:nvSpPr>
        <p:spPr>
          <a:xfrm>
            <a:off x="6898538"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39" name="Shape 30"/>
          <p:cNvSpPr/>
          <p:nvPr/>
        </p:nvSpPr>
        <p:spPr>
          <a:xfrm>
            <a:off x="7063130" y="2788920"/>
            <a:ext cx="420624" cy="420624"/>
          </a:xfrm>
          <a:prstGeom prst="ellipse">
            <a:avLst/>
          </a:prstGeom>
          <a:solidFill>
            <a:srgbClr val="14325C"/>
          </a:solidFill>
          <a:ln w="12700">
            <a:solidFill>
              <a:srgbClr val="14325C"/>
            </a:solidFill>
            <a:prstDash val="solid"/>
          </a:ln>
        </p:spPr>
      </p:sp>
      <p:pic>
        <p:nvPicPr>
          <p:cNvPr id="40" name="Image 7" descr="preencoded.png">    </p:cNvPr>
          <p:cNvPicPr>
            <a:picLocks noChangeAspect="1"/>
          </p:cNvPicPr>
          <p:nvPr/>
        </p:nvPicPr>
        <p:blipFill>
          <a:blip r:embed="rId8"/>
          <a:stretch>
            <a:fillRect/>
          </a:stretch>
        </p:blipFill>
        <p:spPr>
          <a:xfrm>
            <a:off x="7164080" y="2889870"/>
            <a:ext cx="218724" cy="218724"/>
          </a:xfrm>
          <a:prstGeom prst="rect">
            <a:avLst/>
          </a:prstGeom>
        </p:spPr>
      </p:pic>
      <p:sp>
        <p:nvSpPr>
          <p:cNvPr id="41" name="Text 31"/>
          <p:cNvSpPr txBox="1"/>
          <p:nvPr/>
        </p:nvSpPr>
        <p:spPr>
          <a:xfrm>
            <a:off x="7584338"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Live seat ledger</a:t>
            </a:r>
            <a:endParaRPr lang="en-US" sz="1400" dirty="0"/>
          </a:p>
        </p:txBody>
      </p:sp>
      <p:sp>
        <p:nvSpPr>
          <p:cNvPr id="42" name="Text 32"/>
          <p:cNvSpPr txBox="1"/>
          <p:nvPr/>
        </p:nvSpPr>
        <p:spPr>
          <a:xfrm>
            <a:off x="7063130"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Admission #61 in a 60-seat programme is stopped at upload; supernumerary caps per APH</a:t>
            </a:r>
            <a:endParaRPr lang="en-US" sz="1200" dirty="0"/>
          </a:p>
        </p:txBody>
      </p:sp>
      <p:sp>
        <p:nvSpPr>
          <p:cNvPr id="43" name="Shape 33"/>
          <p:cNvSpPr/>
          <p:nvPr/>
        </p:nvSpPr>
        <p:spPr>
          <a:xfrm>
            <a:off x="9362237"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44" name="Shape 34"/>
          <p:cNvSpPr/>
          <p:nvPr/>
        </p:nvSpPr>
        <p:spPr>
          <a:xfrm>
            <a:off x="9526829" y="2788920"/>
            <a:ext cx="420624" cy="420624"/>
          </a:xfrm>
          <a:prstGeom prst="ellipse">
            <a:avLst/>
          </a:prstGeom>
          <a:solidFill>
            <a:srgbClr val="14325C"/>
          </a:solidFill>
          <a:ln w="12700">
            <a:solidFill>
              <a:srgbClr val="14325C"/>
            </a:solidFill>
            <a:prstDash val="solid"/>
          </a:ln>
        </p:spPr>
      </p:sp>
      <p:pic>
        <p:nvPicPr>
          <p:cNvPr id="45" name="Image 8" descr="preencoded.png">    </p:cNvPr>
          <p:cNvPicPr>
            <a:picLocks noChangeAspect="1"/>
          </p:cNvPicPr>
          <p:nvPr/>
        </p:nvPicPr>
        <p:blipFill>
          <a:blip r:embed="rId9"/>
          <a:stretch>
            <a:fillRect/>
          </a:stretch>
        </p:blipFill>
        <p:spPr>
          <a:xfrm>
            <a:off x="9627779" y="2889870"/>
            <a:ext cx="218724" cy="218724"/>
          </a:xfrm>
          <a:prstGeom prst="rect">
            <a:avLst/>
          </a:prstGeom>
        </p:spPr>
      </p:pic>
      <p:sp>
        <p:nvSpPr>
          <p:cNvPr id="46" name="Text 35"/>
          <p:cNvSpPr txBox="1"/>
          <p:nvPr/>
        </p:nvSpPr>
        <p:spPr>
          <a:xfrm>
            <a:off x="10048037"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Cross-institution dedup</a:t>
            </a:r>
            <a:endParaRPr lang="en-US" sz="1400" dirty="0"/>
          </a:p>
        </p:txBody>
      </p:sp>
      <p:sp>
        <p:nvSpPr>
          <p:cNvPr id="47" name="Text 36"/>
          <p:cNvSpPr txBox="1"/>
          <p:nvPr/>
        </p:nvSpPr>
        <p:spPr>
          <a:xfrm>
            <a:off x="9526829"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Same APAAR at two colleges, and the same person under a different APAAR (fuzzy match)</a:t>
            </a:r>
            <a:endParaRPr lang="en-US" sz="1200" dirty="0"/>
          </a:p>
        </p:txBody>
      </p:sp>
      <p:sp>
        <p:nvSpPr>
          <p:cNvPr id="48" name="Shape 37"/>
          <p:cNvSpPr/>
          <p:nvPr/>
        </p:nvSpPr>
        <p:spPr>
          <a:xfrm>
            <a:off x="4434840"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49" name="Shape 38"/>
          <p:cNvSpPr/>
          <p:nvPr/>
        </p:nvSpPr>
        <p:spPr>
          <a:xfrm>
            <a:off x="4599432" y="4498848"/>
            <a:ext cx="420624" cy="420624"/>
          </a:xfrm>
          <a:prstGeom prst="ellipse">
            <a:avLst/>
          </a:prstGeom>
          <a:solidFill>
            <a:srgbClr val="14325C"/>
          </a:solidFill>
          <a:ln w="12700">
            <a:solidFill>
              <a:srgbClr val="14325C"/>
            </a:solidFill>
            <a:prstDash val="solid"/>
          </a:ln>
        </p:spPr>
      </p:sp>
      <p:pic>
        <p:nvPicPr>
          <p:cNvPr id="50" name="Image 9" descr="preencoded.png">    </p:cNvPr>
          <p:cNvPicPr>
            <a:picLocks noChangeAspect="1"/>
          </p:cNvPicPr>
          <p:nvPr/>
        </p:nvPicPr>
        <p:blipFill>
          <a:blip r:embed="rId10"/>
          <a:stretch>
            <a:fillRect/>
          </a:stretch>
        </p:blipFill>
        <p:spPr>
          <a:xfrm>
            <a:off x="4700382" y="4599798"/>
            <a:ext cx="218724" cy="218724"/>
          </a:xfrm>
          <a:prstGeom prst="rect">
            <a:avLst/>
          </a:prstGeom>
        </p:spPr>
      </p:pic>
      <p:sp>
        <p:nvSpPr>
          <p:cNvPr id="51" name="Text 39"/>
          <p:cNvSpPr txBox="1"/>
          <p:nvPr/>
        </p:nvSpPr>
        <p:spPr>
          <a:xfrm>
            <a:off x="5120640"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Explainable risk score</a:t>
            </a:r>
            <a:endParaRPr lang="en-US" sz="1400" dirty="0"/>
          </a:p>
        </p:txBody>
      </p:sp>
      <p:sp>
        <p:nvSpPr>
          <p:cNvPr id="52" name="Text 40"/>
          <p:cNvSpPr txBox="1"/>
          <p:nvPr/>
        </p:nvSpPr>
        <p:spPr>
          <a:xfrm>
            <a:off x="4599432"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Isolation Forest + rule evidence ranks institutions, with plain-language reasons</a:t>
            </a:r>
            <a:endParaRPr lang="en-US" sz="1200" dirty="0"/>
          </a:p>
        </p:txBody>
      </p:sp>
      <p:sp>
        <p:nvSpPr>
          <p:cNvPr id="53" name="Shape 41"/>
          <p:cNvSpPr/>
          <p:nvPr/>
        </p:nvSpPr>
        <p:spPr>
          <a:xfrm>
            <a:off x="6898538"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4" name="Shape 42"/>
          <p:cNvSpPr/>
          <p:nvPr/>
        </p:nvSpPr>
        <p:spPr>
          <a:xfrm>
            <a:off x="7063130" y="4498848"/>
            <a:ext cx="420624" cy="420624"/>
          </a:xfrm>
          <a:prstGeom prst="ellipse">
            <a:avLst/>
          </a:prstGeom>
          <a:solidFill>
            <a:srgbClr val="14325C"/>
          </a:solidFill>
          <a:ln w="12700">
            <a:solidFill>
              <a:srgbClr val="14325C"/>
            </a:solidFill>
            <a:prstDash val="solid"/>
          </a:ln>
        </p:spPr>
      </p:sp>
      <p:pic>
        <p:nvPicPr>
          <p:cNvPr id="55" name="Image 10" descr="preencoded.png">    </p:cNvPr>
          <p:cNvPicPr>
            <a:picLocks noChangeAspect="1"/>
          </p:cNvPicPr>
          <p:nvPr/>
        </p:nvPicPr>
        <p:blipFill>
          <a:blip r:embed="rId11"/>
          <a:stretch>
            <a:fillRect/>
          </a:stretch>
        </p:blipFill>
        <p:spPr>
          <a:xfrm>
            <a:off x="7164080" y="4599798"/>
            <a:ext cx="218724" cy="218724"/>
          </a:xfrm>
          <a:prstGeom prst="rect">
            <a:avLst/>
          </a:prstGeom>
        </p:spPr>
      </p:pic>
      <p:sp>
        <p:nvSpPr>
          <p:cNvPr id="56" name="Text 43"/>
          <p:cNvSpPr txBox="1"/>
          <p:nvPr/>
        </p:nvSpPr>
        <p:spPr>
          <a:xfrm>
            <a:off x="7584338"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Consent-first verification</a:t>
            </a:r>
            <a:endParaRPr lang="en-US" sz="1400" dirty="0"/>
          </a:p>
        </p:txBody>
      </p:sp>
      <p:sp>
        <p:nvSpPr>
          <p:cNvPr id="57" name="Text 44"/>
          <p:cNvSpPr txBox="1"/>
          <p:nvPr/>
        </p:nvSpPr>
        <p:spPr>
          <a:xfrm>
            <a:off x="7063130"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Student approves by OTP; the verifier sees only the fields requested</a:t>
            </a:r>
            <a:endParaRPr lang="en-US" sz="1200" dirty="0"/>
          </a:p>
        </p:txBody>
      </p:sp>
      <p:sp>
        <p:nvSpPr>
          <p:cNvPr id="58" name="Shape 45"/>
          <p:cNvSpPr/>
          <p:nvPr/>
        </p:nvSpPr>
        <p:spPr>
          <a:xfrm>
            <a:off x="9362237"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9" name="Shape 46"/>
          <p:cNvSpPr/>
          <p:nvPr/>
        </p:nvSpPr>
        <p:spPr>
          <a:xfrm>
            <a:off x="9526829" y="4498848"/>
            <a:ext cx="420624" cy="420624"/>
          </a:xfrm>
          <a:prstGeom prst="ellipse">
            <a:avLst/>
          </a:prstGeom>
          <a:solidFill>
            <a:srgbClr val="14325C"/>
          </a:solidFill>
          <a:ln w="12700">
            <a:solidFill>
              <a:srgbClr val="14325C"/>
            </a:solidFill>
            <a:prstDash val="solid"/>
          </a:ln>
        </p:spPr>
      </p:sp>
      <p:pic>
        <p:nvPicPr>
          <p:cNvPr id="60" name="Image 11" descr="preencoded.png">    </p:cNvPr>
          <p:cNvPicPr>
            <a:picLocks noChangeAspect="1"/>
          </p:cNvPicPr>
          <p:nvPr/>
        </p:nvPicPr>
        <p:blipFill>
          <a:blip r:embed="rId12"/>
          <a:stretch>
            <a:fillRect/>
          </a:stretch>
        </p:blipFill>
        <p:spPr>
          <a:xfrm>
            <a:off x="9627779" y="4599798"/>
            <a:ext cx="218724" cy="218724"/>
          </a:xfrm>
          <a:prstGeom prst="rect">
            <a:avLst/>
          </a:prstGeom>
        </p:spPr>
      </p:pic>
      <p:sp>
        <p:nvSpPr>
          <p:cNvPr id="61" name="Text 47"/>
          <p:cNvSpPr txBox="1"/>
          <p:nvPr/>
        </p:nvSpPr>
        <p:spPr>
          <a:xfrm>
            <a:off x="10048037"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Signed records, sealed audit</a:t>
            </a:r>
            <a:endParaRPr lang="en-US" sz="1400" dirty="0"/>
          </a:p>
        </p:txBody>
      </p:sp>
      <p:sp>
        <p:nvSpPr>
          <p:cNvPr id="62" name="Text 48"/>
          <p:cNvSpPr txBox="1"/>
          <p:nvPr/>
        </p:nvSpPr>
        <p:spPr>
          <a:xfrm>
            <a:off x="9526829"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W3C credential + QR on certificates; hash-chained log exposes tampering</a:t>
            </a:r>
            <a:endParaRPr lang="en-US" sz="12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TECHNICAL APPROACH</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Modular and API-first: one codebase from demo to production</a:t>
            </a:r>
            <a:endParaRPr lang="en-US" sz="2800" dirty="0"/>
          </a:p>
        </p:txBody>
      </p:sp>
      <p:sp>
        <p:nvSpPr>
          <p:cNvPr id="4" name="Text 2"/>
          <p:cNvSpPr txBox="1"/>
          <p:nvPr/>
        </p:nvSpPr>
        <p:spPr>
          <a:xfrm>
            <a:off x="502920" y="1371600"/>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Channels</a:t>
            </a:r>
            <a:endParaRPr lang="en-US" sz="1100" dirty="0"/>
          </a:p>
        </p:txBody>
      </p:sp>
      <p:sp>
        <p:nvSpPr>
          <p:cNvPr id="5" name="Shape 3"/>
          <p:cNvSpPr/>
          <p:nvPr/>
        </p:nvSpPr>
        <p:spPr>
          <a:xfrm>
            <a:off x="1508760" y="1371600"/>
            <a:ext cx="1337310" cy="566928"/>
          </a:xfrm>
          <a:prstGeom prst="roundRect">
            <a:avLst>
              <a:gd name="adj" fmla="val 9677"/>
            </a:avLst>
          </a:prstGeom>
          <a:solidFill>
            <a:schemeClr val="bg2"/>
          </a:solidFill>
          <a:ln w="12700">
            <a:solidFill>
              <a:schemeClr val="bg2"/>
            </a:solidFill>
            <a:prstDash val="solid"/>
          </a:ln>
        </p:spPr>
      </p:sp>
      <p:sp>
        <p:nvSpPr>
          <p:cNvPr id="6" name="Text 4"/>
          <p:cNvSpPr txBox="1"/>
          <p:nvPr/>
        </p:nvSpPr>
        <p:spPr>
          <a:xfrm>
            <a:off x="156362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Institution portal</a:t>
            </a:r>
            <a:endParaRPr lang="en-US" sz="1100" dirty="0"/>
          </a:p>
          <a:p>
            <a:pPr algn="ctr" indent="0" marL="0">
              <a:buNone/>
            </a:pPr>
            <a:r>
              <a:rPr lang="en-US" sz="1100" dirty="0">
                <a:solidFill>
                  <a:schemeClr val="tx2"/>
                </a:solidFill>
              </a:rPr>
              <a:t>(Excel / CSV upload)</a:t>
            </a:r>
            <a:endParaRPr lang="en-US" sz="1100" dirty="0"/>
          </a:p>
        </p:txBody>
      </p:sp>
      <p:sp>
        <p:nvSpPr>
          <p:cNvPr id="7" name="Shape 5"/>
          <p:cNvSpPr/>
          <p:nvPr/>
        </p:nvSpPr>
        <p:spPr>
          <a:xfrm>
            <a:off x="2937510" y="1371600"/>
            <a:ext cx="1337310" cy="566928"/>
          </a:xfrm>
          <a:prstGeom prst="roundRect">
            <a:avLst>
              <a:gd name="adj" fmla="val 9677"/>
            </a:avLst>
          </a:prstGeom>
          <a:solidFill>
            <a:schemeClr val="bg2"/>
          </a:solidFill>
          <a:ln w="12700">
            <a:solidFill>
              <a:schemeClr val="bg2"/>
            </a:solidFill>
            <a:prstDash val="solid"/>
          </a:ln>
        </p:spPr>
      </p:sp>
      <p:sp>
        <p:nvSpPr>
          <p:cNvPr id="8" name="Text 6"/>
          <p:cNvSpPr txBox="1"/>
          <p:nvPr/>
        </p:nvSpPr>
        <p:spPr>
          <a:xfrm>
            <a:off x="299237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ERP &amp; university</a:t>
            </a:r>
            <a:endParaRPr lang="en-US" sz="1100" dirty="0"/>
          </a:p>
          <a:p>
            <a:pPr algn="ctr" indent="0" marL="0">
              <a:buNone/>
            </a:pPr>
            <a:r>
              <a:rPr lang="en-US" sz="1100" dirty="0">
                <a:solidFill>
                  <a:schemeClr val="tx2"/>
                </a:solidFill>
              </a:rPr>
              <a:t>REST API</a:t>
            </a:r>
            <a:endParaRPr lang="en-US" sz="1100" dirty="0"/>
          </a:p>
        </p:txBody>
      </p:sp>
      <p:sp>
        <p:nvSpPr>
          <p:cNvPr id="9" name="Shape 7"/>
          <p:cNvSpPr/>
          <p:nvPr/>
        </p:nvSpPr>
        <p:spPr>
          <a:xfrm>
            <a:off x="4366260" y="1371600"/>
            <a:ext cx="1337310" cy="566928"/>
          </a:xfrm>
          <a:prstGeom prst="roundRect">
            <a:avLst>
              <a:gd name="adj" fmla="val 9677"/>
            </a:avLst>
          </a:prstGeom>
          <a:solidFill>
            <a:schemeClr val="bg2"/>
          </a:solidFill>
          <a:ln w="12700">
            <a:solidFill>
              <a:schemeClr val="bg2"/>
            </a:solidFill>
            <a:prstDash val="solid"/>
          </a:ln>
        </p:spPr>
      </p:sp>
      <p:sp>
        <p:nvSpPr>
          <p:cNvPr id="10" name="Text 8"/>
          <p:cNvSpPr txBox="1"/>
          <p:nvPr/>
        </p:nvSpPr>
        <p:spPr>
          <a:xfrm>
            <a:off x="442112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Student portal</a:t>
            </a:r>
            <a:endParaRPr lang="en-US" sz="1100" dirty="0"/>
          </a:p>
          <a:p>
            <a:pPr algn="ctr" indent="0" marL="0">
              <a:buNone/>
            </a:pPr>
            <a:r>
              <a:rPr lang="en-US" sz="1100" dirty="0">
                <a:solidFill>
                  <a:schemeClr val="tx2"/>
                </a:solidFill>
              </a:rPr>
              <a:t>(consent, credentials)</a:t>
            </a:r>
            <a:endParaRPr lang="en-US" sz="1100" dirty="0"/>
          </a:p>
        </p:txBody>
      </p:sp>
      <p:sp>
        <p:nvSpPr>
          <p:cNvPr id="11" name="Shape 9"/>
          <p:cNvSpPr/>
          <p:nvPr/>
        </p:nvSpPr>
        <p:spPr>
          <a:xfrm>
            <a:off x="5795010" y="1371600"/>
            <a:ext cx="1337310" cy="566928"/>
          </a:xfrm>
          <a:prstGeom prst="roundRect">
            <a:avLst>
              <a:gd name="adj" fmla="val 9677"/>
            </a:avLst>
          </a:prstGeom>
          <a:solidFill>
            <a:schemeClr val="bg2"/>
          </a:solidFill>
          <a:ln w="12700">
            <a:solidFill>
              <a:schemeClr val="bg2"/>
            </a:solidFill>
            <a:prstDash val="solid"/>
          </a:ln>
        </p:spPr>
      </p:sp>
      <p:sp>
        <p:nvSpPr>
          <p:cNvPr id="12" name="Text 10"/>
          <p:cNvSpPr txBox="1"/>
          <p:nvPr/>
        </p:nvSpPr>
        <p:spPr>
          <a:xfrm>
            <a:off x="584987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Employer / regulator</a:t>
            </a:r>
            <a:endParaRPr lang="en-US" sz="1100" dirty="0"/>
          </a:p>
          <a:p>
            <a:pPr algn="ctr" indent="0" marL="0">
              <a:buNone/>
            </a:pPr>
            <a:r>
              <a:rPr lang="en-US" sz="1100" dirty="0">
                <a:solidFill>
                  <a:schemeClr val="tx2"/>
                </a:solidFill>
              </a:rPr>
              <a:t>verifier</a:t>
            </a:r>
            <a:endParaRPr lang="en-US" sz="1100" dirty="0"/>
          </a:p>
        </p:txBody>
      </p:sp>
      <p:sp>
        <p:nvSpPr>
          <p:cNvPr id="13" name="Text 11"/>
          <p:cNvSpPr txBox="1"/>
          <p:nvPr/>
        </p:nvSpPr>
        <p:spPr>
          <a:xfrm>
            <a:off x="502920" y="2194560"/>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Gateway</a:t>
            </a:r>
            <a:endParaRPr lang="en-US" sz="1100" dirty="0"/>
          </a:p>
        </p:txBody>
      </p:sp>
      <p:sp>
        <p:nvSpPr>
          <p:cNvPr id="14" name="Shape 12"/>
          <p:cNvSpPr/>
          <p:nvPr/>
        </p:nvSpPr>
        <p:spPr>
          <a:xfrm>
            <a:off x="1508760" y="2194560"/>
            <a:ext cx="5623560" cy="502920"/>
          </a:xfrm>
          <a:prstGeom prst="roundRect">
            <a:avLst>
              <a:gd name="adj" fmla="val 10909"/>
            </a:avLst>
          </a:prstGeom>
          <a:solidFill>
            <a:schemeClr val="tx2"/>
          </a:solidFill>
          <a:ln w="12700">
            <a:solidFill>
              <a:schemeClr val="tx2"/>
            </a:solidFill>
            <a:prstDash val="solid"/>
          </a:ln>
        </p:spPr>
      </p:sp>
      <p:sp>
        <p:nvSpPr>
          <p:cNvPr id="15" name="Text 13"/>
          <p:cNvSpPr txBox="1"/>
          <p:nvPr/>
        </p:nvSpPr>
        <p:spPr>
          <a:xfrm>
            <a:off x="1563624" y="2194560"/>
            <a:ext cx="5513832" cy="502920"/>
          </a:xfrm>
          <a:prstGeom prst="rect">
            <a:avLst/>
          </a:prstGeom>
          <a:noFill/>
          <a:ln/>
        </p:spPr>
        <p:txBody>
          <a:bodyPr wrap="square" lIns="0" tIns="0" rIns="0" bIns="0" rtlCol="0" anchor="ctr"/>
          <a:lstStyle/>
          <a:p>
            <a:pPr algn="ctr" indent="0" marL="0">
              <a:buNone/>
            </a:pPr>
            <a:r>
              <a:rPr lang="en-US" sz="1100" b="1" dirty="0">
                <a:solidFill>
                  <a:schemeClr val="bg1"/>
                </a:solidFill>
              </a:rPr>
              <a:t>Role-based access with institution scoping, session expiry  →  production: AICTE SSO (OIDC + MFA), rate limits</a:t>
            </a:r>
            <a:endParaRPr lang="en-US" sz="1100" dirty="0"/>
          </a:p>
        </p:txBody>
      </p:sp>
      <p:sp>
        <p:nvSpPr>
          <p:cNvPr id="16" name="Text 14"/>
          <p:cNvSpPr txBox="1"/>
          <p:nvPr/>
        </p:nvSpPr>
        <p:spPr>
          <a:xfrm>
            <a:off x="502920" y="2953512"/>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Services</a:t>
            </a:r>
            <a:endParaRPr lang="en-US" sz="1100" dirty="0"/>
          </a:p>
        </p:txBody>
      </p:sp>
      <p:sp>
        <p:nvSpPr>
          <p:cNvPr id="17" name="Shape 15"/>
          <p:cNvSpPr/>
          <p:nvPr/>
        </p:nvSpPr>
        <p:spPr>
          <a:xfrm>
            <a:off x="1508760" y="2953512"/>
            <a:ext cx="1051560" cy="749808"/>
          </a:xfrm>
          <a:prstGeom prst="roundRect">
            <a:avLst>
              <a:gd name="adj" fmla="val 7317"/>
            </a:avLst>
          </a:prstGeom>
          <a:solidFill>
            <a:schemeClr val="bg1"/>
          </a:solidFill>
          <a:ln w="12700">
            <a:solidFill>
              <a:srgbClr val="C3C2B7"/>
            </a:solidFill>
            <a:prstDash val="solid"/>
          </a:ln>
        </p:spPr>
      </p:sp>
      <p:sp>
        <p:nvSpPr>
          <p:cNvPr id="18" name="Text 16"/>
          <p:cNvSpPr txBox="1"/>
          <p:nvPr/>
        </p:nvSpPr>
        <p:spPr>
          <a:xfrm>
            <a:off x="1563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Validation engine</a:t>
            </a:r>
            <a:endParaRPr lang="en-US" sz="1100" dirty="0"/>
          </a:p>
          <a:p>
            <a:pPr algn="ctr" indent="0" marL="0">
              <a:buNone/>
            </a:pPr>
            <a:r>
              <a:rPr lang="en-US" sz="1100" dirty="0">
                <a:solidFill>
                  <a:schemeClr val="tx1"/>
                </a:solidFill>
              </a:rPr>
              <a:t>(rules as code)</a:t>
            </a:r>
            <a:endParaRPr lang="en-US" sz="1100" dirty="0"/>
          </a:p>
        </p:txBody>
      </p:sp>
      <p:sp>
        <p:nvSpPr>
          <p:cNvPr id="19" name="Shape 17"/>
          <p:cNvSpPr/>
          <p:nvPr/>
        </p:nvSpPr>
        <p:spPr>
          <a:xfrm>
            <a:off x="2651760" y="2953512"/>
            <a:ext cx="1051560" cy="749808"/>
          </a:xfrm>
          <a:prstGeom prst="roundRect">
            <a:avLst>
              <a:gd name="adj" fmla="val 7317"/>
            </a:avLst>
          </a:prstGeom>
          <a:solidFill>
            <a:schemeClr val="bg1"/>
          </a:solidFill>
          <a:ln w="12700">
            <a:solidFill>
              <a:srgbClr val="C3C2B7"/>
            </a:solidFill>
            <a:prstDash val="solid"/>
          </a:ln>
        </p:spPr>
      </p:sp>
      <p:sp>
        <p:nvSpPr>
          <p:cNvPr id="20" name="Text 18"/>
          <p:cNvSpPr txBox="1"/>
          <p:nvPr/>
        </p:nvSpPr>
        <p:spPr>
          <a:xfrm>
            <a:off x="2706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APAAR registry adapter</a:t>
            </a:r>
            <a:endParaRPr lang="en-US" sz="1100" dirty="0"/>
          </a:p>
          <a:p>
            <a:pPr algn="ctr" indent="0" marL="0">
              <a:buNone/>
            </a:pPr>
            <a:r>
              <a:rPr lang="en-US" sz="1100" dirty="0">
                <a:solidFill>
                  <a:schemeClr val="tx1"/>
                </a:solidFill>
              </a:rPr>
              <a:t>mock → API Setu</a:t>
            </a:r>
            <a:endParaRPr lang="en-US" sz="1100" dirty="0"/>
          </a:p>
        </p:txBody>
      </p:sp>
      <p:sp>
        <p:nvSpPr>
          <p:cNvPr id="21" name="Shape 19"/>
          <p:cNvSpPr/>
          <p:nvPr/>
        </p:nvSpPr>
        <p:spPr>
          <a:xfrm>
            <a:off x="3794760" y="2953512"/>
            <a:ext cx="1051560" cy="749808"/>
          </a:xfrm>
          <a:prstGeom prst="roundRect">
            <a:avLst>
              <a:gd name="adj" fmla="val 7317"/>
            </a:avLst>
          </a:prstGeom>
          <a:solidFill>
            <a:schemeClr val="bg1"/>
          </a:solidFill>
          <a:ln w="12700">
            <a:solidFill>
              <a:srgbClr val="C3C2B7"/>
            </a:solidFill>
            <a:prstDash val="solid"/>
          </a:ln>
        </p:spPr>
      </p:sp>
      <p:sp>
        <p:nvSpPr>
          <p:cNvPr id="22" name="Text 20"/>
          <p:cNvSpPr txBox="1"/>
          <p:nvPr/>
        </p:nvSpPr>
        <p:spPr>
          <a:xfrm>
            <a:off x="3849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National scan +</a:t>
            </a:r>
            <a:endParaRPr lang="en-US" sz="1100" dirty="0"/>
          </a:p>
          <a:p>
            <a:pPr algn="ctr" indent="0" marL="0">
              <a:buNone/>
            </a:pPr>
            <a:r>
              <a:rPr lang="en-US" sz="1100" dirty="0">
                <a:solidFill>
                  <a:schemeClr val="tx1"/>
                </a:solidFill>
              </a:rPr>
              <a:t>ML risk score</a:t>
            </a:r>
            <a:endParaRPr lang="en-US" sz="1100" dirty="0"/>
          </a:p>
        </p:txBody>
      </p:sp>
      <p:sp>
        <p:nvSpPr>
          <p:cNvPr id="23" name="Shape 21"/>
          <p:cNvSpPr/>
          <p:nvPr/>
        </p:nvSpPr>
        <p:spPr>
          <a:xfrm>
            <a:off x="4937760" y="2953512"/>
            <a:ext cx="1051560" cy="749808"/>
          </a:xfrm>
          <a:prstGeom prst="roundRect">
            <a:avLst>
              <a:gd name="adj" fmla="val 7317"/>
            </a:avLst>
          </a:prstGeom>
          <a:solidFill>
            <a:schemeClr val="bg1"/>
          </a:solidFill>
          <a:ln w="12700">
            <a:solidFill>
              <a:srgbClr val="C3C2B7"/>
            </a:solidFill>
            <a:prstDash val="solid"/>
          </a:ln>
        </p:spPr>
      </p:sp>
      <p:sp>
        <p:nvSpPr>
          <p:cNvPr id="24" name="Text 22"/>
          <p:cNvSpPr txBox="1"/>
          <p:nvPr/>
        </p:nvSpPr>
        <p:spPr>
          <a:xfrm>
            <a:off x="4992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Consent manager</a:t>
            </a:r>
            <a:endParaRPr lang="en-US" sz="1100" dirty="0"/>
          </a:p>
          <a:p>
            <a:pPr algn="ctr" indent="0" marL="0">
              <a:buNone/>
            </a:pPr>
            <a:r>
              <a:rPr lang="en-US" sz="1100" dirty="0">
                <a:solidFill>
                  <a:schemeClr val="tx1"/>
                </a:solidFill>
              </a:rPr>
              <a:t>+ access log</a:t>
            </a:r>
            <a:endParaRPr lang="en-US" sz="1100" dirty="0"/>
          </a:p>
        </p:txBody>
      </p:sp>
      <p:sp>
        <p:nvSpPr>
          <p:cNvPr id="25" name="Shape 23"/>
          <p:cNvSpPr/>
          <p:nvPr/>
        </p:nvSpPr>
        <p:spPr>
          <a:xfrm>
            <a:off x="6080760" y="2953512"/>
            <a:ext cx="1051560" cy="749808"/>
          </a:xfrm>
          <a:prstGeom prst="roundRect">
            <a:avLst>
              <a:gd name="adj" fmla="val 7317"/>
            </a:avLst>
          </a:prstGeom>
          <a:solidFill>
            <a:schemeClr val="bg1"/>
          </a:solidFill>
          <a:ln w="12700">
            <a:solidFill>
              <a:srgbClr val="C3C2B7"/>
            </a:solidFill>
            <a:prstDash val="solid"/>
          </a:ln>
        </p:spPr>
      </p:sp>
      <p:sp>
        <p:nvSpPr>
          <p:cNvPr id="26" name="Text 24"/>
          <p:cNvSpPr txBox="1"/>
          <p:nvPr/>
        </p:nvSpPr>
        <p:spPr>
          <a:xfrm>
            <a:off x="6135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Credential issuer</a:t>
            </a:r>
            <a:endParaRPr lang="en-US" sz="1100" dirty="0"/>
          </a:p>
          <a:p>
            <a:pPr algn="ctr" indent="0" marL="0">
              <a:buNone/>
            </a:pPr>
            <a:r>
              <a:rPr lang="en-US" sz="1100" dirty="0">
                <a:solidFill>
                  <a:schemeClr val="tx1"/>
                </a:solidFill>
              </a:rPr>
              <a:t>Ed25519 · QR</a:t>
            </a:r>
            <a:endParaRPr lang="en-US" sz="1100" dirty="0"/>
          </a:p>
        </p:txBody>
      </p:sp>
      <p:sp>
        <p:nvSpPr>
          <p:cNvPr id="27" name="Text 25"/>
          <p:cNvSpPr txBox="1"/>
          <p:nvPr/>
        </p:nvSpPr>
        <p:spPr>
          <a:xfrm>
            <a:off x="502920" y="3959352"/>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Data</a:t>
            </a:r>
            <a:endParaRPr lang="en-US" sz="1100" dirty="0"/>
          </a:p>
        </p:txBody>
      </p:sp>
      <p:sp>
        <p:nvSpPr>
          <p:cNvPr id="28" name="Shape 26"/>
          <p:cNvSpPr/>
          <p:nvPr/>
        </p:nvSpPr>
        <p:spPr>
          <a:xfrm>
            <a:off x="1508760" y="3959352"/>
            <a:ext cx="1813560" cy="566928"/>
          </a:xfrm>
          <a:prstGeom prst="roundRect">
            <a:avLst>
              <a:gd name="adj" fmla="val 9677"/>
            </a:avLst>
          </a:prstGeom>
          <a:solidFill>
            <a:schemeClr val="bg2"/>
          </a:solidFill>
          <a:ln w="12700">
            <a:solidFill>
              <a:schemeClr val="bg2"/>
            </a:solidFill>
            <a:prstDash val="solid"/>
          </a:ln>
        </p:spPr>
      </p:sp>
      <p:sp>
        <p:nvSpPr>
          <p:cNvPr id="29" name="Text 27"/>
          <p:cNvSpPr txBox="1"/>
          <p:nvPr/>
        </p:nvSpPr>
        <p:spPr>
          <a:xfrm>
            <a:off x="1563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SQLite now →</a:t>
            </a:r>
            <a:endParaRPr lang="en-US" sz="1100" dirty="0"/>
          </a:p>
          <a:p>
            <a:pPr algn="ctr" indent="0" marL="0">
              <a:buNone/>
            </a:pPr>
            <a:r>
              <a:rPr lang="en-US" sz="1100" dirty="0">
                <a:solidFill>
                  <a:schemeClr val="tx2"/>
                </a:solidFill>
              </a:rPr>
              <a:t>PostgreSQL, encrypted PII</a:t>
            </a:r>
            <a:endParaRPr lang="en-US" sz="1100" dirty="0"/>
          </a:p>
        </p:txBody>
      </p:sp>
      <p:sp>
        <p:nvSpPr>
          <p:cNvPr id="30" name="Shape 28"/>
          <p:cNvSpPr/>
          <p:nvPr/>
        </p:nvSpPr>
        <p:spPr>
          <a:xfrm>
            <a:off x="3413760" y="3959352"/>
            <a:ext cx="1813560" cy="566928"/>
          </a:xfrm>
          <a:prstGeom prst="roundRect">
            <a:avLst>
              <a:gd name="adj" fmla="val 9677"/>
            </a:avLst>
          </a:prstGeom>
          <a:solidFill>
            <a:schemeClr val="bg2"/>
          </a:solidFill>
          <a:ln w="12700">
            <a:solidFill>
              <a:schemeClr val="bg2"/>
            </a:solidFill>
            <a:prstDash val="solid"/>
          </a:ln>
        </p:spPr>
      </p:sp>
      <p:sp>
        <p:nvSpPr>
          <p:cNvPr id="31" name="Text 29"/>
          <p:cNvSpPr txBox="1"/>
          <p:nvPr/>
        </p:nvSpPr>
        <p:spPr>
          <a:xfrm>
            <a:off x="3468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Hash-chained</a:t>
            </a:r>
            <a:endParaRPr lang="en-US" sz="1100" dirty="0"/>
          </a:p>
          <a:p>
            <a:pPr algn="ctr" indent="0" marL="0">
              <a:buNone/>
            </a:pPr>
            <a:r>
              <a:rPr lang="en-US" sz="1100" dirty="0">
                <a:solidFill>
                  <a:schemeClr val="tx2"/>
                </a:solidFill>
              </a:rPr>
              <a:t>audit log</a:t>
            </a:r>
            <a:endParaRPr lang="en-US" sz="1100" dirty="0"/>
          </a:p>
        </p:txBody>
      </p:sp>
      <p:sp>
        <p:nvSpPr>
          <p:cNvPr id="32" name="Shape 30"/>
          <p:cNvSpPr/>
          <p:nvPr/>
        </p:nvSpPr>
        <p:spPr>
          <a:xfrm>
            <a:off x="5318760" y="3959352"/>
            <a:ext cx="1813560" cy="566928"/>
          </a:xfrm>
          <a:prstGeom prst="roundRect">
            <a:avLst>
              <a:gd name="adj" fmla="val 9677"/>
            </a:avLst>
          </a:prstGeom>
          <a:solidFill>
            <a:schemeClr val="bg2"/>
          </a:solidFill>
          <a:ln w="12700">
            <a:solidFill>
              <a:schemeClr val="bg2"/>
            </a:solidFill>
            <a:prstDash val="solid"/>
          </a:ln>
        </p:spPr>
      </p:sp>
      <p:sp>
        <p:nvSpPr>
          <p:cNvPr id="33" name="Text 31"/>
          <p:cNvSpPr txBox="1"/>
          <p:nvPr/>
        </p:nvSpPr>
        <p:spPr>
          <a:xfrm>
            <a:off x="5373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Live dashboards (SSE)</a:t>
            </a:r>
            <a:endParaRPr lang="en-US" sz="1100" dirty="0"/>
          </a:p>
          <a:p>
            <a:pPr algn="ctr" indent="0" marL="0">
              <a:buNone/>
            </a:pPr>
            <a:r>
              <a:rPr lang="en-US" sz="1100" dirty="0">
                <a:solidFill>
                  <a:schemeClr val="tx2"/>
                </a:solidFill>
              </a:rPr>
              <a:t>&amp; reports (CSV / XLSX)</a:t>
            </a:r>
            <a:endParaRPr lang="en-US" sz="1100" dirty="0"/>
          </a:p>
        </p:txBody>
      </p:sp>
      <p:sp>
        <p:nvSpPr>
          <p:cNvPr id="34" name="Shape 32"/>
          <p:cNvSpPr/>
          <p:nvPr/>
        </p:nvSpPr>
        <p:spPr>
          <a:xfrm>
            <a:off x="4320540" y="1965960"/>
            <a:ext cx="0" cy="182880"/>
          </a:xfrm>
          <a:prstGeom prst="line">
            <a:avLst/>
          </a:prstGeom>
          <a:noFill/>
          <a:ln w="15875">
            <a:solidFill>
              <a:srgbClr val="898781"/>
            </a:solidFill>
            <a:prstDash val="solid"/>
            <a:tailEnd type="triangle"/>
          </a:ln>
        </p:spPr>
      </p:sp>
      <p:sp>
        <p:nvSpPr>
          <p:cNvPr id="35" name="Shape 33"/>
          <p:cNvSpPr/>
          <p:nvPr/>
        </p:nvSpPr>
        <p:spPr>
          <a:xfrm>
            <a:off x="4320540" y="2743200"/>
            <a:ext cx="0" cy="182880"/>
          </a:xfrm>
          <a:prstGeom prst="line">
            <a:avLst/>
          </a:prstGeom>
          <a:noFill/>
          <a:ln w="15875">
            <a:solidFill>
              <a:srgbClr val="898781"/>
            </a:solidFill>
            <a:prstDash val="solid"/>
            <a:tailEnd type="triangle"/>
          </a:ln>
        </p:spPr>
      </p:sp>
      <p:sp>
        <p:nvSpPr>
          <p:cNvPr id="36" name="Shape 34"/>
          <p:cNvSpPr/>
          <p:nvPr/>
        </p:nvSpPr>
        <p:spPr>
          <a:xfrm>
            <a:off x="4320540" y="3730752"/>
            <a:ext cx="0" cy="182880"/>
          </a:xfrm>
          <a:prstGeom prst="line">
            <a:avLst/>
          </a:prstGeom>
          <a:noFill/>
          <a:ln w="15875">
            <a:solidFill>
              <a:srgbClr val="898781"/>
            </a:solidFill>
            <a:prstDash val="solid"/>
            <a:tailEnd type="triangle"/>
          </a:ln>
        </p:spPr>
      </p:sp>
      <p:sp>
        <p:nvSpPr>
          <p:cNvPr id="37" name="Text 35"/>
          <p:cNvSpPr txBox="1"/>
          <p:nvPr/>
        </p:nvSpPr>
        <p:spPr>
          <a:xfrm>
            <a:off x="1508760" y="4572000"/>
            <a:ext cx="5623560" cy="201168"/>
          </a:xfrm>
          <a:prstGeom prst="rect">
            <a:avLst/>
          </a:prstGeom>
          <a:noFill/>
          <a:ln/>
        </p:spPr>
        <p:txBody>
          <a:bodyPr wrap="square" lIns="0" tIns="0" rIns="0" bIns="0" rtlCol="0" anchor="ctr"/>
          <a:lstStyle/>
          <a:p>
            <a:pPr indent="0" marL="0">
              <a:buNone/>
            </a:pPr>
            <a:r>
              <a:rPr lang="en-US" sz="1000" i="1" dirty="0">
                <a:solidFill>
                  <a:schemeClr val="accent6"/>
                </a:solidFill>
              </a:rPr>
              <a:t>Everything shown runs in the prototype today; text after → is the production upgrade.</a:t>
            </a:r>
            <a:endParaRPr lang="en-US" sz="1000" dirty="0"/>
          </a:p>
        </p:txBody>
      </p:sp>
      <p:sp>
        <p:nvSpPr>
          <p:cNvPr id="38" name="Shape 36"/>
          <p:cNvSpPr/>
          <p:nvPr/>
        </p:nvSpPr>
        <p:spPr>
          <a:xfrm>
            <a:off x="502920" y="4846320"/>
            <a:ext cx="6629400" cy="1188720"/>
          </a:xfrm>
          <a:prstGeom prst="roundRect">
            <a:avLst>
              <a:gd name="adj" fmla="val 6154"/>
            </a:avLst>
          </a:prstGeom>
          <a:solidFill>
            <a:schemeClr val="bg2"/>
          </a:solidFill>
          <a:ln w="9525">
            <a:solidFill>
              <a:srgbClr val="D7E2F1"/>
            </a:solidFill>
            <a:prstDash val="solid"/>
          </a:ln>
        </p:spPr>
      </p:sp>
      <p:sp>
        <p:nvSpPr>
          <p:cNvPr id="39" name="Text 37"/>
          <p:cNvSpPr txBox="1"/>
          <p:nvPr/>
        </p:nvSpPr>
        <p:spPr>
          <a:xfrm>
            <a:off x="667512" y="4937760"/>
            <a:ext cx="6309360" cy="1051560"/>
          </a:xfrm>
          <a:prstGeom prst="rect">
            <a:avLst/>
          </a:prstGeom>
          <a:noFill/>
          <a:ln/>
        </p:spPr>
        <p:txBody>
          <a:bodyPr wrap="square" lIns="0" tIns="0" rIns="0" bIns="0" rtlCol="0" anchor="t"/>
          <a:lstStyle/>
          <a:p>
            <a:pPr indent="0" marL="0">
              <a:spcAft>
                <a:spcPts val="300"/>
              </a:spcAft>
              <a:buNone/>
            </a:pPr>
            <a:r>
              <a:rPr lang="en-US" sz="1300" b="1" dirty="0">
                <a:solidFill>
                  <a:schemeClr val="tx2"/>
                </a:solidFill>
              </a:rPr>
              <a:t>How a submission flows</a:t>
            </a:r>
            <a:endParaRPr lang="en-US" sz="1250" dirty="0"/>
          </a:p>
          <a:p>
            <a:pPr indent="0" marL="0">
              <a:buNone/>
            </a:pPr>
            <a:r>
              <a:rPr lang="en-US" sz="1250" dirty="0">
                <a:solidFill>
                  <a:schemeClr val="tx1"/>
                </a:solidFill>
              </a:rPr>
              <a:t>Upload → 25 rule checks per row (57 ms for 77 rows) → valid rows committed, rejected rows returned with reasons → national re-scan across 48,053 enrolments (1.03 s) → risk scores refreshed → AICTE dashboard updates live</a:t>
            </a:r>
            <a:endParaRPr lang="en-US" sz="1250" dirty="0"/>
          </a:p>
        </p:txBody>
      </p:sp>
      <p:sp>
        <p:nvSpPr>
          <p:cNvPr id="40" name="Text 38"/>
          <p:cNvSpPr txBox="1"/>
          <p:nvPr/>
        </p:nvSpPr>
        <p:spPr>
          <a:xfrm>
            <a:off x="7452360" y="1325880"/>
            <a:ext cx="4236415" cy="274320"/>
          </a:xfrm>
          <a:prstGeom prst="rect">
            <a:avLst/>
          </a:prstGeom>
          <a:noFill/>
          <a:ln/>
        </p:spPr>
        <p:txBody>
          <a:bodyPr wrap="square" lIns="0" tIns="0" rIns="0" bIns="0" rtlCol="0" anchor="ctr"/>
          <a:lstStyle/>
          <a:p>
            <a:pPr indent="0" marL="0">
              <a:buNone/>
            </a:pPr>
            <a:r>
              <a:rPr lang="en-US" sz="1300" b="1" dirty="0">
                <a:solidFill>
                  <a:schemeClr val="tx2"/>
                </a:solidFill>
              </a:rPr>
              <a:t>Stack</a:t>
            </a:r>
            <a:endParaRPr lang="en-US" sz="1300" dirty="0"/>
          </a:p>
        </p:txBody>
      </p:sp>
      <p:sp>
        <p:nvSpPr>
          <p:cNvPr id="41" name="Shape 39"/>
          <p:cNvSpPr/>
          <p:nvPr/>
        </p:nvSpPr>
        <p:spPr>
          <a:xfrm>
            <a:off x="7452360" y="1664208"/>
            <a:ext cx="2026768" cy="347472"/>
          </a:xfrm>
          <a:prstGeom prst="roundRect">
            <a:avLst>
              <a:gd name="adj" fmla="val 50000"/>
            </a:avLst>
          </a:prstGeom>
          <a:solidFill>
            <a:schemeClr val="bg2"/>
          </a:solidFill>
          <a:ln w="12700">
            <a:solidFill>
              <a:srgbClr val="D7E2F1"/>
            </a:solidFill>
            <a:prstDash val="solid"/>
          </a:ln>
        </p:spPr>
      </p:sp>
      <p:sp>
        <p:nvSpPr>
          <p:cNvPr id="42" name="Text 40"/>
          <p:cNvSpPr txBox="1"/>
          <p:nvPr/>
        </p:nvSpPr>
        <p:spPr>
          <a:xfrm>
            <a:off x="7452360" y="1664208"/>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React · TypeScript · Tailwind</a:t>
            </a:r>
            <a:endParaRPr lang="en-US" sz="1100" dirty="0"/>
          </a:p>
        </p:txBody>
      </p:sp>
      <p:sp>
        <p:nvSpPr>
          <p:cNvPr id="43" name="Shape 41"/>
          <p:cNvSpPr/>
          <p:nvPr/>
        </p:nvSpPr>
        <p:spPr>
          <a:xfrm>
            <a:off x="9570568" y="1664208"/>
            <a:ext cx="2026768" cy="347472"/>
          </a:xfrm>
          <a:prstGeom prst="roundRect">
            <a:avLst>
              <a:gd name="adj" fmla="val 50000"/>
            </a:avLst>
          </a:prstGeom>
          <a:solidFill>
            <a:schemeClr val="bg2"/>
          </a:solidFill>
          <a:ln w="12700">
            <a:solidFill>
              <a:srgbClr val="D7E2F1"/>
            </a:solidFill>
            <a:prstDash val="solid"/>
          </a:ln>
        </p:spPr>
      </p:sp>
      <p:sp>
        <p:nvSpPr>
          <p:cNvPr id="44" name="Text 42"/>
          <p:cNvSpPr txBox="1"/>
          <p:nvPr/>
        </p:nvSpPr>
        <p:spPr>
          <a:xfrm>
            <a:off x="9570568" y="1664208"/>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FastAPI (Python)</a:t>
            </a:r>
            <a:endParaRPr lang="en-US" sz="1100" dirty="0"/>
          </a:p>
        </p:txBody>
      </p:sp>
      <p:sp>
        <p:nvSpPr>
          <p:cNvPr id="45" name="Shape 43"/>
          <p:cNvSpPr/>
          <p:nvPr/>
        </p:nvSpPr>
        <p:spPr>
          <a:xfrm>
            <a:off x="7452360" y="2103120"/>
            <a:ext cx="2026768" cy="347472"/>
          </a:xfrm>
          <a:prstGeom prst="roundRect">
            <a:avLst>
              <a:gd name="adj" fmla="val 50000"/>
            </a:avLst>
          </a:prstGeom>
          <a:solidFill>
            <a:schemeClr val="bg2"/>
          </a:solidFill>
          <a:ln w="12700">
            <a:solidFill>
              <a:srgbClr val="D7E2F1"/>
            </a:solidFill>
            <a:prstDash val="solid"/>
          </a:ln>
        </p:spPr>
      </p:sp>
      <p:sp>
        <p:nvSpPr>
          <p:cNvPr id="46" name="Text 44"/>
          <p:cNvSpPr txBox="1"/>
          <p:nvPr/>
        </p:nvSpPr>
        <p:spPr>
          <a:xfrm>
            <a:off x="7452360" y="2103120"/>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PostgreSQL (SQLite in demo)</a:t>
            </a:r>
            <a:endParaRPr lang="en-US" sz="1100" dirty="0"/>
          </a:p>
        </p:txBody>
      </p:sp>
      <p:sp>
        <p:nvSpPr>
          <p:cNvPr id="47" name="Shape 45"/>
          <p:cNvSpPr/>
          <p:nvPr/>
        </p:nvSpPr>
        <p:spPr>
          <a:xfrm>
            <a:off x="9570568" y="2103120"/>
            <a:ext cx="2026768" cy="347472"/>
          </a:xfrm>
          <a:prstGeom prst="roundRect">
            <a:avLst>
              <a:gd name="adj" fmla="val 50000"/>
            </a:avLst>
          </a:prstGeom>
          <a:solidFill>
            <a:schemeClr val="bg2"/>
          </a:solidFill>
          <a:ln w="12700">
            <a:solidFill>
              <a:srgbClr val="D7E2F1"/>
            </a:solidFill>
            <a:prstDash val="solid"/>
          </a:ln>
        </p:spPr>
      </p:sp>
      <p:sp>
        <p:nvSpPr>
          <p:cNvPr id="48" name="Text 46"/>
          <p:cNvSpPr txBox="1"/>
          <p:nvPr/>
        </p:nvSpPr>
        <p:spPr>
          <a:xfrm>
            <a:off x="9570568" y="2103120"/>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scikit-learn · RapidFuzz</a:t>
            </a:r>
            <a:endParaRPr lang="en-US" sz="1100" dirty="0"/>
          </a:p>
        </p:txBody>
      </p:sp>
      <p:sp>
        <p:nvSpPr>
          <p:cNvPr id="49" name="Shape 47"/>
          <p:cNvSpPr/>
          <p:nvPr/>
        </p:nvSpPr>
        <p:spPr>
          <a:xfrm>
            <a:off x="7452360" y="2542032"/>
            <a:ext cx="2026768" cy="347472"/>
          </a:xfrm>
          <a:prstGeom prst="roundRect">
            <a:avLst>
              <a:gd name="adj" fmla="val 50000"/>
            </a:avLst>
          </a:prstGeom>
          <a:solidFill>
            <a:schemeClr val="bg2"/>
          </a:solidFill>
          <a:ln w="12700">
            <a:solidFill>
              <a:srgbClr val="D7E2F1"/>
            </a:solidFill>
            <a:prstDash val="solid"/>
          </a:ln>
        </p:spPr>
      </p:sp>
      <p:sp>
        <p:nvSpPr>
          <p:cNvPr id="50" name="Text 48"/>
          <p:cNvSpPr txBox="1"/>
          <p:nvPr/>
        </p:nvSpPr>
        <p:spPr>
          <a:xfrm>
            <a:off x="7452360" y="2542032"/>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Ed25519 · W3C VC · QR</a:t>
            </a:r>
            <a:endParaRPr lang="en-US" sz="1100" dirty="0"/>
          </a:p>
        </p:txBody>
      </p:sp>
      <p:sp>
        <p:nvSpPr>
          <p:cNvPr id="51" name="Shape 49"/>
          <p:cNvSpPr/>
          <p:nvPr/>
        </p:nvSpPr>
        <p:spPr>
          <a:xfrm>
            <a:off x="9570568" y="2542032"/>
            <a:ext cx="2026768" cy="347472"/>
          </a:xfrm>
          <a:prstGeom prst="roundRect">
            <a:avLst>
              <a:gd name="adj" fmla="val 50000"/>
            </a:avLst>
          </a:prstGeom>
          <a:solidFill>
            <a:schemeClr val="bg2"/>
          </a:solidFill>
          <a:ln w="12700">
            <a:solidFill>
              <a:srgbClr val="D7E2F1"/>
            </a:solidFill>
            <a:prstDash val="solid"/>
          </a:ln>
        </p:spPr>
      </p:sp>
      <p:sp>
        <p:nvSpPr>
          <p:cNvPr id="52" name="Text 50"/>
          <p:cNvSpPr txBox="1"/>
          <p:nvPr/>
        </p:nvSpPr>
        <p:spPr>
          <a:xfrm>
            <a:off x="9570568" y="2542032"/>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OpenAPI 3 · REST + SSE</a:t>
            </a:r>
            <a:endParaRPr lang="en-US" sz="1100" dirty="0"/>
          </a:p>
        </p:txBody>
      </p:sp>
      <p:sp>
        <p:nvSpPr>
          <p:cNvPr id="53" name="Shape 51"/>
          <p:cNvSpPr/>
          <p:nvPr/>
        </p:nvSpPr>
        <p:spPr>
          <a:xfrm>
            <a:off x="7415784" y="3072384"/>
            <a:ext cx="4309567" cy="2720911"/>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54" name="Upload validation screen" descr="Upload validation screen">    </p:cNvPr>
          <p:cNvPicPr>
            <a:picLocks noChangeAspect="1"/>
          </p:cNvPicPr>
          <p:nvPr/>
        </p:nvPicPr>
        <p:blipFill>
          <a:blip r:embed="rId1"/>
          <a:stretch>
            <a:fillRect/>
          </a:stretch>
        </p:blipFill>
        <p:spPr>
          <a:xfrm>
            <a:off x="7452360" y="3108960"/>
            <a:ext cx="4236415" cy="2647759"/>
          </a:xfrm>
          <a:prstGeom prst="rect">
            <a:avLst/>
          </a:prstGeom>
        </p:spPr>
      </p:pic>
      <p:sp>
        <p:nvSpPr>
          <p:cNvPr id="55" name="Text 52"/>
          <p:cNvSpPr txBox="1"/>
          <p:nvPr/>
        </p:nvSpPr>
        <p:spPr>
          <a:xfrm>
            <a:off x="7452360" y="5848159"/>
            <a:ext cx="4236415" cy="274320"/>
          </a:xfrm>
          <a:prstGeom prst="rect">
            <a:avLst/>
          </a:prstGeom>
          <a:noFill/>
          <a:ln/>
        </p:spPr>
        <p:txBody>
          <a:bodyPr wrap="square" lIns="0" tIns="0" rIns="0" bIns="0" rtlCol="0" anchor="ctr"/>
          <a:lstStyle/>
          <a:p>
            <a:pPr indent="0" marL="0">
              <a:buNone/>
            </a:pPr>
            <a:r>
              <a:rPr lang="en-US" sz="1050" dirty="0">
                <a:solidFill>
                  <a:schemeClr val="accent6"/>
                </a:solidFill>
              </a:rPr>
              <a:t>Institution upload: 77 rows, 65 accepted, 12 rejected with rule codes</a:t>
            </a:r>
            <a:endParaRPr lang="en-US" sz="105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FEASIBILITY &amp; VIABILITY</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Feasible today: measured on 48,000 synthetic student records</a:t>
            </a:r>
            <a:endParaRPr lang="en-US" sz="2800" dirty="0"/>
          </a:p>
        </p:txBody>
      </p:sp>
      <p:sp>
        <p:nvSpPr>
          <p:cNvPr id="4" name="Shape 2"/>
          <p:cNvSpPr/>
          <p:nvPr/>
        </p:nvSpPr>
        <p:spPr>
          <a:xfrm>
            <a:off x="502920" y="1371600"/>
            <a:ext cx="1847088" cy="1298448"/>
          </a:xfrm>
          <a:prstGeom prst="roundRect">
            <a:avLst>
              <a:gd name="adj" fmla="val 5634"/>
            </a:avLst>
          </a:prstGeom>
          <a:solidFill>
            <a:schemeClr val="bg2"/>
          </a:solidFill>
          <a:ln w="9525">
            <a:solidFill>
              <a:srgbClr val="D7E2F1"/>
            </a:solidFill>
            <a:prstDash val="solid"/>
          </a:ln>
        </p:spPr>
      </p:sp>
      <p:sp>
        <p:nvSpPr>
          <p:cNvPr id="5" name="Text 3"/>
          <p:cNvSpPr txBox="1"/>
          <p:nvPr/>
        </p:nvSpPr>
        <p:spPr>
          <a:xfrm>
            <a:off x="640080"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16/16</a:t>
            </a:r>
            <a:endParaRPr lang="en-US" sz="3000" dirty="0"/>
          </a:p>
        </p:txBody>
      </p:sp>
      <p:sp>
        <p:nvSpPr>
          <p:cNvPr id="6" name="Text 4"/>
          <p:cNvSpPr txBox="1"/>
          <p:nvPr/>
        </p:nvSpPr>
        <p:spPr>
          <a:xfrm>
            <a:off x="640080"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planted defect types caught at upload</a:t>
            </a:r>
            <a:endParaRPr lang="en-US" sz="1200" dirty="0"/>
          </a:p>
        </p:txBody>
      </p:sp>
      <p:sp>
        <p:nvSpPr>
          <p:cNvPr id="7" name="Shape 5"/>
          <p:cNvSpPr/>
          <p:nvPr/>
        </p:nvSpPr>
        <p:spPr>
          <a:xfrm>
            <a:off x="2478024" y="1371600"/>
            <a:ext cx="1847088" cy="1298448"/>
          </a:xfrm>
          <a:prstGeom prst="roundRect">
            <a:avLst>
              <a:gd name="adj" fmla="val 5634"/>
            </a:avLst>
          </a:prstGeom>
          <a:solidFill>
            <a:schemeClr val="bg2"/>
          </a:solidFill>
          <a:ln w="9525">
            <a:solidFill>
              <a:srgbClr val="D7E2F1"/>
            </a:solidFill>
            <a:prstDash val="solid"/>
          </a:ln>
        </p:spPr>
      </p:sp>
      <p:sp>
        <p:nvSpPr>
          <p:cNvPr id="8" name="Text 6"/>
          <p:cNvSpPr txBox="1"/>
          <p:nvPr/>
        </p:nvSpPr>
        <p:spPr>
          <a:xfrm>
            <a:off x="2615184"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181/181</a:t>
            </a:r>
            <a:endParaRPr lang="en-US" sz="3000" dirty="0"/>
          </a:p>
        </p:txBody>
      </p:sp>
      <p:sp>
        <p:nvSpPr>
          <p:cNvPr id="9" name="Text 7"/>
          <p:cNvSpPr txBox="1"/>
          <p:nvPr/>
        </p:nvSpPr>
        <p:spPr>
          <a:xfrm>
            <a:off x="2615184"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dual enrolments found across colleges</a:t>
            </a:r>
            <a:endParaRPr lang="en-US" sz="1200" dirty="0"/>
          </a:p>
        </p:txBody>
      </p:sp>
      <p:sp>
        <p:nvSpPr>
          <p:cNvPr id="10" name="Shape 8"/>
          <p:cNvSpPr/>
          <p:nvPr/>
        </p:nvSpPr>
        <p:spPr>
          <a:xfrm>
            <a:off x="4453128" y="1371600"/>
            <a:ext cx="1847088" cy="1298448"/>
          </a:xfrm>
          <a:prstGeom prst="roundRect">
            <a:avLst>
              <a:gd name="adj" fmla="val 5634"/>
            </a:avLst>
          </a:prstGeom>
          <a:solidFill>
            <a:schemeClr val="bg2"/>
          </a:solidFill>
          <a:ln w="9525">
            <a:solidFill>
              <a:srgbClr val="D7E2F1"/>
            </a:solidFill>
            <a:prstDash val="solid"/>
          </a:ln>
        </p:spPr>
      </p:sp>
      <p:sp>
        <p:nvSpPr>
          <p:cNvPr id="11" name="Text 9"/>
          <p:cNvSpPr txBox="1"/>
          <p:nvPr/>
        </p:nvSpPr>
        <p:spPr>
          <a:xfrm>
            <a:off x="4590288"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60/60</a:t>
            </a:r>
            <a:endParaRPr lang="en-US" sz="3000" dirty="0"/>
          </a:p>
        </p:txBody>
      </p:sp>
      <p:sp>
        <p:nvSpPr>
          <p:cNvPr id="12" name="Text 10"/>
          <p:cNvSpPr txBox="1"/>
          <p:nvPr/>
        </p:nvSpPr>
        <p:spPr>
          <a:xfrm>
            <a:off x="4590288"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same person, different APAAR found</a:t>
            </a:r>
            <a:endParaRPr lang="en-US" sz="1200" dirty="0"/>
          </a:p>
        </p:txBody>
      </p:sp>
      <p:sp>
        <p:nvSpPr>
          <p:cNvPr id="13" name="Shape 11"/>
          <p:cNvSpPr/>
          <p:nvPr/>
        </p:nvSpPr>
        <p:spPr>
          <a:xfrm>
            <a:off x="502920" y="2798064"/>
            <a:ext cx="1847088" cy="1298448"/>
          </a:xfrm>
          <a:prstGeom prst="roundRect">
            <a:avLst>
              <a:gd name="adj" fmla="val 5634"/>
            </a:avLst>
          </a:prstGeom>
          <a:solidFill>
            <a:schemeClr val="bg2"/>
          </a:solidFill>
          <a:ln w="9525">
            <a:solidFill>
              <a:srgbClr val="D7E2F1"/>
            </a:solidFill>
            <a:prstDash val="solid"/>
          </a:ln>
        </p:spPr>
      </p:sp>
      <p:sp>
        <p:nvSpPr>
          <p:cNvPr id="14" name="Text 12"/>
          <p:cNvSpPr txBox="1"/>
          <p:nvPr/>
        </p:nvSpPr>
        <p:spPr>
          <a:xfrm>
            <a:off x="640080"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41/42</a:t>
            </a:r>
            <a:endParaRPr lang="en-US" sz="3000" dirty="0"/>
          </a:p>
        </p:txBody>
      </p:sp>
      <p:sp>
        <p:nvSpPr>
          <p:cNvPr id="15" name="Text 13"/>
          <p:cNvSpPr txBox="1"/>
          <p:nvPr/>
        </p:nvSpPr>
        <p:spPr>
          <a:xfrm>
            <a:off x="640080"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top-ranked institutions were truly anomalous</a:t>
            </a:r>
            <a:endParaRPr lang="en-US" sz="1200" dirty="0"/>
          </a:p>
        </p:txBody>
      </p:sp>
      <p:sp>
        <p:nvSpPr>
          <p:cNvPr id="16" name="Shape 14"/>
          <p:cNvSpPr/>
          <p:nvPr/>
        </p:nvSpPr>
        <p:spPr>
          <a:xfrm>
            <a:off x="2478024" y="2798064"/>
            <a:ext cx="1847088" cy="1298448"/>
          </a:xfrm>
          <a:prstGeom prst="roundRect">
            <a:avLst>
              <a:gd name="adj" fmla="val 5634"/>
            </a:avLst>
          </a:prstGeom>
          <a:solidFill>
            <a:schemeClr val="bg1"/>
          </a:solidFill>
          <a:ln w="9525">
            <a:solidFill>
              <a:srgbClr val="D7E2F1"/>
            </a:solidFill>
            <a:prstDash val="solid"/>
          </a:ln>
        </p:spPr>
      </p:sp>
      <p:sp>
        <p:nvSpPr>
          <p:cNvPr id="17" name="Text 15"/>
          <p:cNvSpPr txBox="1"/>
          <p:nvPr/>
        </p:nvSpPr>
        <p:spPr>
          <a:xfrm>
            <a:off x="2615184"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0</a:t>
            </a:r>
            <a:endParaRPr lang="en-US" sz="3000" dirty="0"/>
          </a:p>
        </p:txBody>
      </p:sp>
      <p:sp>
        <p:nvSpPr>
          <p:cNvPr id="18" name="Text 16"/>
          <p:cNvSpPr txBox="1"/>
          <p:nvPr/>
        </p:nvSpPr>
        <p:spPr>
          <a:xfrm>
            <a:off x="2615184"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false flags on 56 clean rows</a:t>
            </a:r>
            <a:endParaRPr lang="en-US" sz="1200" dirty="0"/>
          </a:p>
        </p:txBody>
      </p:sp>
      <p:sp>
        <p:nvSpPr>
          <p:cNvPr id="19" name="Shape 17"/>
          <p:cNvSpPr/>
          <p:nvPr/>
        </p:nvSpPr>
        <p:spPr>
          <a:xfrm>
            <a:off x="4453128" y="2798064"/>
            <a:ext cx="1847088" cy="1298448"/>
          </a:xfrm>
          <a:prstGeom prst="roundRect">
            <a:avLst>
              <a:gd name="adj" fmla="val 5634"/>
            </a:avLst>
          </a:prstGeom>
          <a:solidFill>
            <a:schemeClr val="bg1"/>
          </a:solidFill>
          <a:ln w="9525">
            <a:solidFill>
              <a:srgbClr val="D7E2F1"/>
            </a:solidFill>
            <a:prstDash val="solid"/>
          </a:ln>
        </p:spPr>
      </p:sp>
      <p:sp>
        <p:nvSpPr>
          <p:cNvPr id="20" name="Text 18"/>
          <p:cNvSpPr txBox="1"/>
          <p:nvPr/>
        </p:nvSpPr>
        <p:spPr>
          <a:xfrm>
            <a:off x="4590288"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1.03 s</a:t>
            </a:r>
            <a:endParaRPr lang="en-US" sz="3000" dirty="0"/>
          </a:p>
        </p:txBody>
      </p:sp>
      <p:sp>
        <p:nvSpPr>
          <p:cNvPr id="21" name="Text 19"/>
          <p:cNvSpPr txBox="1"/>
          <p:nvPr/>
        </p:nvSpPr>
        <p:spPr>
          <a:xfrm>
            <a:off x="4590288"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national scan of 48,053 enrolments</a:t>
            </a:r>
            <a:endParaRPr lang="en-US" sz="1200" dirty="0"/>
          </a:p>
        </p:txBody>
      </p:sp>
      <p:sp>
        <p:nvSpPr>
          <p:cNvPr id="22" name="Text 20"/>
          <p:cNvSpPr txBox="1"/>
          <p:nvPr/>
        </p:nvSpPr>
        <p:spPr>
          <a:xfrm>
            <a:off x="502920" y="4224528"/>
            <a:ext cx="5797296" cy="566928"/>
          </a:xfrm>
          <a:prstGeom prst="rect">
            <a:avLst/>
          </a:prstGeom>
          <a:noFill/>
          <a:ln/>
        </p:spPr>
        <p:txBody>
          <a:bodyPr wrap="square" lIns="0" tIns="0" rIns="0" bIns="0" rtlCol="0" anchor="t"/>
          <a:lstStyle/>
          <a:p>
            <a:pPr indent="0" marL="0">
              <a:buNone/>
            </a:pPr>
            <a:r>
              <a:rPr lang="en-US" sz="1050" i="1" dirty="0">
                <a:solidFill>
                  <a:schemeClr val="accent6"/>
                </a:solidFill>
              </a:rPr>
              <a:t>Synthetic data with planted anomalies (docs/benchmark.json). Also covered by 16 automated API tests and a repeatable browser walkthrough of every role. Real data will be noisier; every flag goes to a human reviewer.</a:t>
            </a:r>
            <a:endParaRPr lang="en-US" sz="1050" dirty="0"/>
          </a:p>
        </p:txBody>
      </p:sp>
      <p:sp>
        <p:nvSpPr>
          <p:cNvPr id="23" name="Shape 21"/>
          <p:cNvSpPr/>
          <p:nvPr/>
        </p:nvSpPr>
        <p:spPr>
          <a:xfrm>
            <a:off x="502920" y="4892040"/>
            <a:ext cx="5797296" cy="1371600"/>
          </a:xfrm>
          <a:prstGeom prst="roundRect">
            <a:avLst>
              <a:gd name="adj" fmla="val 5333"/>
            </a:avLst>
          </a:prstGeom>
          <a:solidFill>
            <a:schemeClr val="bg1"/>
          </a:solidFill>
          <a:ln w="9525">
            <a:solidFill>
              <a:srgbClr val="E1E0D9"/>
            </a:solidFill>
            <a:prstDash val="solid"/>
          </a:ln>
        </p:spPr>
      </p:sp>
      <p:sp>
        <p:nvSpPr>
          <p:cNvPr id="24" name="Text 22"/>
          <p:cNvSpPr txBox="1"/>
          <p:nvPr/>
        </p:nvSpPr>
        <p:spPr>
          <a:xfrm>
            <a:off x="667512" y="4983480"/>
            <a:ext cx="5495544" cy="1234440"/>
          </a:xfrm>
          <a:prstGeom prst="rect">
            <a:avLst/>
          </a:prstGeom>
          <a:noFill/>
          <a:ln/>
        </p:spPr>
        <p:txBody>
          <a:bodyPr wrap="square" lIns="0" tIns="0" rIns="0" bIns="0" rtlCol="0" anchor="t"/>
          <a:lstStyle/>
          <a:p>
            <a:pPr indent="0" marL="0">
              <a:spcAft>
                <a:spcPts val="300"/>
              </a:spcAft>
              <a:buNone/>
            </a:pPr>
            <a:r>
              <a:rPr lang="en-US" sz="1300" b="1" dirty="0">
                <a:solidFill>
                  <a:schemeClr val="tx2"/>
                </a:solidFill>
              </a:rPr>
              <a:t>Viability</a:t>
            </a:r>
            <a:endParaRPr lang="en-US" sz="1200" dirty="0"/>
          </a:p>
          <a:p>
            <a:pPr marL="342900" indent="-342900">
              <a:buSzPct val="100000"/>
              <a:buChar char="•"/>
            </a:pPr>
            <a:r>
              <a:rPr lang="en-US" sz="1200" dirty="0">
                <a:solidFill>
                  <a:schemeClr val="tx1"/>
                </a:solidFill>
              </a:rPr>
              <a:t>Open-source stack, no licence cost; runs on NIC / MeghRaj cloud for data localisation</a:t>
            </a:r>
            <a:endParaRPr lang="en-US" sz="1200" dirty="0"/>
          </a:p>
          <a:p>
            <a:pPr marL="342900" indent="-342900">
              <a:buSzPct val="100000"/>
              <a:buChar char="•"/>
            </a:pPr>
            <a:r>
              <a:rPr lang="en-US" sz="1200" dirty="0">
                <a:solidFill>
                  <a:schemeClr val="tx1"/>
                </a:solidFill>
              </a:rPr>
              <a:t>Reuses APAAR, DigiLocker and NAD/ABC instead of creating a parallel silo</a:t>
            </a:r>
            <a:endParaRPr lang="en-US" sz="1200" dirty="0"/>
          </a:p>
          <a:p>
            <a:pPr marL="342900" indent="-342900">
              <a:buSzPct val="100000"/>
              <a:buChar char="•"/>
            </a:pPr>
            <a:r>
              <a:rPr lang="en-US" sz="1200" dirty="0">
                <a:solidFill>
                  <a:schemeClr val="tx1"/>
                </a:solidFill>
              </a:rPr>
              <a:t>Starts where data already exists: PGDM institutions report student-level data today</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37960" y="1371600"/>
          <a:ext cx="5150815" cy="914400"/>
        </p:xfrm>
        <a:graphic>
          <a:graphicData uri="http://schemas.openxmlformats.org/drawingml/2006/table">
            <a:tbl>
              <a:tblPr/>
              <a:tblGrid>
                <a:gridCol w="1828800"/>
                <a:gridCol w="3322015"/>
              </a:tblGrid>
              <a:tr h="566928">
                <a:tc>
                  <a:txBody>
                    <a:bodyPr/>
                    <a:lstStyle/>
                    <a:p>
                      <a:pPr indent="0" marL="0">
                        <a:buNone/>
                      </a:pPr>
                      <a:r>
                        <a:rPr lang="en-US" sz="1200" b="1" dirty="0">
                          <a:solidFill>
                            <a:srgbClr val="FFFFFF"/>
                          </a:solidFill>
                        </a:rPr>
                        <a:t>Risk / challenge</a:t>
                      </a:r>
                      <a:endParaRPr lang="en-US" sz="120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14325C"/>
                    </a:solidFill>
                  </a:tcPr>
                </a:tc>
                <a:tc>
                  <a:txBody>
                    <a:bodyPr/>
                    <a:lstStyle/>
                    <a:p>
                      <a:pPr indent="0" marL="0">
                        <a:buNone/>
                      </a:pPr>
                      <a:r>
                        <a:rPr lang="en-US" sz="1200" b="1" dirty="0">
                          <a:solidFill>
                            <a:srgbClr val="FFFFFF"/>
                          </a:solidFill>
                        </a:rPr>
                        <a:t>Mitigation</a:t>
                      </a:r>
                      <a:endParaRPr lang="en-US" sz="120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14325C"/>
                    </a:solidFill>
                  </a:tcPr>
                </a:tc>
              </a:tr>
              <a:tr h="566928">
                <a:tc>
                  <a:txBody>
                    <a:bodyPr/>
                    <a:lstStyle/>
                    <a:p>
                      <a:pPr indent="0" marL="0">
                        <a:buNone/>
                      </a:pPr>
                      <a:r>
                        <a:rPr lang="en-US" sz="1150" b="1" dirty="0">
                          <a:solidFill>
                            <a:srgbClr val="0B0B0B"/>
                          </a:solidFill>
                        </a:rPr>
                        <a:t>No public APAAR API for third parties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Registry adapter: mock now; DigiLocker / API Setu partner onboarding for production</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Students without APAAR (opt-out, FN / OCI)</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Provisional AICTE ID with an INFO note; never rejected</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r h="566928">
                <a:tc>
                  <a:txBody>
                    <a:bodyPr/>
                    <a:lstStyle/>
                    <a:p>
                      <a:pPr indent="0" marL="0">
                        <a:buNone/>
                      </a:pPr>
                      <a:r>
                        <a:rPr lang="en-US" sz="1150" b="1" dirty="0">
                          <a:solidFill>
                            <a:srgbClr val="0B0B0B"/>
                          </a:solidFill>
                        </a:rPr>
                        <a:t>Privacy: DPDP Act 2023 &amp; Rules 2025</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Consent ledger, purpose-bound access, masked IDs, access log the student can see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False positives hurting institutions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Flags are review items; an officer decides; every decision is audited</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r h="566928">
                <a:tc>
                  <a:txBody>
                    <a:bodyPr/>
                    <a:lstStyle/>
                    <a:p>
                      <a:pPr indent="0" marL="0">
                        <a:buNone/>
                      </a:pPr>
                      <a:r>
                        <a:rPr lang="en-US" sz="1150" b="1" dirty="0">
                          <a:solidFill>
                            <a:srgbClr val="0B0B0B"/>
                          </a:solidFill>
                        </a:rPr>
                        <a:t>Low digital maturity in small colleges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Excel template with drop-downs, plain-language errors, English / Hindi toggle, works on mobile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National scale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Stateless API, partitioned PostgreSQL, async bulk jobs, read replicas for dashboards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bl>
          </a:graphicData>
        </a:graphic>
      </p:graphicFrame>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IMPACT &amp; BENEFITS</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Authentic data, lighter compliance, portable proof</a:t>
            </a:r>
            <a:endParaRPr lang="en-US" sz="2800" dirty="0"/>
          </a:p>
        </p:txBody>
      </p:sp>
      <p:sp>
        <p:nvSpPr>
          <p:cNvPr id="4" name="Shape 2"/>
          <p:cNvSpPr/>
          <p:nvPr/>
        </p:nvSpPr>
        <p:spPr>
          <a:xfrm>
            <a:off x="502920"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 name="Shape 3"/>
          <p:cNvSpPr/>
          <p:nvPr/>
        </p:nvSpPr>
        <p:spPr>
          <a:xfrm>
            <a:off x="667512" y="1554480"/>
            <a:ext cx="475488" cy="475488"/>
          </a:xfrm>
          <a:prstGeom prst="ellipse">
            <a:avLst/>
          </a:prstGeom>
          <a:solidFill>
            <a:srgbClr val="14325C"/>
          </a:solidFill>
          <a:ln w="12700">
            <a:solidFill>
              <a:srgbClr val="14325C"/>
            </a:solidFill>
            <a:prstDash val="solid"/>
          </a:ln>
        </p:spPr>
      </p:sp>
      <p:pic>
        <p:nvPicPr>
          <p:cNvPr id="6" name="Image 0" descr="preencoded.png">    </p:cNvPr>
          <p:cNvPicPr>
            <a:picLocks noChangeAspect="1"/>
          </p:cNvPicPr>
          <p:nvPr/>
        </p:nvPicPr>
        <p:blipFill>
          <a:blip r:embed="rId1"/>
          <a:stretch>
            <a:fillRect/>
          </a:stretch>
        </p:blipFill>
        <p:spPr>
          <a:xfrm>
            <a:off x="781629" y="1668597"/>
            <a:ext cx="247254" cy="247254"/>
          </a:xfrm>
          <a:prstGeom prst="rect">
            <a:avLst/>
          </a:prstGeom>
        </p:spPr>
      </p:pic>
      <p:sp>
        <p:nvSpPr>
          <p:cNvPr id="7" name="Text 4"/>
          <p:cNvSpPr txBox="1"/>
          <p:nvPr/>
        </p:nvSpPr>
        <p:spPr>
          <a:xfrm>
            <a:off x="667512"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AICTE &amp; regulators</a:t>
            </a:r>
            <a:endParaRPr lang="en-US" sz="1400" dirty="0"/>
          </a:p>
        </p:txBody>
      </p:sp>
      <p:sp>
        <p:nvSpPr>
          <p:cNvPr id="8" name="Text 5"/>
          <p:cNvSpPr txBox="1"/>
          <p:nvPr/>
        </p:nvSpPr>
        <p:spPr>
          <a:xfrm>
            <a:off x="667512"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Live admissions vs approved intake</a:t>
            </a:r>
            <a:endParaRPr lang="en-US" sz="1200" dirty="0"/>
          </a:p>
          <a:p>
            <a:pPr marL="342900" indent="-342900">
              <a:spcAft>
                <a:spcPts val="300"/>
              </a:spcAft>
              <a:buSzPct val="100000"/>
              <a:buChar char="•"/>
            </a:pPr>
            <a:r>
              <a:rPr lang="en-US" sz="1200" dirty="0">
                <a:solidFill>
                  <a:schemeClr val="tx1"/>
                </a:solidFill>
              </a:rPr>
              <a:t>Excess and dual enrolment caught at submission</a:t>
            </a:r>
            <a:endParaRPr lang="en-US" sz="1200" dirty="0"/>
          </a:p>
          <a:p>
            <a:pPr marL="342900" indent="-342900">
              <a:spcAft>
                <a:spcPts val="300"/>
              </a:spcAft>
              <a:buSzPct val="100000"/>
              <a:buChar char="•"/>
            </a:pPr>
            <a:r>
              <a:rPr lang="en-US" sz="1200" dirty="0">
                <a:solidFill>
                  <a:schemeClr val="tx1"/>
                </a:solidFill>
              </a:rPr>
              <a:t>Evidence for approval decisions</a:t>
            </a:r>
            <a:endParaRPr lang="en-US" sz="1200" dirty="0"/>
          </a:p>
        </p:txBody>
      </p:sp>
      <p:sp>
        <p:nvSpPr>
          <p:cNvPr id="9" name="Shape 6"/>
          <p:cNvSpPr/>
          <p:nvPr/>
        </p:nvSpPr>
        <p:spPr>
          <a:xfrm>
            <a:off x="2767523"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10" name="Shape 7"/>
          <p:cNvSpPr/>
          <p:nvPr/>
        </p:nvSpPr>
        <p:spPr>
          <a:xfrm>
            <a:off x="2932115" y="1554480"/>
            <a:ext cx="475488" cy="475488"/>
          </a:xfrm>
          <a:prstGeom prst="ellipse">
            <a:avLst/>
          </a:prstGeom>
          <a:solidFill>
            <a:srgbClr val="14325C"/>
          </a:solidFill>
          <a:ln w="12700">
            <a:solidFill>
              <a:srgbClr val="14325C"/>
            </a:solidFill>
            <a:prstDash val="solid"/>
          </a:ln>
        </p:spPr>
      </p:sp>
      <p:pic>
        <p:nvPicPr>
          <p:cNvPr id="11" name="Image 1" descr="preencoded.png">    </p:cNvPr>
          <p:cNvPicPr>
            <a:picLocks noChangeAspect="1"/>
          </p:cNvPicPr>
          <p:nvPr/>
        </p:nvPicPr>
        <p:blipFill>
          <a:blip r:embed="rId2"/>
          <a:stretch>
            <a:fillRect/>
          </a:stretch>
        </p:blipFill>
        <p:spPr>
          <a:xfrm>
            <a:off x="3046232" y="1668597"/>
            <a:ext cx="247254" cy="247254"/>
          </a:xfrm>
          <a:prstGeom prst="rect">
            <a:avLst/>
          </a:prstGeom>
        </p:spPr>
      </p:pic>
      <p:sp>
        <p:nvSpPr>
          <p:cNvPr id="12" name="Text 8"/>
          <p:cNvSpPr txBox="1"/>
          <p:nvPr/>
        </p:nvSpPr>
        <p:spPr>
          <a:xfrm>
            <a:off x="2932115"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Institutions</a:t>
            </a:r>
            <a:endParaRPr lang="en-US" sz="1400" dirty="0"/>
          </a:p>
        </p:txBody>
      </p:sp>
      <p:sp>
        <p:nvSpPr>
          <p:cNvPr id="13" name="Text 9"/>
          <p:cNvSpPr txBox="1"/>
          <p:nvPr/>
        </p:nvSpPr>
        <p:spPr>
          <a:xfrm>
            <a:off x="2932115"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One upload replaces repeated returns</a:t>
            </a:r>
            <a:endParaRPr lang="en-US" sz="1200" dirty="0"/>
          </a:p>
          <a:p>
            <a:pPr marL="342900" indent="-342900">
              <a:spcAft>
                <a:spcPts val="300"/>
              </a:spcAft>
              <a:buSzPct val="100000"/>
              <a:buChar char="•"/>
            </a:pPr>
            <a:r>
              <a:rPr lang="en-US" sz="1200" dirty="0">
                <a:solidFill>
                  <a:schemeClr val="tx1"/>
                </a:solidFill>
              </a:rPr>
              <a:t>Errors explained row by row before submission</a:t>
            </a:r>
            <a:endParaRPr lang="en-US" sz="1200" dirty="0"/>
          </a:p>
          <a:p>
            <a:pPr marL="342900" indent="-342900">
              <a:spcAft>
                <a:spcPts val="300"/>
              </a:spcAft>
              <a:buSzPct val="100000"/>
              <a:buChar char="•"/>
            </a:pPr>
            <a:r>
              <a:rPr lang="en-US" sz="1200" dirty="0">
                <a:solidFill>
                  <a:schemeClr val="tx1"/>
                </a:solidFill>
              </a:rPr>
              <a:t>Data-quality score instead of surprise inspections</a:t>
            </a:r>
            <a:endParaRPr lang="en-US" sz="1200" dirty="0"/>
          </a:p>
        </p:txBody>
      </p:sp>
      <p:sp>
        <p:nvSpPr>
          <p:cNvPr id="14" name="Shape 10"/>
          <p:cNvSpPr/>
          <p:nvPr/>
        </p:nvSpPr>
        <p:spPr>
          <a:xfrm>
            <a:off x="5032126"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15" name="Shape 11"/>
          <p:cNvSpPr/>
          <p:nvPr/>
        </p:nvSpPr>
        <p:spPr>
          <a:xfrm>
            <a:off x="5196718" y="1554480"/>
            <a:ext cx="475488" cy="475488"/>
          </a:xfrm>
          <a:prstGeom prst="ellipse">
            <a:avLst/>
          </a:prstGeom>
          <a:solidFill>
            <a:srgbClr val="E07B1A"/>
          </a:solidFill>
          <a:ln w="12700">
            <a:solidFill>
              <a:srgbClr val="E07B1A"/>
            </a:solidFill>
            <a:prstDash val="solid"/>
          </a:ln>
        </p:spPr>
      </p:sp>
      <p:pic>
        <p:nvPicPr>
          <p:cNvPr id="16" name="Image 2" descr="preencoded.png">    </p:cNvPr>
          <p:cNvPicPr>
            <a:picLocks noChangeAspect="1"/>
          </p:cNvPicPr>
          <p:nvPr/>
        </p:nvPicPr>
        <p:blipFill>
          <a:blip r:embed="rId3"/>
          <a:stretch>
            <a:fillRect/>
          </a:stretch>
        </p:blipFill>
        <p:spPr>
          <a:xfrm>
            <a:off x="5310835" y="1668597"/>
            <a:ext cx="247254" cy="247254"/>
          </a:xfrm>
          <a:prstGeom prst="rect">
            <a:avLst/>
          </a:prstGeom>
        </p:spPr>
      </p:pic>
      <p:sp>
        <p:nvSpPr>
          <p:cNvPr id="17" name="Text 12"/>
          <p:cNvSpPr txBox="1"/>
          <p:nvPr/>
        </p:nvSpPr>
        <p:spPr>
          <a:xfrm>
            <a:off x="5196718"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Students</a:t>
            </a:r>
            <a:endParaRPr lang="en-US" sz="1400" dirty="0"/>
          </a:p>
        </p:txBody>
      </p:sp>
      <p:sp>
        <p:nvSpPr>
          <p:cNvPr id="18" name="Text 13"/>
          <p:cNvSpPr txBox="1"/>
          <p:nvPr/>
        </p:nvSpPr>
        <p:spPr>
          <a:xfrm>
            <a:off x="5196718"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Lifelong record tied to APAAR</a:t>
            </a:r>
            <a:endParaRPr lang="en-US" sz="1200" dirty="0"/>
          </a:p>
          <a:p>
            <a:pPr marL="342900" indent="-342900">
              <a:spcAft>
                <a:spcPts val="300"/>
              </a:spcAft>
              <a:buSzPct val="100000"/>
              <a:buChar char="•"/>
            </a:pPr>
            <a:r>
              <a:rPr lang="en-US" sz="1200" dirty="0">
                <a:solidFill>
                  <a:schemeClr val="tx1"/>
                </a:solidFill>
              </a:rPr>
              <a:t>Certificate with APAAR ID, student ID and QR</a:t>
            </a:r>
            <a:endParaRPr lang="en-US" sz="1200" dirty="0"/>
          </a:p>
          <a:p>
            <a:pPr marL="342900" indent="-342900">
              <a:spcAft>
                <a:spcPts val="300"/>
              </a:spcAft>
              <a:buSzPct val="100000"/>
              <a:buChar char="•"/>
            </a:pPr>
            <a:r>
              <a:rPr lang="en-US" sz="1200" dirty="0">
                <a:solidFill>
                  <a:schemeClr val="tx1"/>
                </a:solidFill>
              </a:rPr>
              <a:t>Control over who sees what, and an access log</a:t>
            </a:r>
            <a:endParaRPr lang="en-US" sz="1200" dirty="0"/>
          </a:p>
        </p:txBody>
      </p:sp>
      <p:sp>
        <p:nvSpPr>
          <p:cNvPr id="19" name="Shape 14"/>
          <p:cNvSpPr/>
          <p:nvPr/>
        </p:nvSpPr>
        <p:spPr>
          <a:xfrm>
            <a:off x="7296729"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20" name="Shape 15"/>
          <p:cNvSpPr/>
          <p:nvPr/>
        </p:nvSpPr>
        <p:spPr>
          <a:xfrm>
            <a:off x="7461321" y="1554480"/>
            <a:ext cx="475488" cy="475488"/>
          </a:xfrm>
          <a:prstGeom prst="ellipse">
            <a:avLst/>
          </a:prstGeom>
          <a:solidFill>
            <a:srgbClr val="14325C"/>
          </a:solidFill>
          <a:ln w="12700">
            <a:solidFill>
              <a:srgbClr val="14325C"/>
            </a:solidFill>
            <a:prstDash val="solid"/>
          </a:ln>
        </p:spPr>
      </p:sp>
      <p:pic>
        <p:nvPicPr>
          <p:cNvPr id="21" name="Image 3" descr="preencoded.png">    </p:cNvPr>
          <p:cNvPicPr>
            <a:picLocks noChangeAspect="1"/>
          </p:cNvPicPr>
          <p:nvPr/>
        </p:nvPicPr>
        <p:blipFill>
          <a:blip r:embed="rId4"/>
          <a:stretch>
            <a:fillRect/>
          </a:stretch>
        </p:blipFill>
        <p:spPr>
          <a:xfrm>
            <a:off x="7575438" y="1668597"/>
            <a:ext cx="247254" cy="247254"/>
          </a:xfrm>
          <a:prstGeom prst="rect">
            <a:avLst/>
          </a:prstGeom>
        </p:spPr>
      </p:pic>
      <p:sp>
        <p:nvSpPr>
          <p:cNvPr id="22" name="Text 16"/>
          <p:cNvSpPr txBox="1"/>
          <p:nvPr/>
        </p:nvSpPr>
        <p:spPr>
          <a:xfrm>
            <a:off x="7461321"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Employers &amp; universities</a:t>
            </a:r>
            <a:endParaRPr lang="en-US" sz="1400" dirty="0"/>
          </a:p>
        </p:txBody>
      </p:sp>
      <p:sp>
        <p:nvSpPr>
          <p:cNvPr id="23" name="Text 17"/>
          <p:cNvSpPr txBox="1"/>
          <p:nvPr/>
        </p:nvSpPr>
        <p:spPr>
          <a:xfrm>
            <a:off x="7461321"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Instant QR check, offline signature</a:t>
            </a:r>
            <a:endParaRPr lang="en-US" sz="1200" dirty="0"/>
          </a:p>
          <a:p>
            <a:pPr marL="342900" indent="-342900">
              <a:spcAft>
                <a:spcPts val="300"/>
              </a:spcAft>
              <a:buSzPct val="100000"/>
              <a:buChar char="•"/>
            </a:pPr>
            <a:r>
              <a:rPr lang="en-US" sz="1200" dirty="0">
                <a:solidFill>
                  <a:schemeClr val="tx1"/>
                </a:solidFill>
              </a:rPr>
              <a:t>Consent-based verification of specific facts</a:t>
            </a:r>
            <a:endParaRPr lang="en-US" sz="1200" dirty="0"/>
          </a:p>
          <a:p>
            <a:pPr marL="342900" indent="-342900">
              <a:spcAft>
                <a:spcPts val="300"/>
              </a:spcAft>
              <a:buSzPct val="100000"/>
              <a:buChar char="•"/>
            </a:pPr>
            <a:r>
              <a:rPr lang="en-US" sz="1200" dirty="0">
                <a:solidFill>
                  <a:schemeClr val="tx1"/>
                </a:solidFill>
              </a:rPr>
              <a:t>Fewer fake-certificate cases</a:t>
            </a:r>
            <a:endParaRPr lang="en-US" sz="1200" dirty="0"/>
          </a:p>
        </p:txBody>
      </p:sp>
      <p:sp>
        <p:nvSpPr>
          <p:cNvPr id="24" name="Shape 18"/>
          <p:cNvSpPr/>
          <p:nvPr/>
        </p:nvSpPr>
        <p:spPr>
          <a:xfrm>
            <a:off x="9561332"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25" name="Shape 19"/>
          <p:cNvSpPr/>
          <p:nvPr/>
        </p:nvSpPr>
        <p:spPr>
          <a:xfrm>
            <a:off x="9725924" y="1554480"/>
            <a:ext cx="475488" cy="475488"/>
          </a:xfrm>
          <a:prstGeom prst="ellipse">
            <a:avLst/>
          </a:prstGeom>
          <a:solidFill>
            <a:srgbClr val="14325C"/>
          </a:solidFill>
          <a:ln w="12700">
            <a:solidFill>
              <a:srgbClr val="14325C"/>
            </a:solidFill>
            <a:prstDash val="solid"/>
          </a:ln>
        </p:spPr>
      </p:sp>
      <p:pic>
        <p:nvPicPr>
          <p:cNvPr id="26" name="Image 4" descr="preencoded.png">    </p:cNvPr>
          <p:cNvPicPr>
            <a:picLocks noChangeAspect="1"/>
          </p:cNvPicPr>
          <p:nvPr/>
        </p:nvPicPr>
        <p:blipFill>
          <a:blip r:embed="rId5"/>
          <a:stretch>
            <a:fillRect/>
          </a:stretch>
        </p:blipFill>
        <p:spPr>
          <a:xfrm>
            <a:off x="9840041" y="1668597"/>
            <a:ext cx="247254" cy="247254"/>
          </a:xfrm>
          <a:prstGeom prst="rect">
            <a:avLst/>
          </a:prstGeom>
        </p:spPr>
      </p:pic>
      <p:sp>
        <p:nvSpPr>
          <p:cNvPr id="27" name="Text 20"/>
          <p:cNvSpPr txBox="1"/>
          <p:nvPr/>
        </p:nvSpPr>
        <p:spPr>
          <a:xfrm>
            <a:off x="9725924"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Policy makers</a:t>
            </a:r>
            <a:endParaRPr lang="en-US" sz="1400" dirty="0"/>
          </a:p>
        </p:txBody>
      </p:sp>
      <p:sp>
        <p:nvSpPr>
          <p:cNvPr id="28" name="Text 21"/>
          <p:cNvSpPr txBox="1"/>
          <p:nvPr/>
        </p:nvSpPr>
        <p:spPr>
          <a:xfrm>
            <a:off x="9725924"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State, gender, category and level analytics</a:t>
            </a:r>
            <a:endParaRPr lang="en-US" sz="1200" dirty="0"/>
          </a:p>
          <a:p>
            <a:pPr marL="342900" indent="-342900">
              <a:spcAft>
                <a:spcPts val="300"/>
              </a:spcAft>
              <a:buSzPct val="100000"/>
              <a:buChar char="•"/>
            </a:pPr>
            <a:r>
              <a:rPr lang="en-US" sz="1200" dirty="0">
                <a:solidFill>
                  <a:schemeClr val="tx1"/>
                </a:solidFill>
              </a:rPr>
              <a:t>Intake utilisation to plan seat approvals</a:t>
            </a:r>
            <a:endParaRPr lang="en-US" sz="1200" dirty="0"/>
          </a:p>
          <a:p>
            <a:pPr marL="342900" indent="-342900">
              <a:spcAft>
                <a:spcPts val="300"/>
              </a:spcAft>
              <a:buSzPct val="100000"/>
              <a:buChar char="•"/>
            </a:pPr>
            <a:r>
              <a:rPr lang="en-US" sz="1200" dirty="0">
                <a:solidFill>
                  <a:schemeClr val="tx1"/>
                </a:solidFill>
              </a:rPr>
              <a:t>Exports for NBA / NAAC / AISHE-style reports</a:t>
            </a:r>
            <a:endParaRPr lang="en-US" sz="1200" dirty="0"/>
          </a:p>
        </p:txBody>
      </p:sp>
      <p:sp>
        <p:nvSpPr>
          <p:cNvPr id="29" name="Text 22"/>
          <p:cNvSpPr txBox="1"/>
          <p:nvPr/>
        </p:nvSpPr>
        <p:spPr>
          <a:xfrm>
            <a:off x="502920" y="4389120"/>
            <a:ext cx="3657600" cy="274320"/>
          </a:xfrm>
          <a:prstGeom prst="rect">
            <a:avLst/>
          </a:prstGeom>
          <a:noFill/>
          <a:ln/>
        </p:spPr>
        <p:txBody>
          <a:bodyPr wrap="square" lIns="0" tIns="0" rIns="0" bIns="0" rtlCol="0" anchor="ctr"/>
          <a:lstStyle/>
          <a:p>
            <a:pPr indent="0" marL="0">
              <a:buNone/>
            </a:pPr>
            <a:r>
              <a:rPr lang="en-US" sz="1300" b="1" dirty="0">
                <a:solidFill>
                  <a:schemeClr val="tx2"/>
                </a:solidFill>
              </a:rPr>
              <a:t>Path to adoption</a:t>
            </a:r>
            <a:endParaRPr lang="en-US" sz="1300" dirty="0"/>
          </a:p>
        </p:txBody>
      </p:sp>
      <p:sp>
        <p:nvSpPr>
          <p:cNvPr id="30" name="Shape 23"/>
          <p:cNvSpPr/>
          <p:nvPr/>
        </p:nvSpPr>
        <p:spPr>
          <a:xfrm>
            <a:off x="502920" y="4736592"/>
            <a:ext cx="2679192" cy="1298448"/>
          </a:xfrm>
          <a:prstGeom prst="roundRect">
            <a:avLst>
              <a:gd name="adj" fmla="val 5634"/>
            </a:avLst>
          </a:prstGeom>
          <a:solidFill>
            <a:schemeClr val="bg2"/>
          </a:solidFill>
          <a:ln w="9525">
            <a:solidFill>
              <a:srgbClr val="D7E2F1"/>
            </a:solidFill>
            <a:prstDash val="solid"/>
          </a:ln>
        </p:spPr>
      </p:sp>
      <p:sp>
        <p:nvSpPr>
          <p:cNvPr id="31" name="Text 24"/>
          <p:cNvSpPr txBox="1"/>
          <p:nvPr/>
        </p:nvSpPr>
        <p:spPr>
          <a:xfrm>
            <a:off x="640080"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1 · 3 months</a:t>
            </a:r>
            <a:endParaRPr lang="en-US" sz="1200" dirty="0"/>
          </a:p>
          <a:p>
            <a:pPr indent="0" marL="0">
              <a:buNone/>
            </a:pPr>
            <a:r>
              <a:rPr lang="en-US" sz="1200" dirty="0">
                <a:solidFill>
                  <a:srgbClr val="0B0B0B"/>
                </a:solidFill>
              </a:rPr>
              <a:t>Pilot with PGDM institutions (already report student data) and one state</a:t>
            </a:r>
            <a:endParaRPr lang="en-US" sz="1200" dirty="0"/>
          </a:p>
        </p:txBody>
      </p:sp>
      <p:sp>
        <p:nvSpPr>
          <p:cNvPr id="32" name="Shape 25"/>
          <p:cNvSpPr/>
          <p:nvPr/>
        </p:nvSpPr>
        <p:spPr>
          <a:xfrm>
            <a:off x="3364992" y="4736592"/>
            <a:ext cx="2679192" cy="1298448"/>
          </a:xfrm>
          <a:prstGeom prst="roundRect">
            <a:avLst>
              <a:gd name="adj" fmla="val 5634"/>
            </a:avLst>
          </a:prstGeom>
          <a:solidFill>
            <a:schemeClr val="bg1"/>
          </a:solidFill>
          <a:ln w="9525">
            <a:solidFill>
              <a:srgbClr val="D7E2F1"/>
            </a:solidFill>
            <a:prstDash val="solid"/>
          </a:ln>
        </p:spPr>
      </p:sp>
      <p:sp>
        <p:nvSpPr>
          <p:cNvPr id="33" name="Text 26"/>
          <p:cNvSpPr txBox="1"/>
          <p:nvPr/>
        </p:nvSpPr>
        <p:spPr>
          <a:xfrm>
            <a:off x="3502152"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2 · 6 months</a:t>
            </a:r>
            <a:endParaRPr lang="en-US" sz="1200" dirty="0"/>
          </a:p>
          <a:p>
            <a:pPr indent="0" marL="0">
              <a:buNone/>
            </a:pPr>
            <a:r>
              <a:rPr lang="en-US" sz="1200" dirty="0">
                <a:solidFill>
                  <a:srgbClr val="0B0B0B"/>
                </a:solidFill>
              </a:rPr>
              <a:t>DigiLocker / API Setu APAAR integration; push verified records to NAD / ABC</a:t>
            </a:r>
            <a:endParaRPr lang="en-US" sz="1200" dirty="0"/>
          </a:p>
        </p:txBody>
      </p:sp>
      <p:sp>
        <p:nvSpPr>
          <p:cNvPr id="34" name="Shape 27"/>
          <p:cNvSpPr/>
          <p:nvPr/>
        </p:nvSpPr>
        <p:spPr>
          <a:xfrm>
            <a:off x="6227064" y="4736592"/>
            <a:ext cx="2679192" cy="1298448"/>
          </a:xfrm>
          <a:prstGeom prst="roundRect">
            <a:avLst>
              <a:gd name="adj" fmla="val 5634"/>
            </a:avLst>
          </a:prstGeom>
          <a:solidFill>
            <a:schemeClr val="bg1"/>
          </a:solidFill>
          <a:ln w="9525">
            <a:solidFill>
              <a:srgbClr val="D7E2F1"/>
            </a:solidFill>
            <a:prstDash val="solid"/>
          </a:ln>
        </p:spPr>
      </p:sp>
      <p:sp>
        <p:nvSpPr>
          <p:cNvPr id="35" name="Text 28"/>
          <p:cNvSpPr txBox="1"/>
          <p:nvPr/>
        </p:nvSpPr>
        <p:spPr>
          <a:xfrm>
            <a:off x="6364224"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3 · next AY</a:t>
            </a:r>
            <a:endParaRPr lang="en-US" sz="1200" dirty="0"/>
          </a:p>
          <a:p>
            <a:pPr indent="0" marL="0">
              <a:buNone/>
            </a:pPr>
            <a:r>
              <a:rPr lang="en-US" sz="1200" dirty="0">
                <a:solidFill>
                  <a:srgbClr val="0B0B0B"/>
                </a:solidFill>
              </a:rPr>
              <a:t>All AICTE institutions; certificate QR adopted by affiliating universities</a:t>
            </a:r>
            <a:endParaRPr lang="en-US" sz="1200" dirty="0"/>
          </a:p>
        </p:txBody>
      </p:sp>
      <p:sp>
        <p:nvSpPr>
          <p:cNvPr id="36" name="Shape 29"/>
          <p:cNvSpPr/>
          <p:nvPr/>
        </p:nvSpPr>
        <p:spPr>
          <a:xfrm>
            <a:off x="9137599" y="4398264"/>
            <a:ext cx="2587752" cy="1644777"/>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37" name="Public QR verification" descr="Public QR verification">    </p:cNvPr>
          <p:cNvPicPr>
            <a:picLocks noChangeAspect="1"/>
          </p:cNvPicPr>
          <p:nvPr/>
        </p:nvPicPr>
        <p:blipFill>
          <a:blip r:embed="rId6"/>
          <a:stretch>
            <a:fillRect/>
          </a:stretch>
        </p:blipFill>
        <p:spPr>
          <a:xfrm>
            <a:off x="9174175" y="4434840"/>
            <a:ext cx="2514600" cy="1571625"/>
          </a:xfrm>
          <a:prstGeom prst="rect">
            <a:avLst/>
          </a:prstGeom>
        </p:spPr>
      </p:pic>
      <p:sp>
        <p:nvSpPr>
          <p:cNvPr id="38" name="Text 30"/>
          <p:cNvSpPr txBox="1"/>
          <p:nvPr/>
        </p:nvSpPr>
        <p:spPr>
          <a:xfrm>
            <a:off x="9174175" y="6079617"/>
            <a:ext cx="2514600" cy="256032"/>
          </a:xfrm>
          <a:prstGeom prst="rect">
            <a:avLst/>
          </a:prstGeom>
          <a:noFill/>
          <a:ln/>
        </p:spPr>
        <p:txBody>
          <a:bodyPr wrap="square" lIns="0" tIns="0" rIns="0" bIns="0" rtlCol="0" anchor="ctr"/>
          <a:lstStyle/>
          <a:p>
            <a:pPr indent="0" marL="0">
              <a:buNone/>
            </a:pPr>
            <a:r>
              <a:rPr lang="en-US" sz="1050" dirty="0">
                <a:solidFill>
                  <a:schemeClr val="accent6"/>
                </a:solidFill>
              </a:rPr>
              <a:t>Public QR check: signature valid, status live</a:t>
            </a:r>
            <a:endParaRPr lang="en-US" sz="105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RESEARCH &amp; REFERENCES</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What our research changed in the design</a:t>
            </a:r>
            <a:endParaRPr lang="en-US" sz="2800" dirty="0"/>
          </a:p>
        </p:txBody>
      </p:sp>
      <p:sp>
        <p:nvSpPr>
          <p:cNvPr id="4" name="Shape 2"/>
          <p:cNvSpPr/>
          <p:nvPr/>
        </p:nvSpPr>
        <p:spPr>
          <a:xfrm>
            <a:off x="502920" y="1371600"/>
            <a:ext cx="6675120" cy="786384"/>
          </a:xfrm>
          <a:prstGeom prst="roundRect">
            <a:avLst>
              <a:gd name="adj" fmla="val 9302"/>
            </a:avLst>
          </a:prstGeom>
          <a:solidFill>
            <a:schemeClr val="bg2"/>
          </a:solidFill>
          <a:ln w="9525">
            <a:solidFill>
              <a:srgbClr val="D7E2F1"/>
            </a:solidFill>
            <a:prstDash val="solid"/>
          </a:ln>
        </p:spPr>
      </p:sp>
      <p:sp>
        <p:nvSpPr>
          <p:cNvPr id="5" name="Text 3"/>
          <p:cNvSpPr txBox="1"/>
          <p:nvPr/>
        </p:nvSpPr>
        <p:spPr>
          <a:xfrm>
            <a:off x="667512" y="1426464"/>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APAAR creation needs Aadhaar-based KYC</a:t>
            </a:r>
            <a:endParaRPr lang="en-US" sz="1250" dirty="0"/>
          </a:p>
          <a:p>
            <a:pPr indent="0" marL="0">
              <a:buNone/>
            </a:pPr>
            <a:r>
              <a:rPr lang="en-US" sz="1250" dirty="0">
                <a:solidFill>
                  <a:srgbClr val="0B0B0B"/>
                </a:solidFill>
              </a:rPr>
              <a:t>→ FN / OCI students may not have one, so they get a provisional ID (rule APR-007)</a:t>
            </a:r>
            <a:endParaRPr lang="en-US" sz="1250" dirty="0"/>
          </a:p>
        </p:txBody>
      </p:sp>
      <p:sp>
        <p:nvSpPr>
          <p:cNvPr id="6" name="Shape 4"/>
          <p:cNvSpPr/>
          <p:nvPr/>
        </p:nvSpPr>
        <p:spPr>
          <a:xfrm>
            <a:off x="502920" y="2267712"/>
            <a:ext cx="6675120" cy="786384"/>
          </a:xfrm>
          <a:prstGeom prst="roundRect">
            <a:avLst>
              <a:gd name="adj" fmla="val 9302"/>
            </a:avLst>
          </a:prstGeom>
          <a:solidFill>
            <a:schemeClr val="bg1"/>
          </a:solidFill>
          <a:ln w="9525">
            <a:solidFill>
              <a:srgbClr val="D7E2F1"/>
            </a:solidFill>
            <a:prstDash val="solid"/>
          </a:ln>
        </p:spPr>
      </p:sp>
      <p:sp>
        <p:nvSpPr>
          <p:cNvPr id="7" name="Text 5"/>
          <p:cNvSpPr txBox="1"/>
          <p:nvPr/>
        </p:nvSpPr>
        <p:spPr>
          <a:xfrm>
            <a:off x="667512" y="2322576"/>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APAAR consent is voluntary</a:t>
            </a:r>
            <a:endParaRPr lang="en-US" sz="1250" dirty="0"/>
          </a:p>
          <a:p>
            <a:pPr indent="0" marL="0">
              <a:buNone/>
            </a:pPr>
            <a:r>
              <a:rPr lang="en-US" sz="1250" dirty="0">
                <a:solidFill>
                  <a:srgbClr val="0B0B0B"/>
                </a:solidFill>
              </a:rPr>
              <a:t>→ A student who opts out is recorded, not rejected (rule APR-005)</a:t>
            </a:r>
            <a:endParaRPr lang="en-US" sz="1250" dirty="0"/>
          </a:p>
        </p:txBody>
      </p:sp>
      <p:sp>
        <p:nvSpPr>
          <p:cNvPr id="8" name="Shape 6"/>
          <p:cNvSpPr/>
          <p:nvPr/>
        </p:nvSpPr>
        <p:spPr>
          <a:xfrm>
            <a:off x="502920" y="3163824"/>
            <a:ext cx="6675120" cy="786384"/>
          </a:xfrm>
          <a:prstGeom prst="roundRect">
            <a:avLst>
              <a:gd name="adj" fmla="val 9302"/>
            </a:avLst>
          </a:prstGeom>
          <a:solidFill>
            <a:schemeClr val="bg2"/>
          </a:solidFill>
          <a:ln w="9525">
            <a:solidFill>
              <a:srgbClr val="D7E2F1"/>
            </a:solidFill>
            <a:prstDash val="solid"/>
          </a:ln>
        </p:spPr>
      </p:sp>
      <p:sp>
        <p:nvSpPr>
          <p:cNvPr id="9" name="Text 7"/>
          <p:cNvSpPr txBox="1"/>
          <p:nvPr/>
        </p:nvSpPr>
        <p:spPr>
          <a:xfrm>
            <a:off x="667512" y="3218688"/>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DPDP Rules 2025 phase in to 2027</a:t>
            </a:r>
            <a:endParaRPr lang="en-US" sz="1250" dirty="0"/>
          </a:p>
          <a:p>
            <a:pPr indent="0" marL="0">
              <a:buNone/>
            </a:pPr>
            <a:r>
              <a:rPr lang="en-US" sz="1250" dirty="0">
                <a:solidFill>
                  <a:srgbClr val="0B0B0B"/>
                </a:solidFill>
              </a:rPr>
              <a:t>→ Consent artefacts, purpose limitation and student-visible access logs built in from day one</a:t>
            </a:r>
            <a:endParaRPr lang="en-US" sz="1250" dirty="0"/>
          </a:p>
        </p:txBody>
      </p:sp>
      <p:sp>
        <p:nvSpPr>
          <p:cNvPr id="10" name="Shape 8"/>
          <p:cNvSpPr/>
          <p:nvPr/>
        </p:nvSpPr>
        <p:spPr>
          <a:xfrm>
            <a:off x="502920" y="4059936"/>
            <a:ext cx="6675120" cy="786384"/>
          </a:xfrm>
          <a:prstGeom prst="roundRect">
            <a:avLst>
              <a:gd name="adj" fmla="val 9302"/>
            </a:avLst>
          </a:prstGeom>
          <a:solidFill>
            <a:schemeClr val="bg1"/>
          </a:solidFill>
          <a:ln w="9525">
            <a:solidFill>
              <a:srgbClr val="D7E2F1"/>
            </a:solidFill>
            <a:prstDash val="solid"/>
          </a:ln>
        </p:spPr>
      </p:sp>
      <p:sp>
        <p:nvSpPr>
          <p:cNvPr id="11" name="Text 9"/>
          <p:cNvSpPr txBox="1"/>
          <p:nvPr/>
        </p:nvSpPr>
        <p:spPr>
          <a:xfrm>
            <a:off x="667512" y="4114800"/>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AICTE's June 2026 circular: APAAR-linked records to NAD / ABC</a:t>
            </a:r>
            <a:endParaRPr lang="en-US" sz="1250" dirty="0"/>
          </a:p>
          <a:p>
            <a:pPr indent="0" marL="0">
              <a:buNone/>
            </a:pPr>
            <a:r>
              <a:rPr lang="en-US" sz="1250" dirty="0">
                <a:solidFill>
                  <a:srgbClr val="0B0B0B"/>
                </a:solidFill>
              </a:rPr>
              <a:t>→ Verified records flow to NAD / ABC rather than a parallel silo</a:t>
            </a:r>
            <a:endParaRPr lang="en-US" sz="1250" dirty="0"/>
          </a:p>
        </p:txBody>
      </p:sp>
      <p:sp>
        <p:nvSpPr>
          <p:cNvPr id="12" name="Shape 10"/>
          <p:cNvSpPr/>
          <p:nvPr/>
        </p:nvSpPr>
        <p:spPr>
          <a:xfrm>
            <a:off x="502920" y="4956048"/>
            <a:ext cx="6675120" cy="786384"/>
          </a:xfrm>
          <a:prstGeom prst="roundRect">
            <a:avLst>
              <a:gd name="adj" fmla="val 9302"/>
            </a:avLst>
          </a:prstGeom>
          <a:solidFill>
            <a:schemeClr val="bg2"/>
          </a:solidFill>
          <a:ln w="9525">
            <a:solidFill>
              <a:srgbClr val="D7E2F1"/>
            </a:solidFill>
            <a:prstDash val="solid"/>
          </a:ln>
        </p:spPr>
      </p:sp>
      <p:sp>
        <p:nvSpPr>
          <p:cNvPr id="13" name="Text 11"/>
          <p:cNvSpPr txBox="1"/>
          <p:nvPr/>
        </p:nvSpPr>
        <p:spPr>
          <a:xfrm>
            <a:off x="667512" y="5010912"/>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APH sets supernumerary quotas (FN/OCI/PIO, TFW, lateral, EWS)</a:t>
            </a:r>
            <a:endParaRPr lang="en-US" sz="1250" dirty="0"/>
          </a:p>
          <a:p>
            <a:pPr indent="0" marL="0">
              <a:buNone/>
            </a:pPr>
            <a:r>
              <a:rPr lang="en-US" sz="1250" dirty="0">
                <a:solidFill>
                  <a:srgbClr val="0B0B0B"/>
                </a:solidFill>
              </a:rPr>
              <a:t>→ Caps live in configuration, versioned with the ruleset</a:t>
            </a:r>
            <a:endParaRPr lang="en-US" sz="1250" dirty="0"/>
          </a:p>
        </p:txBody>
      </p:sp>
      <p:sp>
        <p:nvSpPr>
          <p:cNvPr id="14" name="Text 12"/>
          <p:cNvSpPr txBox="1"/>
          <p:nvPr/>
        </p:nvSpPr>
        <p:spPr>
          <a:xfrm>
            <a:off x="7406640" y="1325880"/>
            <a:ext cx="4282135" cy="274320"/>
          </a:xfrm>
          <a:prstGeom prst="rect">
            <a:avLst/>
          </a:prstGeom>
          <a:noFill/>
          <a:ln/>
        </p:spPr>
        <p:txBody>
          <a:bodyPr wrap="square" lIns="0" tIns="0" rIns="0" bIns="0" rtlCol="0" anchor="ctr"/>
          <a:lstStyle/>
          <a:p>
            <a:pPr indent="0" marL="0">
              <a:buNone/>
            </a:pPr>
            <a:r>
              <a:rPr lang="en-US" sz="1300" b="1" dirty="0">
                <a:solidFill>
                  <a:schemeClr val="tx2"/>
                </a:solidFill>
              </a:rPr>
              <a:t>References</a:t>
            </a:r>
            <a:endParaRPr lang="en-US" sz="1300" dirty="0"/>
          </a:p>
        </p:txBody>
      </p:sp>
      <p:sp>
        <p:nvSpPr>
          <p:cNvPr id="15" name="Text 13"/>
          <p:cNvSpPr txBox="1"/>
          <p:nvPr/>
        </p:nvSpPr>
        <p:spPr>
          <a:xfrm>
            <a:off x="7406640" y="1645920"/>
            <a:ext cx="4282135" cy="3108960"/>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100" dirty="0">
                <a:solidFill>
                  <a:schemeClr val="tx1"/>
                </a:solidFill>
              </a:rPr>
              <a:t>SIH 2026 PS SIH26263, AICTE Regulation Bureau (sih.gov.in)</a:t>
            </a:r>
            <a:endParaRPr lang="en-US" sz="1100" dirty="0"/>
          </a:p>
          <a:p>
            <a:pPr marL="342900" indent="-342900">
              <a:spcAft>
                <a:spcPts val="200"/>
              </a:spcAft>
              <a:buSzPct val="100000"/>
              <a:buFont typeface="+mj-lt"/>
              <a:buAutoNum type="arabicPeriod" startAt="1"/>
            </a:pPr>
            <a:r>
              <a:rPr lang="en-US" sz="1100" dirty="0">
                <a:solidFill>
                  <a:schemeClr val="tx1"/>
                </a:solidFill>
              </a:rPr>
              <a:t>AICTE Approval Process Handbook 2024-27</a:t>
            </a:r>
            <a:endParaRPr lang="en-US" sz="1100" dirty="0"/>
          </a:p>
          <a:p>
            <a:pPr marL="342900" indent="-342900">
              <a:spcAft>
                <a:spcPts val="200"/>
              </a:spcAft>
              <a:buSzPct val="100000"/>
              <a:buFont typeface="+mj-lt"/>
              <a:buAutoNum type="arabicPeriod" startAt="1"/>
            </a:pPr>
            <a:r>
              <a:rPr lang="en-US" sz="1100" dirty="0">
                <a:solidFill>
                  <a:schemeClr val="tx1"/>
                </a:solidFill>
              </a:rPr>
              <a:t>AICTE circular, 23 Jun 2026: upload of APAAR-linked records to NAD/ABC</a:t>
            </a:r>
            <a:endParaRPr lang="en-US" sz="1100" dirty="0"/>
          </a:p>
          <a:p>
            <a:pPr marL="342900" indent="-342900">
              <a:spcAft>
                <a:spcPts val="200"/>
              </a:spcAft>
              <a:buSzPct val="100000"/>
              <a:buFont typeface="+mj-lt"/>
              <a:buAutoNum type="arabicPeriod" startAt="1"/>
            </a:pPr>
            <a:r>
              <a:rPr lang="en-US" sz="1100" dirty="0">
                <a:solidFill>
                  <a:schemeClr val="tx1"/>
                </a:solidFill>
              </a:rPr>
              <a:t>APAAR / Academic Bank of Credits (abc.gov.in), DigiLocker</a:t>
            </a:r>
            <a:endParaRPr lang="en-US" sz="1100" dirty="0"/>
          </a:p>
          <a:p>
            <a:pPr marL="342900" indent="-342900">
              <a:spcAft>
                <a:spcPts val="200"/>
              </a:spcAft>
              <a:buSzPct val="100000"/>
              <a:buFont typeface="+mj-lt"/>
              <a:buAutoNum type="arabicPeriod" startAt="1"/>
            </a:pPr>
            <a:r>
              <a:rPr lang="en-US" sz="1100" dirty="0">
                <a:solidFill>
                  <a:schemeClr val="tx1"/>
                </a:solidFill>
              </a:rPr>
              <a:t>API Setu: DigiLocker Requester &amp; Issuer API specifications</a:t>
            </a:r>
            <a:endParaRPr lang="en-US" sz="1100" dirty="0"/>
          </a:p>
          <a:p>
            <a:pPr marL="342900" indent="-342900">
              <a:spcAft>
                <a:spcPts val="200"/>
              </a:spcAft>
              <a:buSzPct val="100000"/>
              <a:buFont typeface="+mj-lt"/>
              <a:buAutoNum type="arabicPeriod" startAt="1"/>
            </a:pPr>
            <a:r>
              <a:rPr lang="en-US" sz="1100" dirty="0">
                <a:solidFill>
                  <a:schemeClr val="tx1"/>
                </a:solidFill>
              </a:rPr>
              <a:t>Digital Personal Data Protection Act 2023; DPDP Rules 2025</a:t>
            </a:r>
            <a:endParaRPr lang="en-US" sz="1100" dirty="0"/>
          </a:p>
          <a:p>
            <a:pPr marL="342900" indent="-342900">
              <a:spcAft>
                <a:spcPts val="200"/>
              </a:spcAft>
              <a:buSzPct val="100000"/>
              <a:buFont typeface="+mj-lt"/>
              <a:buAutoNum type="arabicPeriod" startAt="1"/>
            </a:pPr>
            <a:r>
              <a:rPr lang="en-US" sz="1100" dirty="0">
                <a:solidFill>
                  <a:schemeClr val="tx1"/>
                </a:solidFill>
              </a:rPr>
              <a:t>W3C Verifiable Credentials Data Model; RFC 8032 (Ed25519)</a:t>
            </a:r>
            <a:endParaRPr lang="en-US" sz="1100" dirty="0"/>
          </a:p>
          <a:p>
            <a:pPr marL="342900" indent="-342900">
              <a:spcAft>
                <a:spcPts val="200"/>
              </a:spcAft>
              <a:buSzPct val="100000"/>
              <a:buFont typeface="+mj-lt"/>
              <a:buAutoNum type="arabicPeriod" startAt="1"/>
            </a:pPr>
            <a:r>
              <a:rPr lang="en-US" sz="1100" dirty="0">
                <a:solidFill>
                  <a:schemeClr val="tx1"/>
                </a:solidFill>
              </a:rPr>
              <a:t>Liu, Ting &amp; Zhou (2008), Isolation Forest, IEEE ICDM</a:t>
            </a:r>
            <a:endParaRPr lang="en-US" sz="1100" dirty="0"/>
          </a:p>
          <a:p>
            <a:pPr marL="342900" indent="-342900">
              <a:spcAft>
                <a:spcPts val="200"/>
              </a:spcAft>
              <a:buSzPct val="100000"/>
              <a:buFont typeface="+mj-lt"/>
              <a:buAutoNum type="arabicPeriod" startAt="1"/>
            </a:pPr>
            <a:r>
              <a:rPr lang="en-US" sz="1100" dirty="0">
                <a:solidFill>
                  <a:schemeClr val="tx1"/>
                </a:solidFill>
              </a:rPr>
              <a:t>Fellegi &amp; Sunter (1969), A Theory for Record Linkage, JASA</a:t>
            </a:r>
            <a:endParaRPr lang="en-US" sz="1100" dirty="0"/>
          </a:p>
        </p:txBody>
      </p:sp>
      <p:sp>
        <p:nvSpPr>
          <p:cNvPr id="16" name="Shape 14"/>
          <p:cNvSpPr/>
          <p:nvPr/>
        </p:nvSpPr>
        <p:spPr>
          <a:xfrm>
            <a:off x="7406640" y="4892040"/>
            <a:ext cx="4282135" cy="1371600"/>
          </a:xfrm>
          <a:prstGeom prst="roundRect">
            <a:avLst>
              <a:gd name="adj" fmla="val 5333"/>
            </a:avLst>
          </a:prstGeom>
          <a:solidFill>
            <a:schemeClr val="bg2"/>
          </a:solidFill>
          <a:ln w="9525">
            <a:solidFill>
              <a:srgbClr val="D7E2F1"/>
            </a:solidFill>
            <a:prstDash val="solid"/>
          </a:ln>
        </p:spPr>
      </p:sp>
      <p:pic>
        <p:nvPicPr>
          <p:cNvPr id="17" name="Image 0" descr="QR code to the code repository">    </p:cNvPr>
          <p:cNvPicPr>
            <a:picLocks noChangeAspect="1"/>
          </p:cNvPicPr>
          <p:nvPr/>
        </p:nvPicPr>
        <p:blipFill>
          <a:blip r:embed="rId1"/>
          <a:stretch>
            <a:fillRect/>
          </a:stretch>
        </p:blipFill>
        <p:spPr>
          <a:xfrm>
            <a:off x="7543800" y="5001768"/>
            <a:ext cx="1152144" cy="1152144"/>
          </a:xfrm>
          <a:prstGeom prst="rect">
            <a:avLst/>
          </a:prstGeom>
        </p:spPr>
      </p:pic>
      <p:sp>
        <p:nvSpPr>
          <p:cNvPr id="18" name="Text 15"/>
          <p:cNvSpPr txBox="1"/>
          <p:nvPr/>
        </p:nvSpPr>
        <p:spPr>
          <a:xfrm>
            <a:off x="8823960" y="5001768"/>
            <a:ext cx="2727655" cy="1152144"/>
          </a:xfrm>
          <a:prstGeom prst="rect">
            <a:avLst/>
          </a:prstGeom>
          <a:noFill/>
          <a:ln/>
        </p:spPr>
        <p:txBody>
          <a:bodyPr wrap="square" lIns="0" tIns="0" rIns="0" bIns="0" rtlCol="0" anchor="ctr"/>
          <a:lstStyle/>
          <a:p>
            <a:pPr indent="0" marL="0">
              <a:buNone/>
            </a:pPr>
            <a:r>
              <a:rPr lang="en-US" sz="1200" b="1" dirty="0">
                <a:solidFill>
                  <a:srgbClr val="14325C"/>
                </a:solidFill>
              </a:rPr>
              <a:t>Prototype, code &amp; tests</a:t>
            </a:r>
            <a:endParaRPr lang="en-US" sz="1200" dirty="0"/>
          </a:p>
          <a:p>
            <a:pPr indent="0" marL="0">
              <a:buNone/>
            </a:pPr>
            <a:r>
              <a:rPr lang="en-US" sz="1200" u="sng" dirty="0">
                <a:solidFill>
                  <a:srgbClr val="0B0B0B"/>
                </a:solidFill>
                <a:hlinkClick r:id="rId2" invalidUrl="" action="" tgtFrame="" tooltip="" history="1" highlightClick="0" endSnd="0">
                  <a:extLst>
                    <a:ext uri="{A12FA001-AC4F-418D-AE19-62706E023703}">
                      <ahyp:hlinkClr xmlns:ahyp="http://schemas.microsoft.com/office/drawing/2018/hyperlinkcolor" val="tx"/>
                    </a:ext>
                  </a:extLst>
                </a:hlinkClick>
              </a:rPr>
              <a:t>github.com/Pulkitkh/AI_Riders_</a:t>
            </a:r>
            <a:endParaRPr lang="en-US" sz="1200" dirty="0"/>
          </a:p>
          <a:p>
            <a:pPr indent="0" marL="0">
              <a:buNone/>
            </a:pPr>
            <a:r>
              <a:rPr lang="en-US" sz="1050" dirty="0">
                <a:solidFill>
                  <a:srgbClr val="52514E"/>
                </a:solidFill>
              </a:rPr>
              <a:t>Synthetic data only</a:t>
            </a:r>
            <a:endParaRPr lang="en-US" sz="12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Vidya Pramaan">
  <a:themeElements>
    <a:clrScheme name="Vidya Pramaan">
      <a:dk1>
        <a:srgbClr val="0B0B0B"/>
      </a:dk1>
      <a:lt1>
        <a:srgbClr val="FFFFFF"/>
      </a:lt1>
      <a:dk2>
        <a:srgbClr val="14325C"/>
      </a:dk2>
      <a:lt2>
        <a:srgbClr val="EEF3FA"/>
      </a:lt2>
      <a:accent1>
        <a:srgbClr val="14325C"/>
      </a:accent1>
      <a:accent2>
        <a:srgbClr val="E07B1A"/>
      </a:accent2>
      <a:accent3>
        <a:srgbClr val="2A78D6"/>
      </a:accent3>
      <a:accent4>
        <a:srgbClr val="0C7A0C"/>
      </a:accent4>
      <a:accent5>
        <a:srgbClr val="C23434"/>
      </a:accent5>
      <a:accent6>
        <a:srgbClr val="52514E"/>
      </a:accent6>
      <a:hlink>
        <a:srgbClr val="1D4577"/>
      </a:hlink>
      <a:folHlink>
        <a:srgbClr val="6250D6"/>
      </a:folHlink>
    </a:clrScheme>
    <a:fontScheme name="Vidya Pramaa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PptxGenJS Presentation</dc:subject>
  <dc:creator>Team AI Riders</dc:creator>
  <cp:lastModifiedBy>Team AI Riders</cp:lastModifiedBy>
  <cp:revision>1</cp:revision>
  <dcterms:created xsi:type="dcterms:W3CDTF">2026-10-23T06:34:40Z</dcterms:created>
  <dcterms:modified xsi:type="dcterms:W3CDTF">2026-10-23T06:34:40Z</dcterms:modified>
</cp:coreProperties>
</file>