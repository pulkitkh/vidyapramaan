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29.6 lakh enrolments in AICTE institutions in 2025-26 and 24.25 crore APAAR IDs, yet AICTE today receives totals only. Excess admission costs five times the fee per student, and it surfaces in annual returns or inspections. Our flow is the one the problem statement asks for: upload, APAAR check, verification, central record, monitoring after every submission, consented verification. What is new is the per-student check against approved intake, which no existing national system makes, plus twin-safe name matching, ghost-admission rings, remembered decisions, signed audit checkpoints, sourced rules and APAAR on every degree.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Open-source stack, PostgreSQL tested. Every row goes through 31 explained rules; errors come back with reasons; accepted rows trigger a national scan and risk scoring against peers. The screenshot is the real prototype: 77 rows, 65 accepted, 12 returned. We are explicit about what is simulated: there is no public APAAR API yet, so the registry lookup is a mock behind an adapter that switches to DigiLocker or API Setu after onboarding.</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These are measurements on synthetic data, and we say so. On 49 held-out name pairs: precision 0.79, recall 0.92, against 0.65 and 0.68 for our earlier matcher. None of the 80 seeded twin pairs is flagged; 2 of 12 held-out twin pairs are, and go to an officer, who decides. Real-world accuracy is the first thing the pilot measures. 65 tests on SQLite and PostgreSQL with 93% coverage, plus security and accessibility checks on every push.</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Everyone gains from one national view: AICTE and regulators see problems at submission, institutions get explained errors, universities print APAAR on degrees, employers check a QR, students control access. Every item on the left is sourced: 42 excess seats times an 11 lakh fee times five is the 23.1 crore fine the Supreme Court upheld, national statistics arrive years late, and universities report APAAR mismatches this year. The benefits on the right are expected, not yet measured; the pilot measures them.</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do not replace NAD, ABC or AISHE; we fill the gap none of them covers: student-level reconciliation of admissions against approved intake. Sources are on the right. The three QR codes open the five-minute demo video, the live prototype, and the code with its tests.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Vidya Pramaan: one student, one APAAR ID, one verifiable record. A working prototype for SIH26263, live at the link on this slide, with seven demo roles and synthetic data only. The five-minute narrated demo video shows every role end to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vidya-pramaan-sih26263.onrender.com" TargetMode="External"/><Relationship Id="rId6" Type="http://schemas.openxmlformats.org/officeDocument/2006/relationships/hyperlink" Target="https://youtu.be/eBwySqMs63Q" TargetMode="External"/><Relationship Id="rId7"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18.png"/><Relationship Id="rId8" Type="http://schemas.openxmlformats.org/officeDocument/2006/relationships/image" Target="../media/image10.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hyperlink" Target="https://vidya-pramaan-sih26263.onrender.com" TargetMode="External"/><Relationship Id="rId13" Type="http://schemas.openxmlformats.org/officeDocument/2006/relationships/hyperlink" Target="https://youtu.be/eBwySqMs63Q"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8.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19.png"/><Relationship Id="rId13" Type="http://schemas.openxmlformats.org/officeDocument/2006/relationships/image" Target="../media/image14.png"/><Relationship Id="rId14" Type="http://schemas.openxmlformats.org/officeDocument/2006/relationships/image" Target="../media/image26.png"/><Relationship Id="rId15"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 Id="rId11" Type="http://schemas.openxmlformats.org/officeDocument/2006/relationships/image" Target="../media/image34.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youtu.be/eBwySqMs63Q" TargetMode="External"/><Relationship Id="rId6" Type="http://schemas.openxmlformats.org/officeDocument/2006/relationships/image" Target="../media/image21.png"/><Relationship Id="rId7" Type="http://schemas.openxmlformats.org/officeDocument/2006/relationships/hyperlink" Target="https://vidya-pramaan-sih26263.onrender.com" TargetMode="External"/><Relationship Id="rId8" Type="http://schemas.openxmlformats.org/officeDocument/2006/relationships/image" Target="../media/image39.png"/><Relationship Id="rId9" Type="http://schemas.openxmlformats.org/officeDocument/2006/relationships/hyperlink" Target="https://github.com/Pulkitkh/VidyaPrama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26880" cy="2076450"/>
          </a:xfrm>
        </p:spPr>
        <p:txBody>
          <a:bodyPr/>
          <a:lstStyle/>
          <a:p>
            <a:r>
              <a:rPr lang="en-US" sz="3600" b="1" dirty="0">
                <a:solidFill>
                  <a:schemeClr val="tx2"/>
                </a:solidFill>
                <a:latin typeface="Garamond" panose="02020404030301010803" pitchFamily="18" charset="0"/>
              </a:rPr>
              <a:t>SMART INDIA HACKATHON </a:t>
            </a:r>
            <a:r>
              <a:rPr lang="en-US" sz="36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240280"/>
            <a:ext cx="5669280" cy="4703019"/>
          </a:xfrm>
          <a:prstGeom prst="rect">
            <a:avLst/>
          </a:prstGeom>
          <a:noFill/>
        </p:spPr>
        <p:txBody>
          <a:bodyPr wrap="square" rtlCol="0">
            <a:spAutoFit/>
          </a:bodyPr>
          <a:lstStyle/>
          <a:p>
            <a:endParaRPr lang="en-US" dirty="0"/>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a:t>
            </a:r>
            <a:r>
              <a:rPr sz="1700" b="0">
                <a:solidFill>
                  <a:srgbClr val="0070C0"/>
                </a:solidFill>
                <a:latin typeface="Arial"/>
              </a:rPr>
              <a:t> SIH26263</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a:t>
            </a:r>
            <a:r>
              <a:rPr sz="1500" b="0">
                <a:solidFill>
                  <a:srgbClr val="0070C0"/>
                </a:solidFill>
                <a:latin typeface="Arial"/>
              </a:rPr>
              <a:t> Development of an APAAR ID-Based Student Data Management and Verification Platform for AICTE-Approved Institutions</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a:t>
            </a:r>
            <a:r>
              <a:rPr sz="1700" b="0">
                <a:solidFill>
                  <a:srgbClr val="0070C0"/>
                </a:solidFill>
                <a:latin typeface="Arial"/>
              </a:rPr>
              <a:t> Smart Automation</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a:t>
            </a:r>
            <a:r>
              <a:rPr sz="1700" b="0">
                <a:solidFill>
                  <a:srgbClr val="0070C0"/>
                </a:solidFill>
                <a:latin typeface="Arial"/>
              </a:rPr>
              <a:t>Software</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a:t>
            </a:r>
            <a:r>
              <a:rPr sz="1700" b="0">
                <a:solidFill>
                  <a:srgbClr val="0070C0"/>
                </a:solidFill>
                <a:latin typeface="Arial"/>
              </a:rPr>
              <a:t> 194599</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a:t>
            </a:r>
            <a:r>
              <a:rPr sz="1700" b="0">
                <a:solidFill>
                  <a:srgbClr val="0070C0"/>
                </a:solidFill>
                <a:latin typeface="Arial"/>
              </a:rPr>
              <a:t> AI Riders</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411480" y="5413248"/>
            <a:ext cx="5760720"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8640" y="5660136"/>
            <a:ext cx="694944" cy="6949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LuShieldCheck_white.png"/>
          <p:cNvPicPr>
            <a:picLocks noChangeAspect="1"/>
          </p:cNvPicPr>
          <p:nvPr/>
        </p:nvPicPr>
        <p:blipFill>
          <a:blip r:embed="rId4"/>
          <a:stretch>
            <a:fillRect/>
          </a:stretch>
        </p:blipFill>
        <p:spPr>
          <a:xfrm>
            <a:off x="701527" y="5813023"/>
            <a:ext cx="389168" cy="389168"/>
          </a:xfrm>
          <a:prstGeom prst="rect">
            <a:avLst/>
          </a:prstGeom>
        </p:spPr>
      </p:pic>
      <p:sp>
        <p:nvSpPr>
          <p:cNvPr id="41" name="TextBox 40"/>
          <p:cNvSpPr txBox="1"/>
          <p:nvPr/>
        </p:nvSpPr>
        <p:spPr>
          <a:xfrm>
            <a:off x="1389888" y="5449824"/>
            <a:ext cx="4709160" cy="1115568"/>
          </a:xfrm>
          <a:prstGeom prst="rect">
            <a:avLst/>
          </a:prstGeom>
          <a:noFill/>
        </p:spPr>
        <p:txBody>
          <a:bodyPr wrap="square" lIns="45720" rIns="45720" tIns="18288" bIns="18288" anchor="ctr"/>
          <a:lstStyle/>
          <a:p>
            <a:pPr algn="l"/>
            <a:r>
              <a:rPr sz="2000" b="1" i="0">
                <a:solidFill>
                  <a:srgbClr val="1F3864"/>
                </a:solidFill>
                <a:latin typeface="Arial"/>
              </a:rPr>
              <a:t>VIDYA PRAMAAN</a:t>
            </a:r>
          </a:p>
          <a:p>
            <a:pPr algn="l"/>
            <a:r>
              <a:rPr sz="1200" b="0" i="0">
                <a:solidFill>
                  <a:srgbClr val="1A1A1A"/>
                </a:solidFill>
                <a:latin typeface="Arial"/>
              </a:rPr>
              <a:t>One student. One APAAR ID. One verifiable record.</a:t>
            </a:r>
          </a:p>
          <a:p>
            <a:pPr algn="l"/>
            <a:r>
              <a:rPr sz="1100" b="0" i="0">
                <a:solidFill>
                  <a:srgbClr val="595959"/>
                </a:solidFill>
                <a:latin typeface="Arial"/>
              </a:rPr>
              <a:t>Working prototype: </a:t>
            </a:r>
            <a:r>
              <a:rPr sz="1100" b="0" i="0">
                <a:solidFill>
                  <a:srgbClr val="0070C0"/>
                </a:solidFill>
                <a:latin typeface="Arial"/>
                <a:hlinkClick r:id="rId5"/>
              </a:rPr>
              <a:t>vidya-pramaan-sih26263.onrender.com</a:t>
            </a:r>
          </a:p>
          <a:p>
            <a:pPr algn="l"/>
            <a:r>
              <a:rPr sz="1100" b="0" i="0">
                <a:solidFill>
                  <a:srgbClr val="595959"/>
                </a:solidFill>
                <a:latin typeface="Arial"/>
              </a:rPr>
              <a:t>Demo video (5 min): </a:t>
            </a:r>
            <a:r>
              <a:rPr sz="1100" b="0" i="0">
                <a:solidFill>
                  <a:srgbClr val="0070C0"/>
                </a:solidFill>
                <a:latin typeface="Arial"/>
                <a:hlinkClick r:id="rId6"/>
              </a:rPr>
              <a:t>youtu.be/eBwySqMs63Q</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274320"/>
            <a:ext cx="10972800" cy="502920"/>
          </a:xfrm>
        </p:spPr>
        <p:txBody>
          <a:bodyPr anchor="ctr" tIns="0" bIns="0"/>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VIDYA PRAMAAN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TextBox 15362"/>
          <p:cNvSpPr txBox="1"/>
          <p:nvPr/>
        </p:nvSpPr>
        <p:spPr>
          <a:xfrm>
            <a:off x="2011680" y="731520"/>
            <a:ext cx="8138160" cy="310896"/>
          </a:xfrm>
          <a:prstGeom prst="rect">
            <a:avLst/>
          </a:prstGeom>
          <a:noFill/>
        </p:spPr>
        <p:txBody>
          <a:bodyPr wrap="square" lIns="45720" rIns="45720" tIns="18288" bIns="18288" anchor="ctr"/>
          <a:lstStyle/>
          <a:p>
            <a:pPr algn="ctr"/>
            <a:r>
              <a:rPr sz="1200" b="1" i="0">
                <a:solidFill>
                  <a:srgbClr val="1F3864"/>
                </a:solidFill>
                <a:latin typeface="Arial"/>
              </a:rPr>
              <a:t>29.6 lakh</a:t>
            </a:r>
            <a:r>
              <a:rPr sz="1200" b="0" i="0">
                <a:solidFill>
                  <a:srgbClr val="595959"/>
                </a:solidFill>
                <a:latin typeface="Arial"/>
              </a:rPr>
              <a:t> enrolments in AICTE institutions (2025-26)  ·  </a:t>
            </a:r>
            <a:r>
              <a:rPr sz="1200" b="1" i="0">
                <a:solidFill>
                  <a:srgbClr val="1F3864"/>
                </a:solidFill>
                <a:latin typeface="Arial"/>
              </a:rPr>
              <a:t>24.25 crore</a:t>
            </a:r>
            <a:r>
              <a:rPr sz="1200" b="0" i="0">
                <a:solidFill>
                  <a:srgbClr val="595959"/>
                </a:solidFill>
                <a:latin typeface="Arial"/>
              </a:rPr>
              <a:t> APAAR IDs issued (Mar 2026)</a:t>
            </a:r>
          </a:p>
        </p:txBody>
      </p:sp>
      <p:sp>
        <p:nvSpPr>
          <p:cNvPr id="15364" name="TextBox 15363"/>
          <p:cNvSpPr txBox="1"/>
          <p:nvPr/>
        </p:nvSpPr>
        <p:spPr>
          <a:xfrm>
            <a:off x="274320" y="1097280"/>
            <a:ext cx="11612880" cy="347472"/>
          </a:xfrm>
          <a:prstGeom prst="rect">
            <a:avLst/>
          </a:prstGeom>
          <a:noFill/>
        </p:spPr>
        <p:txBody>
          <a:bodyPr wrap="square" lIns="45720" rIns="45720" tIns="18288" bIns="18288" anchor="ctr"/>
          <a:lstStyle/>
          <a:p>
            <a:pPr algn="l"/>
            <a:r>
              <a:rPr sz="1700" b="1" i="0">
                <a:solidFill>
                  <a:srgbClr val="0070C0"/>
                </a:solidFill>
                <a:latin typeface="Arial"/>
              </a:rPr>
              <a:t>❖ </a:t>
            </a:r>
            <a:r>
              <a:rPr sz="1700" b="1" i="0">
                <a:solidFill>
                  <a:srgbClr val="1F3864"/>
                </a:solidFill>
                <a:latin typeface="Arial"/>
              </a:rPr>
              <a:t>Proposed Solution (Describe your Idea/Solution/Prototype)</a:t>
            </a:r>
          </a:p>
        </p:txBody>
      </p:sp>
      <p:sp>
        <p:nvSpPr>
          <p:cNvPr id="15365" name="Rounded Rectangle 15364"/>
          <p:cNvSpPr/>
          <p:nvPr/>
        </p:nvSpPr>
        <p:spPr>
          <a:xfrm>
            <a:off x="320040" y="1517904"/>
            <a:ext cx="42062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Detailed explanation of the proposed solution</a:t>
            </a:r>
          </a:p>
        </p:txBody>
      </p:sp>
      <p:sp>
        <p:nvSpPr>
          <p:cNvPr id="15366" name="Oval 15365"/>
          <p:cNvSpPr/>
          <p:nvPr/>
        </p:nvSpPr>
        <p:spPr>
          <a:xfrm>
            <a:off x="10858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67" name="Picture 15366" descr="LuUpload_white.png"/>
          <p:cNvPicPr>
            <a:picLocks noChangeAspect="1"/>
          </p:cNvPicPr>
          <p:nvPr/>
        </p:nvPicPr>
        <p:blipFill>
          <a:blip r:embed="rId4"/>
          <a:stretch>
            <a:fillRect/>
          </a:stretch>
        </p:blipFill>
        <p:spPr>
          <a:xfrm>
            <a:off x="1206550" y="2004364"/>
            <a:ext cx="307238" cy="307238"/>
          </a:xfrm>
          <a:prstGeom prst="rect">
            <a:avLst/>
          </a:prstGeom>
        </p:spPr>
      </p:pic>
      <p:cxnSp>
        <p:nvCxnSpPr>
          <p:cNvPr id="15368" name="Connector 15367"/>
          <p:cNvCxnSpPr/>
          <p:nvPr/>
        </p:nvCxnSpPr>
        <p:spPr>
          <a:xfrm>
            <a:off x="172592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TextBox 15368"/>
          <p:cNvSpPr txBox="1"/>
          <p:nvPr/>
        </p:nvSpPr>
        <p:spPr>
          <a:xfrm>
            <a:off x="4114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Institution upload</a:t>
            </a:r>
          </a:p>
        </p:txBody>
      </p:sp>
      <p:sp>
        <p:nvSpPr>
          <p:cNvPr id="15370" name="TextBox 15369"/>
          <p:cNvSpPr txBox="1"/>
          <p:nvPr/>
        </p:nvSpPr>
        <p:spPr>
          <a:xfrm>
            <a:off x="4114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Excel · CSV · ERP API</a:t>
            </a:r>
          </a:p>
        </p:txBody>
      </p:sp>
      <p:sp>
        <p:nvSpPr>
          <p:cNvPr id="15371" name="Oval 15370"/>
          <p:cNvSpPr/>
          <p:nvPr/>
        </p:nvSpPr>
        <p:spPr>
          <a:xfrm>
            <a:off x="298323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2" name="Picture 15371" descr="LuFingerprint_white.png"/>
          <p:cNvPicPr>
            <a:picLocks noChangeAspect="1"/>
          </p:cNvPicPr>
          <p:nvPr/>
        </p:nvPicPr>
        <p:blipFill>
          <a:blip r:embed="rId5"/>
          <a:stretch>
            <a:fillRect/>
          </a:stretch>
        </p:blipFill>
        <p:spPr>
          <a:xfrm>
            <a:off x="3103930" y="2004364"/>
            <a:ext cx="307238" cy="307238"/>
          </a:xfrm>
          <a:prstGeom prst="rect">
            <a:avLst/>
          </a:prstGeom>
        </p:spPr>
      </p:pic>
      <p:cxnSp>
        <p:nvCxnSpPr>
          <p:cNvPr id="15373" name="Connector 15372"/>
          <p:cNvCxnSpPr/>
          <p:nvPr/>
        </p:nvCxnSpPr>
        <p:spPr>
          <a:xfrm>
            <a:off x="362331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TextBox 15373"/>
          <p:cNvSpPr txBox="1"/>
          <p:nvPr/>
        </p:nvSpPr>
        <p:spPr>
          <a:xfrm>
            <a:off x="230886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APAAR validation</a:t>
            </a:r>
          </a:p>
        </p:txBody>
      </p:sp>
      <p:sp>
        <p:nvSpPr>
          <p:cNvPr id="15375" name="TextBox 15374"/>
          <p:cNvSpPr txBox="1"/>
          <p:nvPr/>
        </p:nvSpPr>
        <p:spPr>
          <a:xfrm>
            <a:off x="230886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registry + consent</a:t>
            </a:r>
          </a:p>
        </p:txBody>
      </p:sp>
      <p:sp>
        <p:nvSpPr>
          <p:cNvPr id="15376" name="Oval 15375"/>
          <p:cNvSpPr/>
          <p:nvPr/>
        </p:nvSpPr>
        <p:spPr>
          <a:xfrm>
            <a:off x="488060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7" name="Picture 15376" descr="LuListChecks_white.png"/>
          <p:cNvPicPr>
            <a:picLocks noChangeAspect="1"/>
          </p:cNvPicPr>
          <p:nvPr/>
        </p:nvPicPr>
        <p:blipFill>
          <a:blip r:embed="rId6"/>
          <a:stretch>
            <a:fillRect/>
          </a:stretch>
        </p:blipFill>
        <p:spPr>
          <a:xfrm>
            <a:off x="5001310" y="2004364"/>
            <a:ext cx="307238" cy="307238"/>
          </a:xfrm>
          <a:prstGeom prst="rect">
            <a:avLst/>
          </a:prstGeom>
        </p:spPr>
      </p:pic>
      <p:cxnSp>
        <p:nvCxnSpPr>
          <p:cNvPr id="15378" name="Connector 15377"/>
          <p:cNvCxnSpPr/>
          <p:nvPr/>
        </p:nvCxnSpPr>
        <p:spPr>
          <a:xfrm>
            <a:off x="552069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9" name="TextBox 15378"/>
          <p:cNvSpPr txBox="1"/>
          <p:nvPr/>
        </p:nvSpPr>
        <p:spPr>
          <a:xfrm>
            <a:off x="420624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Data verification</a:t>
            </a:r>
          </a:p>
        </p:txBody>
      </p:sp>
      <p:sp>
        <p:nvSpPr>
          <p:cNvPr id="15380" name="TextBox 15379"/>
          <p:cNvSpPr txBox="1"/>
          <p:nvPr/>
        </p:nvSpPr>
        <p:spPr>
          <a:xfrm>
            <a:off x="420624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31 explained rules</a:t>
            </a:r>
          </a:p>
        </p:txBody>
      </p:sp>
      <p:sp>
        <p:nvSpPr>
          <p:cNvPr id="15381" name="Oval 15380"/>
          <p:cNvSpPr/>
          <p:nvPr/>
        </p:nvSpPr>
        <p:spPr>
          <a:xfrm>
            <a:off x="677799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2" name="Picture 15381" descr="LuDatabase_white.png"/>
          <p:cNvPicPr>
            <a:picLocks noChangeAspect="1"/>
          </p:cNvPicPr>
          <p:nvPr/>
        </p:nvPicPr>
        <p:blipFill>
          <a:blip r:embed="rId7"/>
          <a:stretch>
            <a:fillRect/>
          </a:stretch>
        </p:blipFill>
        <p:spPr>
          <a:xfrm>
            <a:off x="6898690" y="2004364"/>
            <a:ext cx="307238" cy="307238"/>
          </a:xfrm>
          <a:prstGeom prst="rect">
            <a:avLst/>
          </a:prstGeom>
        </p:spPr>
      </p:pic>
      <p:cxnSp>
        <p:nvCxnSpPr>
          <p:cNvPr id="15383" name="Connector 15382"/>
          <p:cNvCxnSpPr/>
          <p:nvPr/>
        </p:nvCxnSpPr>
        <p:spPr>
          <a:xfrm>
            <a:off x="7418069" y="2157984"/>
            <a:ext cx="1165861"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4" name="TextBox 15383"/>
          <p:cNvSpPr txBox="1"/>
          <p:nvPr/>
        </p:nvSpPr>
        <p:spPr>
          <a:xfrm>
            <a:off x="610362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Central repository</a:t>
            </a:r>
          </a:p>
        </p:txBody>
      </p:sp>
      <p:sp>
        <p:nvSpPr>
          <p:cNvPr id="15385" name="TextBox 15384"/>
          <p:cNvSpPr txBox="1"/>
          <p:nvPr/>
        </p:nvSpPr>
        <p:spPr>
          <a:xfrm>
            <a:off x="610362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one record per student</a:t>
            </a:r>
          </a:p>
        </p:txBody>
      </p:sp>
      <p:sp>
        <p:nvSpPr>
          <p:cNvPr id="15386" name="Oval 15385"/>
          <p:cNvSpPr/>
          <p:nvPr/>
        </p:nvSpPr>
        <p:spPr>
          <a:xfrm>
            <a:off x="867536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7" name="Picture 15386" descr="LuActivity_white.png"/>
          <p:cNvPicPr>
            <a:picLocks noChangeAspect="1"/>
          </p:cNvPicPr>
          <p:nvPr/>
        </p:nvPicPr>
        <p:blipFill>
          <a:blip r:embed="rId8"/>
          <a:stretch>
            <a:fillRect/>
          </a:stretch>
        </p:blipFill>
        <p:spPr>
          <a:xfrm>
            <a:off x="8796070" y="2004364"/>
            <a:ext cx="307238" cy="307238"/>
          </a:xfrm>
          <a:prstGeom prst="rect">
            <a:avLst/>
          </a:prstGeom>
        </p:spPr>
      </p:pic>
      <p:cxnSp>
        <p:nvCxnSpPr>
          <p:cNvPr id="15388" name="Connector 15387"/>
          <p:cNvCxnSpPr/>
          <p:nvPr/>
        </p:nvCxnSpPr>
        <p:spPr>
          <a:xfrm>
            <a:off x="931544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9" name="TextBox 15388"/>
          <p:cNvSpPr txBox="1"/>
          <p:nvPr/>
        </p:nvSpPr>
        <p:spPr>
          <a:xfrm>
            <a:off x="800099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Analytics &amp; monitoring</a:t>
            </a:r>
          </a:p>
        </p:txBody>
      </p:sp>
      <p:sp>
        <p:nvSpPr>
          <p:cNvPr id="15390" name="TextBox 15389"/>
          <p:cNvSpPr txBox="1"/>
          <p:nvPr/>
        </p:nvSpPr>
        <p:spPr>
          <a:xfrm>
            <a:off x="800099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after every submission</a:t>
            </a:r>
          </a:p>
        </p:txBody>
      </p:sp>
      <p:sp>
        <p:nvSpPr>
          <p:cNvPr id="15391" name="Oval 15390"/>
          <p:cNvSpPr/>
          <p:nvPr/>
        </p:nvSpPr>
        <p:spPr>
          <a:xfrm>
            <a:off x="105727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92" name="Picture 15391" descr="LuQrCode_white.png"/>
          <p:cNvPicPr>
            <a:picLocks noChangeAspect="1"/>
          </p:cNvPicPr>
          <p:nvPr/>
        </p:nvPicPr>
        <p:blipFill>
          <a:blip r:embed="rId9"/>
          <a:stretch>
            <a:fillRect/>
          </a:stretch>
        </p:blipFill>
        <p:spPr>
          <a:xfrm>
            <a:off x="10693450" y="2004364"/>
            <a:ext cx="307238" cy="307238"/>
          </a:xfrm>
          <a:prstGeom prst="rect">
            <a:avLst/>
          </a:prstGeom>
        </p:spPr>
      </p:pic>
      <p:sp>
        <p:nvSpPr>
          <p:cNvPr id="15393" name="TextBox 15392"/>
          <p:cNvSpPr txBox="1"/>
          <p:nvPr/>
        </p:nvSpPr>
        <p:spPr>
          <a:xfrm>
            <a:off x="98983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Authorised verification</a:t>
            </a:r>
          </a:p>
        </p:txBody>
      </p:sp>
      <p:sp>
        <p:nvSpPr>
          <p:cNvPr id="15394" name="TextBox 15393"/>
          <p:cNvSpPr txBox="1"/>
          <p:nvPr/>
        </p:nvSpPr>
        <p:spPr>
          <a:xfrm>
            <a:off x="98983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consent + signed QR</a:t>
            </a:r>
          </a:p>
        </p:txBody>
      </p:sp>
      <p:sp>
        <p:nvSpPr>
          <p:cNvPr id="15395" name="Rounded Rectangle 15394"/>
          <p:cNvSpPr/>
          <p:nvPr/>
        </p:nvSpPr>
        <p:spPr>
          <a:xfrm>
            <a:off x="320040" y="2962656"/>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E46C0A"/>
                </a:solidFill>
                <a:latin typeface="Arial"/>
              </a:rPr>
              <a:t>What is new  </a:t>
            </a:r>
            <a:r>
              <a:rPr sz="1200" b="0" i="0">
                <a:solidFill>
                  <a:srgbClr val="1A1A1A"/>
                </a:solidFill>
                <a:latin typeface="Arial"/>
              </a:rPr>
              <a:t>no national system checks each admission against approved intake. We add that check, on top of APAAR.</a:t>
            </a:r>
          </a:p>
        </p:txBody>
      </p:sp>
      <p:sp>
        <p:nvSpPr>
          <p:cNvPr id="15396" name="Rounded Rectangle 15395"/>
          <p:cNvSpPr/>
          <p:nvPr/>
        </p:nvSpPr>
        <p:spPr>
          <a:xfrm>
            <a:off x="320040" y="3328416"/>
            <a:ext cx="566928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How it addresses the problem</a:t>
            </a:r>
          </a:p>
        </p:txBody>
      </p:sp>
      <p:sp>
        <p:nvSpPr>
          <p:cNvPr id="15397" name="Rounded Rectangle 15396"/>
          <p:cNvSpPr/>
          <p:nvPr/>
        </p:nvSpPr>
        <p:spPr>
          <a:xfrm>
            <a:off x="320040" y="373075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AICTE gets only totals (PS)</a:t>
            </a:r>
          </a:p>
        </p:txBody>
      </p:sp>
      <p:cxnSp>
        <p:nvCxnSpPr>
          <p:cNvPr id="15398" name="Connector 15397"/>
          <p:cNvCxnSpPr/>
          <p:nvPr/>
        </p:nvCxnSpPr>
        <p:spPr>
          <a:xfrm>
            <a:off x="2880360" y="400507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99" name="Rounded Rectangle 15398"/>
          <p:cNvSpPr/>
          <p:nvPr/>
        </p:nvSpPr>
        <p:spPr>
          <a:xfrm>
            <a:off x="3383280" y="373075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Student-level records on APAAR</a:t>
            </a:r>
          </a:p>
        </p:txBody>
      </p:sp>
      <p:sp>
        <p:nvSpPr>
          <p:cNvPr id="15400" name="Rounded Rectangle 15399"/>
          <p:cNvSpPr/>
          <p:nvPr/>
        </p:nvSpPr>
        <p:spPr>
          <a:xfrm>
            <a:off x="320040" y="437083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Excess seat: 5× fee fine each (APH)</a:t>
            </a:r>
          </a:p>
        </p:txBody>
      </p:sp>
      <p:cxnSp>
        <p:nvCxnSpPr>
          <p:cNvPr id="15401" name="Connector 15400"/>
          <p:cNvCxnSpPr/>
          <p:nvPr/>
        </p:nvCxnSpPr>
        <p:spPr>
          <a:xfrm>
            <a:off x="2880360" y="464515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2" name="Rounded Rectangle 15401"/>
          <p:cNvSpPr/>
          <p:nvPr/>
        </p:nvSpPr>
        <p:spPr>
          <a:xfrm>
            <a:off x="3383280" y="437083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Seat #61 of 60 refused at upload</a:t>
            </a:r>
          </a:p>
        </p:txBody>
      </p:sp>
      <p:sp>
        <p:nvSpPr>
          <p:cNvPr id="15403" name="Rounded Rectangle 15402"/>
          <p:cNvSpPr/>
          <p:nvPr/>
        </p:nvSpPr>
        <p:spPr>
          <a:xfrm>
            <a:off x="320040" y="501091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Same student at two colleges</a:t>
            </a:r>
          </a:p>
        </p:txBody>
      </p:sp>
      <p:cxnSp>
        <p:nvCxnSpPr>
          <p:cNvPr id="15404" name="Connector 15403"/>
          <p:cNvCxnSpPr/>
          <p:nvPr/>
        </p:nvCxnSpPr>
        <p:spPr>
          <a:xfrm>
            <a:off x="2880360" y="528523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5" name="Rounded Rectangle 15404"/>
          <p:cNvSpPr/>
          <p:nvPr/>
        </p:nvSpPr>
        <p:spPr>
          <a:xfrm>
            <a:off x="3383280" y="501091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Cross-college match + contact rings</a:t>
            </a:r>
          </a:p>
        </p:txBody>
      </p:sp>
      <p:sp>
        <p:nvSpPr>
          <p:cNvPr id="15406" name="Rounded Rectangle 15405"/>
          <p:cNvSpPr/>
          <p:nvPr/>
        </p:nvSpPr>
        <p:spPr>
          <a:xfrm>
            <a:off x="320040" y="565099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Hard to verify at source (PS)</a:t>
            </a:r>
          </a:p>
        </p:txBody>
      </p:sp>
      <p:cxnSp>
        <p:nvCxnSpPr>
          <p:cNvPr id="15407" name="Connector 15406"/>
          <p:cNvCxnSpPr/>
          <p:nvPr/>
        </p:nvCxnSpPr>
        <p:spPr>
          <a:xfrm>
            <a:off x="2880360" y="592531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8" name="Rounded Rectangle 15407"/>
          <p:cNvSpPr/>
          <p:nvPr/>
        </p:nvSpPr>
        <p:spPr>
          <a:xfrm>
            <a:off x="3383280" y="565099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Signed QR, checks offline</a:t>
            </a:r>
          </a:p>
        </p:txBody>
      </p:sp>
      <p:sp>
        <p:nvSpPr>
          <p:cNvPr id="15409" name="Rounded Rectangle 15408"/>
          <p:cNvSpPr/>
          <p:nvPr/>
        </p:nvSpPr>
        <p:spPr>
          <a:xfrm>
            <a:off x="6217920" y="3328416"/>
            <a:ext cx="565099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Innovation and uniqueness of the solution</a:t>
            </a:r>
          </a:p>
        </p:txBody>
      </p:sp>
      <p:sp>
        <p:nvSpPr>
          <p:cNvPr id="15410" name="Rounded Rectangle 15409"/>
          <p:cNvSpPr/>
          <p:nvPr/>
        </p:nvSpPr>
        <p:spPr>
          <a:xfrm>
            <a:off x="621792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1" name="Oval 15410"/>
          <p:cNvSpPr/>
          <p:nvPr/>
        </p:nvSpPr>
        <p:spPr>
          <a:xfrm>
            <a:off x="689457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2" name="Picture 15411" descr="LuUsers2_white.png"/>
          <p:cNvPicPr>
            <a:picLocks noChangeAspect="1"/>
          </p:cNvPicPr>
          <p:nvPr/>
        </p:nvPicPr>
        <p:blipFill>
          <a:blip r:embed="rId10"/>
          <a:stretch>
            <a:fillRect/>
          </a:stretch>
        </p:blipFill>
        <p:spPr>
          <a:xfrm>
            <a:off x="6995160" y="3904488"/>
            <a:ext cx="256032" cy="256032"/>
          </a:xfrm>
          <a:prstGeom prst="rect">
            <a:avLst/>
          </a:prstGeom>
        </p:spPr>
      </p:pic>
      <p:sp>
        <p:nvSpPr>
          <p:cNvPr id="15413" name="TextBox 15412"/>
          <p:cNvSpPr txBox="1"/>
          <p:nvPr/>
        </p:nvSpPr>
        <p:spPr>
          <a:xfrm>
            <a:off x="626364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Twin-safe matching</a:t>
            </a:r>
          </a:p>
        </p:txBody>
      </p:sp>
      <p:sp>
        <p:nvSpPr>
          <p:cNvPr id="15414" name="TextBox 15413"/>
          <p:cNvSpPr txBox="1"/>
          <p:nvPr/>
        </p:nvSpPr>
        <p:spPr>
          <a:xfrm>
            <a:off x="626364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Mohd = Mohammed
Rohit ≠ Mohit</a:t>
            </a:r>
          </a:p>
        </p:txBody>
      </p:sp>
      <p:sp>
        <p:nvSpPr>
          <p:cNvPr id="15415" name="Rounded Rectangle 15414"/>
          <p:cNvSpPr/>
          <p:nvPr/>
        </p:nvSpPr>
        <p:spPr>
          <a:xfrm>
            <a:off x="813816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6" name="Oval 15415"/>
          <p:cNvSpPr/>
          <p:nvPr/>
        </p:nvSpPr>
        <p:spPr>
          <a:xfrm>
            <a:off x="881481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7" name="Picture 15416" descr="LuNetwork_white.png"/>
          <p:cNvPicPr>
            <a:picLocks noChangeAspect="1"/>
          </p:cNvPicPr>
          <p:nvPr/>
        </p:nvPicPr>
        <p:blipFill>
          <a:blip r:embed="rId11"/>
          <a:stretch>
            <a:fillRect/>
          </a:stretch>
        </p:blipFill>
        <p:spPr>
          <a:xfrm>
            <a:off x="8915400" y="3904488"/>
            <a:ext cx="256032" cy="256032"/>
          </a:xfrm>
          <a:prstGeom prst="rect">
            <a:avLst/>
          </a:prstGeom>
        </p:spPr>
      </p:pic>
      <p:sp>
        <p:nvSpPr>
          <p:cNvPr id="15418" name="TextBox 15417"/>
          <p:cNvSpPr txBox="1"/>
          <p:nvPr/>
        </p:nvSpPr>
        <p:spPr>
          <a:xfrm>
            <a:off x="818388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Ghost-admission map</a:t>
            </a:r>
          </a:p>
        </p:txBody>
      </p:sp>
      <p:sp>
        <p:nvSpPr>
          <p:cNvPr id="15419" name="TextBox 15418"/>
          <p:cNvSpPr txBox="1"/>
          <p:nvPr/>
        </p:nvSpPr>
        <p:spPr>
          <a:xfrm>
            <a:off x="818388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1 phone, 8 students,
2 colleges</a:t>
            </a:r>
          </a:p>
        </p:txBody>
      </p:sp>
      <p:sp>
        <p:nvSpPr>
          <p:cNvPr id="15420" name="Rounded Rectangle 15419"/>
          <p:cNvSpPr/>
          <p:nvPr/>
        </p:nvSpPr>
        <p:spPr>
          <a:xfrm>
            <a:off x="1005840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1" name="Oval 15420"/>
          <p:cNvSpPr/>
          <p:nvPr/>
        </p:nvSpPr>
        <p:spPr>
          <a:xfrm>
            <a:off x="1073505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2" name="Picture 15421" descr="LuHistory_white.png"/>
          <p:cNvPicPr>
            <a:picLocks noChangeAspect="1"/>
          </p:cNvPicPr>
          <p:nvPr/>
        </p:nvPicPr>
        <p:blipFill>
          <a:blip r:embed="rId12"/>
          <a:stretch>
            <a:fillRect/>
          </a:stretch>
        </p:blipFill>
        <p:spPr>
          <a:xfrm>
            <a:off x="10835640" y="3904488"/>
            <a:ext cx="256032" cy="256032"/>
          </a:xfrm>
          <a:prstGeom prst="rect">
            <a:avLst/>
          </a:prstGeom>
        </p:spPr>
      </p:pic>
      <p:sp>
        <p:nvSpPr>
          <p:cNvPr id="15423" name="TextBox 15422"/>
          <p:cNvSpPr txBox="1"/>
          <p:nvPr/>
        </p:nvSpPr>
        <p:spPr>
          <a:xfrm>
            <a:off x="1010412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Decisions kept</a:t>
            </a:r>
          </a:p>
        </p:txBody>
      </p:sp>
      <p:sp>
        <p:nvSpPr>
          <p:cNvPr id="15424" name="TextBox 15423"/>
          <p:cNvSpPr txBox="1"/>
          <p:nvPr/>
        </p:nvSpPr>
        <p:spPr>
          <a:xfrm>
            <a:off x="1010412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with a reason;
never re-flagged</a:t>
            </a:r>
          </a:p>
        </p:txBody>
      </p:sp>
      <p:sp>
        <p:nvSpPr>
          <p:cNvPr id="15425" name="Rounded Rectangle 15424"/>
          <p:cNvSpPr/>
          <p:nvPr/>
        </p:nvSpPr>
        <p:spPr>
          <a:xfrm>
            <a:off x="621792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6" name="Oval 15425"/>
          <p:cNvSpPr/>
          <p:nvPr/>
        </p:nvSpPr>
        <p:spPr>
          <a:xfrm>
            <a:off x="689457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7" name="Picture 15426" descr="LuStamp_white.png"/>
          <p:cNvPicPr>
            <a:picLocks noChangeAspect="1"/>
          </p:cNvPicPr>
          <p:nvPr/>
        </p:nvPicPr>
        <p:blipFill>
          <a:blip r:embed="rId13"/>
          <a:stretch>
            <a:fillRect/>
          </a:stretch>
        </p:blipFill>
        <p:spPr>
          <a:xfrm>
            <a:off x="6995160" y="5202936"/>
            <a:ext cx="256032" cy="256032"/>
          </a:xfrm>
          <a:prstGeom prst="rect">
            <a:avLst/>
          </a:prstGeom>
        </p:spPr>
      </p:pic>
      <p:sp>
        <p:nvSpPr>
          <p:cNvPr id="15428" name="TextBox 15427"/>
          <p:cNvSpPr txBox="1"/>
          <p:nvPr/>
        </p:nvSpPr>
        <p:spPr>
          <a:xfrm>
            <a:off x="626364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Signed checkpoints</a:t>
            </a:r>
          </a:p>
        </p:txBody>
      </p:sp>
      <p:sp>
        <p:nvSpPr>
          <p:cNvPr id="15429" name="TextBox 15428"/>
          <p:cNvSpPr txBox="1"/>
          <p:nvPr/>
        </p:nvSpPr>
        <p:spPr>
          <a:xfrm>
            <a:off x="626364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history rewrites
detected</a:t>
            </a:r>
          </a:p>
        </p:txBody>
      </p:sp>
      <p:sp>
        <p:nvSpPr>
          <p:cNvPr id="15430" name="Rounded Rectangle 15429"/>
          <p:cNvSpPr/>
          <p:nvPr/>
        </p:nvSpPr>
        <p:spPr>
          <a:xfrm>
            <a:off x="813816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1" name="Oval 15430"/>
          <p:cNvSpPr/>
          <p:nvPr/>
        </p:nvSpPr>
        <p:spPr>
          <a:xfrm>
            <a:off x="881481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2" name="Picture 15431" descr="LuScale_white.png"/>
          <p:cNvPicPr>
            <a:picLocks noChangeAspect="1"/>
          </p:cNvPicPr>
          <p:nvPr/>
        </p:nvPicPr>
        <p:blipFill>
          <a:blip r:embed="rId14"/>
          <a:stretch>
            <a:fillRect/>
          </a:stretch>
        </p:blipFill>
        <p:spPr>
          <a:xfrm>
            <a:off x="8915400" y="5202936"/>
            <a:ext cx="256032" cy="256032"/>
          </a:xfrm>
          <a:prstGeom prst="rect">
            <a:avLst/>
          </a:prstGeom>
        </p:spPr>
      </p:pic>
      <p:sp>
        <p:nvSpPr>
          <p:cNvPr id="15433" name="TextBox 15432"/>
          <p:cNvSpPr txBox="1"/>
          <p:nvPr/>
        </p:nvSpPr>
        <p:spPr>
          <a:xfrm>
            <a:off x="818388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Rules as data</a:t>
            </a:r>
          </a:p>
        </p:txBody>
      </p:sp>
      <p:sp>
        <p:nvSpPr>
          <p:cNvPr id="15434" name="TextBox 15433"/>
          <p:cNvSpPr txBox="1"/>
          <p:nvPr/>
        </p:nvSpPr>
        <p:spPr>
          <a:xfrm>
            <a:off x="818388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sourced; unconfirmed
values only warn</a:t>
            </a:r>
          </a:p>
        </p:txBody>
      </p:sp>
      <p:sp>
        <p:nvSpPr>
          <p:cNvPr id="15435" name="Rounded Rectangle 15434"/>
          <p:cNvSpPr/>
          <p:nvPr/>
        </p:nvSpPr>
        <p:spPr>
          <a:xfrm>
            <a:off x="1005840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6" name="Oval 15435"/>
          <p:cNvSpPr/>
          <p:nvPr/>
        </p:nvSpPr>
        <p:spPr>
          <a:xfrm>
            <a:off x="1073505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7" name="Picture 15436" descr="LuGraduationCap_white.png"/>
          <p:cNvPicPr>
            <a:picLocks noChangeAspect="1"/>
          </p:cNvPicPr>
          <p:nvPr/>
        </p:nvPicPr>
        <p:blipFill>
          <a:blip r:embed="rId15"/>
          <a:stretch>
            <a:fillRect/>
          </a:stretch>
        </p:blipFill>
        <p:spPr>
          <a:xfrm>
            <a:off x="10835640" y="5202936"/>
            <a:ext cx="256032" cy="256032"/>
          </a:xfrm>
          <a:prstGeom prst="rect">
            <a:avLst/>
          </a:prstGeom>
        </p:spPr>
      </p:pic>
      <p:sp>
        <p:nvSpPr>
          <p:cNvPr id="15438" name="TextBox 15437"/>
          <p:cNvSpPr txBox="1"/>
          <p:nvPr/>
        </p:nvSpPr>
        <p:spPr>
          <a:xfrm>
            <a:off x="1010412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APAAR on degrees</a:t>
            </a:r>
          </a:p>
        </p:txBody>
      </p:sp>
      <p:sp>
        <p:nvSpPr>
          <p:cNvPr id="15439" name="TextBox 15438"/>
          <p:cNvSpPr txBox="1"/>
          <p:nvPr/>
        </p:nvSpPr>
        <p:spPr>
          <a:xfrm>
            <a:off x="1010412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university print
feed + QR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Technologies to be used (e.g. programming languages, frameworks, hardware)</a:t>
            </a:r>
          </a:p>
        </p:txBody>
      </p:sp>
      <p:sp>
        <p:nvSpPr>
          <p:cNvPr id="17411" name="Rounded Rectangle 17410"/>
          <p:cNvSpPr/>
          <p:nvPr/>
        </p:nvSpPr>
        <p:spPr>
          <a:xfrm>
            <a:off x="356615"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2976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Server_white.png"/>
          <p:cNvPicPr>
            <a:picLocks noChangeAspect="1"/>
          </p:cNvPicPr>
          <p:nvPr/>
        </p:nvPicPr>
        <p:blipFill>
          <a:blip r:embed="rId4"/>
          <a:stretch>
            <a:fillRect/>
          </a:stretch>
        </p:blipFill>
        <p:spPr>
          <a:xfrm>
            <a:off x="518281" y="1752721"/>
            <a:ext cx="225308" cy="225308"/>
          </a:xfrm>
          <a:prstGeom prst="rect">
            <a:avLst/>
          </a:prstGeom>
        </p:spPr>
      </p:pic>
      <p:sp>
        <p:nvSpPr>
          <p:cNvPr id="17414" name="TextBox 17413"/>
          <p:cNvSpPr txBox="1"/>
          <p:nvPr/>
        </p:nvSpPr>
        <p:spPr>
          <a:xfrm>
            <a:off x="86868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Python · FastAPI</a:t>
            </a:r>
          </a:p>
        </p:txBody>
      </p:sp>
      <p:sp>
        <p:nvSpPr>
          <p:cNvPr id="17415" name="TextBox 17414"/>
          <p:cNvSpPr txBox="1"/>
          <p:nvPr/>
        </p:nvSpPr>
        <p:spPr>
          <a:xfrm>
            <a:off x="86868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REST · OpenAPI</a:t>
            </a:r>
          </a:p>
        </p:txBody>
      </p:sp>
      <p:sp>
        <p:nvSpPr>
          <p:cNvPr id="17416" name="Rounded Rectangle 17415"/>
          <p:cNvSpPr/>
          <p:nvPr/>
        </p:nvSpPr>
        <p:spPr>
          <a:xfrm>
            <a:off x="2281428"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54580"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Atom_white.png"/>
          <p:cNvPicPr>
            <a:picLocks noChangeAspect="1"/>
          </p:cNvPicPr>
          <p:nvPr/>
        </p:nvPicPr>
        <p:blipFill>
          <a:blip r:embed="rId5"/>
          <a:stretch>
            <a:fillRect/>
          </a:stretch>
        </p:blipFill>
        <p:spPr>
          <a:xfrm>
            <a:off x="2443093" y="1752721"/>
            <a:ext cx="225308" cy="225308"/>
          </a:xfrm>
          <a:prstGeom prst="rect">
            <a:avLst/>
          </a:prstGeom>
        </p:spPr>
      </p:pic>
      <p:sp>
        <p:nvSpPr>
          <p:cNvPr id="17419" name="TextBox 17418"/>
          <p:cNvSpPr txBox="1"/>
          <p:nvPr/>
        </p:nvSpPr>
        <p:spPr>
          <a:xfrm>
            <a:off x="2793492"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React · TypeScript</a:t>
            </a:r>
          </a:p>
        </p:txBody>
      </p:sp>
      <p:sp>
        <p:nvSpPr>
          <p:cNvPr id="17420" name="TextBox 17419"/>
          <p:cNvSpPr txBox="1"/>
          <p:nvPr/>
        </p:nvSpPr>
        <p:spPr>
          <a:xfrm>
            <a:off x="2793492"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installable PWA</a:t>
            </a:r>
          </a:p>
        </p:txBody>
      </p:sp>
      <p:sp>
        <p:nvSpPr>
          <p:cNvPr id="17421" name="Rounded Rectangle 17420"/>
          <p:cNvSpPr/>
          <p:nvPr/>
        </p:nvSpPr>
        <p:spPr>
          <a:xfrm>
            <a:off x="4206240"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279392"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Database_white.png"/>
          <p:cNvPicPr>
            <a:picLocks noChangeAspect="1"/>
          </p:cNvPicPr>
          <p:nvPr/>
        </p:nvPicPr>
        <p:blipFill>
          <a:blip r:embed="rId6"/>
          <a:stretch>
            <a:fillRect/>
          </a:stretch>
        </p:blipFill>
        <p:spPr>
          <a:xfrm>
            <a:off x="4367905" y="1752721"/>
            <a:ext cx="225308" cy="225308"/>
          </a:xfrm>
          <a:prstGeom prst="rect">
            <a:avLst/>
          </a:prstGeom>
        </p:spPr>
      </p:pic>
      <p:sp>
        <p:nvSpPr>
          <p:cNvPr id="17424" name="TextBox 17423"/>
          <p:cNvSpPr txBox="1"/>
          <p:nvPr/>
        </p:nvSpPr>
        <p:spPr>
          <a:xfrm>
            <a:off x="4718303"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PostgreSQL 16</a:t>
            </a:r>
          </a:p>
        </p:txBody>
      </p:sp>
      <p:sp>
        <p:nvSpPr>
          <p:cNvPr id="17425" name="TextBox 17424"/>
          <p:cNvSpPr txBox="1"/>
          <p:nvPr/>
        </p:nvSpPr>
        <p:spPr>
          <a:xfrm>
            <a:off x="4718303"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SQLite in the demo</a:t>
            </a:r>
          </a:p>
        </p:txBody>
      </p:sp>
      <p:sp>
        <p:nvSpPr>
          <p:cNvPr id="17426" name="Rounded Rectangle 17425"/>
          <p:cNvSpPr/>
          <p:nvPr/>
        </p:nvSpPr>
        <p:spPr>
          <a:xfrm>
            <a:off x="6131051"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04203"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BrainCircuit_white.png"/>
          <p:cNvPicPr>
            <a:picLocks noChangeAspect="1"/>
          </p:cNvPicPr>
          <p:nvPr/>
        </p:nvPicPr>
        <p:blipFill>
          <a:blip r:embed="rId7"/>
          <a:stretch>
            <a:fillRect/>
          </a:stretch>
        </p:blipFill>
        <p:spPr>
          <a:xfrm>
            <a:off x="6292717" y="1752721"/>
            <a:ext cx="225308" cy="225308"/>
          </a:xfrm>
          <a:prstGeom prst="rect">
            <a:avLst/>
          </a:prstGeom>
        </p:spPr>
      </p:pic>
      <p:sp>
        <p:nvSpPr>
          <p:cNvPr id="17429" name="TextBox 17428"/>
          <p:cNvSpPr txBox="1"/>
          <p:nvPr/>
        </p:nvSpPr>
        <p:spPr>
          <a:xfrm>
            <a:off x="6643115"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scikit-learn</a:t>
            </a:r>
          </a:p>
        </p:txBody>
      </p:sp>
      <p:sp>
        <p:nvSpPr>
          <p:cNvPr id="17430" name="TextBox 17429"/>
          <p:cNvSpPr txBox="1"/>
          <p:nvPr/>
        </p:nvSpPr>
        <p:spPr>
          <a:xfrm>
            <a:off x="6643115"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Isolation Forest</a:t>
            </a:r>
          </a:p>
        </p:txBody>
      </p:sp>
      <p:sp>
        <p:nvSpPr>
          <p:cNvPr id="17431" name="Rounded Rectangle 17430"/>
          <p:cNvSpPr/>
          <p:nvPr/>
        </p:nvSpPr>
        <p:spPr>
          <a:xfrm>
            <a:off x="8055863"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29015"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Users2_white.png"/>
          <p:cNvPicPr>
            <a:picLocks noChangeAspect="1"/>
          </p:cNvPicPr>
          <p:nvPr/>
        </p:nvPicPr>
        <p:blipFill>
          <a:blip r:embed="rId8"/>
          <a:stretch>
            <a:fillRect/>
          </a:stretch>
        </p:blipFill>
        <p:spPr>
          <a:xfrm>
            <a:off x="8217529" y="1752721"/>
            <a:ext cx="225308" cy="225308"/>
          </a:xfrm>
          <a:prstGeom prst="rect">
            <a:avLst/>
          </a:prstGeom>
        </p:spPr>
      </p:pic>
      <p:sp>
        <p:nvSpPr>
          <p:cNvPr id="17434" name="TextBox 17433"/>
          <p:cNvSpPr txBox="1"/>
          <p:nvPr/>
        </p:nvSpPr>
        <p:spPr>
          <a:xfrm>
            <a:off x="8567928"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Name matcher</a:t>
            </a:r>
          </a:p>
        </p:txBody>
      </p:sp>
      <p:sp>
        <p:nvSpPr>
          <p:cNvPr id="17435" name="TextBox 17434"/>
          <p:cNvSpPr txBox="1"/>
          <p:nvPr/>
        </p:nvSpPr>
        <p:spPr>
          <a:xfrm>
            <a:off x="8567928"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twin-safe · Indic</a:t>
            </a:r>
          </a:p>
        </p:txBody>
      </p:sp>
      <p:sp>
        <p:nvSpPr>
          <p:cNvPr id="17436" name="Rounded Rectangle 17435"/>
          <p:cNvSpPr/>
          <p:nvPr/>
        </p:nvSpPr>
        <p:spPr>
          <a:xfrm>
            <a:off x="9980676"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5382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Lock_white.png"/>
          <p:cNvPicPr>
            <a:picLocks noChangeAspect="1"/>
          </p:cNvPicPr>
          <p:nvPr/>
        </p:nvPicPr>
        <p:blipFill>
          <a:blip r:embed="rId9"/>
          <a:stretch>
            <a:fillRect/>
          </a:stretch>
        </p:blipFill>
        <p:spPr>
          <a:xfrm>
            <a:off x="10142341" y="1752721"/>
            <a:ext cx="225308" cy="225308"/>
          </a:xfrm>
          <a:prstGeom prst="rect">
            <a:avLst/>
          </a:prstGeom>
        </p:spPr>
      </p:pic>
      <p:sp>
        <p:nvSpPr>
          <p:cNvPr id="17439" name="TextBox 17438"/>
          <p:cNvSpPr txBox="1"/>
          <p:nvPr/>
        </p:nvSpPr>
        <p:spPr>
          <a:xfrm>
            <a:off x="1049274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Ed25519 · W3C</a:t>
            </a:r>
          </a:p>
        </p:txBody>
      </p:sp>
      <p:sp>
        <p:nvSpPr>
          <p:cNvPr id="17440" name="TextBox 17439"/>
          <p:cNvSpPr txBox="1"/>
          <p:nvPr/>
        </p:nvSpPr>
        <p:spPr>
          <a:xfrm>
            <a:off x="1049274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did:web · AES-GCM</a:t>
            </a:r>
          </a:p>
        </p:txBody>
      </p:sp>
      <p:sp>
        <p:nvSpPr>
          <p:cNvPr id="17441" name="Rounded Rectangle 17440"/>
          <p:cNvSpPr/>
          <p:nvPr/>
        </p:nvSpPr>
        <p:spPr>
          <a:xfrm>
            <a:off x="320040" y="237744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Methodology and process for implementation (Flow Charts/Images/ working prototype)</a:t>
            </a:r>
          </a:p>
        </p:txBody>
      </p:sp>
      <p:sp>
        <p:nvSpPr>
          <p:cNvPr id="17442" name="Rounded Rectangle 17441"/>
          <p:cNvSpPr/>
          <p:nvPr/>
        </p:nvSpPr>
        <p:spPr>
          <a:xfrm>
            <a:off x="320040" y="2834640"/>
            <a:ext cx="160020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1  Upload
Excel / CSV / API</a:t>
            </a:r>
          </a:p>
        </p:txBody>
      </p:sp>
      <p:cxnSp>
        <p:nvCxnSpPr>
          <p:cNvPr id="17443" name="Connector 17442"/>
          <p:cNvCxnSpPr/>
          <p:nvPr/>
        </p:nvCxnSpPr>
        <p:spPr>
          <a:xfrm>
            <a:off x="1920240" y="3118104"/>
            <a:ext cx="2286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2148840" y="2834640"/>
            <a:ext cx="178308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2  Check 31 rules
+ APAAR registry</a:t>
            </a:r>
          </a:p>
        </p:txBody>
      </p:sp>
      <p:cxnSp>
        <p:nvCxnSpPr>
          <p:cNvPr id="17445" name="Connector 17444"/>
          <p:cNvCxnSpPr/>
          <p:nvPr/>
        </p:nvCxnSpPr>
        <p:spPr>
          <a:xfrm>
            <a:off x="3931920" y="3118104"/>
            <a:ext cx="1371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Diamond 17445"/>
          <p:cNvSpPr/>
          <p:nvPr/>
        </p:nvSpPr>
        <p:spPr>
          <a:xfrm>
            <a:off x="4069080" y="2724912"/>
            <a:ext cx="1280160" cy="786384"/>
          </a:xfrm>
          <a:prstGeom prst="diamond">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r>
              <a:rPr sz="1100" b="1" i="0">
                <a:solidFill>
                  <a:srgbClr val="E46C0A"/>
                </a:solidFill>
                <a:latin typeface="Arial"/>
              </a:rPr>
              <a:t>Errors?</a:t>
            </a:r>
          </a:p>
        </p:txBody>
      </p:sp>
      <p:cxnSp>
        <p:nvCxnSpPr>
          <p:cNvPr id="17447" name="Connector 17446"/>
          <p:cNvCxnSpPr/>
          <p:nvPr/>
        </p:nvCxnSpPr>
        <p:spPr>
          <a:xfrm>
            <a:off x="5349240" y="3118104"/>
            <a:ext cx="91440" cy="0"/>
          </a:xfrm>
          <a:prstGeom prst="line">
            <a:avLst/>
          </a:prstGeom>
          <a:ln w="19050">
            <a:solidFill>
              <a:srgbClr val="1E7B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8" name="TextBox 17447"/>
          <p:cNvSpPr txBox="1"/>
          <p:nvPr/>
        </p:nvSpPr>
        <p:spPr>
          <a:xfrm>
            <a:off x="5102352" y="2816352"/>
            <a:ext cx="329184" cy="201168"/>
          </a:xfrm>
          <a:prstGeom prst="rect">
            <a:avLst/>
          </a:prstGeom>
          <a:noFill/>
        </p:spPr>
        <p:txBody>
          <a:bodyPr wrap="square" lIns="45720" rIns="45720" tIns="18288" bIns="18288" anchor="ctr"/>
          <a:lstStyle/>
          <a:p>
            <a:pPr algn="l"/>
            <a:r>
              <a:rPr sz="1100" b="1" i="0">
                <a:solidFill>
                  <a:srgbClr val="1E7B3E"/>
                </a:solidFill>
                <a:latin typeface="Arial"/>
              </a:rPr>
              <a:t>no</a:t>
            </a:r>
          </a:p>
        </p:txBody>
      </p:sp>
      <p:sp>
        <p:nvSpPr>
          <p:cNvPr id="17449" name="Rounded Rectangle 17448"/>
          <p:cNvSpPr/>
          <p:nvPr/>
        </p:nvSpPr>
        <p:spPr>
          <a:xfrm>
            <a:off x="5440680" y="2834640"/>
            <a:ext cx="914400" cy="566928"/>
          </a:xfrm>
          <a:prstGeom prst="roundRect">
            <a:avLst>
              <a:gd name="adj" fmla="val 16129"/>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3  Commit</a:t>
            </a:r>
          </a:p>
        </p:txBody>
      </p:sp>
      <p:cxnSp>
        <p:nvCxnSpPr>
          <p:cNvPr id="17450" name="Connector 17449"/>
          <p:cNvCxnSpPr/>
          <p:nvPr/>
        </p:nvCxnSpPr>
        <p:spPr>
          <a:xfrm>
            <a:off x="4709160" y="3511296"/>
            <a:ext cx="0" cy="256032"/>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1" name="TextBox 17450"/>
          <p:cNvSpPr txBox="1"/>
          <p:nvPr/>
        </p:nvSpPr>
        <p:spPr>
          <a:xfrm>
            <a:off x="4754880" y="3511296"/>
            <a:ext cx="365760" cy="201168"/>
          </a:xfrm>
          <a:prstGeom prst="rect">
            <a:avLst/>
          </a:prstGeom>
          <a:noFill/>
        </p:spPr>
        <p:txBody>
          <a:bodyPr wrap="square" lIns="45720" rIns="45720" tIns="18288" bIns="18288" anchor="ctr"/>
          <a:lstStyle/>
          <a:p>
            <a:pPr algn="l"/>
            <a:r>
              <a:rPr sz="1100" b="1" i="0">
                <a:solidFill>
                  <a:srgbClr val="B42B2B"/>
                </a:solidFill>
                <a:latin typeface="Arial"/>
              </a:rPr>
              <a:t>yes</a:t>
            </a:r>
          </a:p>
        </p:txBody>
      </p:sp>
      <p:sp>
        <p:nvSpPr>
          <p:cNvPr id="17452" name="Rounded Rectangle 17451"/>
          <p:cNvSpPr/>
          <p:nvPr/>
        </p:nvSpPr>
        <p:spPr>
          <a:xfrm>
            <a:off x="3657600" y="3767328"/>
            <a:ext cx="2057400" cy="457200"/>
          </a:xfrm>
          <a:prstGeom prst="roundRect">
            <a:avLst>
              <a:gd name="adj" fmla="val 2000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Row returned with reason</a:t>
            </a:r>
          </a:p>
        </p:txBody>
      </p:sp>
      <p:cxnSp>
        <p:nvCxnSpPr>
          <p:cNvPr id="17453" name="Connector 17452"/>
          <p:cNvCxnSpPr/>
          <p:nvPr/>
        </p:nvCxnSpPr>
        <p:spPr>
          <a:xfrm flipH="1">
            <a:off x="1115568" y="3995928"/>
            <a:ext cx="2542032" cy="0"/>
          </a:xfrm>
          <a:prstGeom prst="line">
            <a:avLst/>
          </a:prstGeom>
          <a:ln w="19050">
            <a:solidFill>
              <a:srgbClr val="B42B2B"/>
            </a:solidFill>
          </a:ln>
        </p:spPr>
        <p:style>
          <a:lnRef idx="2">
            <a:schemeClr val="accent1"/>
          </a:lnRef>
          <a:fillRef idx="0">
            <a:schemeClr val="accent1"/>
          </a:fillRef>
          <a:effectRef idx="1">
            <a:schemeClr val="accent1"/>
          </a:effectRef>
          <a:fontRef idx="minor">
            <a:schemeClr val="tx1"/>
          </a:fontRef>
        </p:style>
      </p:cxnSp>
      <p:cxnSp>
        <p:nvCxnSpPr>
          <p:cNvPr id="17454" name="Connector 17453"/>
          <p:cNvCxnSpPr/>
          <p:nvPr/>
        </p:nvCxnSpPr>
        <p:spPr>
          <a:xfrm flipV="1">
            <a:off x="1115568" y="3401568"/>
            <a:ext cx="0" cy="594360"/>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TextBox 17454"/>
          <p:cNvSpPr txBox="1"/>
          <p:nvPr/>
        </p:nvSpPr>
        <p:spPr>
          <a:xfrm>
            <a:off x="1188720" y="3611880"/>
            <a:ext cx="1828800" cy="201168"/>
          </a:xfrm>
          <a:prstGeom prst="rect">
            <a:avLst/>
          </a:prstGeom>
          <a:noFill/>
        </p:spPr>
        <p:txBody>
          <a:bodyPr wrap="square" lIns="45720" rIns="45720" tIns="18288" bIns="18288" anchor="ctr"/>
          <a:lstStyle/>
          <a:p>
            <a:pPr algn="l"/>
            <a:r>
              <a:rPr sz="1100" b="0" i="0">
                <a:solidFill>
                  <a:srgbClr val="B42B2B"/>
                </a:solidFill>
                <a:latin typeface="Arial"/>
              </a:rPr>
              <a:t>fix &amp; re-upload</a:t>
            </a:r>
          </a:p>
        </p:txBody>
      </p:sp>
      <p:cxnSp>
        <p:nvCxnSpPr>
          <p:cNvPr id="17456" name="Connector 17455"/>
          <p:cNvCxnSpPr/>
          <p:nvPr/>
        </p:nvCxnSpPr>
        <p:spPr>
          <a:xfrm>
            <a:off x="5897880" y="3401568"/>
            <a:ext cx="0" cy="103327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452628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4  National scan</a:t>
            </a:r>
          </a:p>
          <a:p>
            <a:pPr algn="ctr"/>
            <a:r>
              <a:rPr sz="1100" b="0" i="0">
                <a:solidFill>
                  <a:srgbClr val="595959"/>
                </a:solidFill>
                <a:latin typeface="Arial"/>
              </a:rPr>
              <a:t>dupes · intake · contacts</a:t>
            </a:r>
          </a:p>
        </p:txBody>
      </p:sp>
      <p:cxnSp>
        <p:nvCxnSpPr>
          <p:cNvPr id="17458" name="Connector 17457"/>
          <p:cNvCxnSpPr/>
          <p:nvPr/>
        </p:nvCxnSpPr>
        <p:spPr>
          <a:xfrm flipH="1">
            <a:off x="425196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242316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5  ML risk score</a:t>
            </a:r>
          </a:p>
          <a:p>
            <a:pPr algn="ctr"/>
            <a:r>
              <a:rPr sz="1100" b="0" i="0">
                <a:solidFill>
                  <a:srgbClr val="595959"/>
                </a:solidFill>
                <a:latin typeface="Arial"/>
              </a:rPr>
              <a:t>vs peers, with reasons</a:t>
            </a:r>
          </a:p>
        </p:txBody>
      </p:sp>
      <p:cxnSp>
        <p:nvCxnSpPr>
          <p:cNvPr id="17460" name="Connector 17459"/>
          <p:cNvCxnSpPr/>
          <p:nvPr/>
        </p:nvCxnSpPr>
        <p:spPr>
          <a:xfrm flipH="1">
            <a:off x="214884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1" name="Rounded Rectangle 17460"/>
          <p:cNvSpPr/>
          <p:nvPr/>
        </p:nvSpPr>
        <p:spPr>
          <a:xfrm>
            <a:off x="32004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6  Live dashboard</a:t>
            </a:r>
          </a:p>
          <a:p>
            <a:pPr algn="ctr"/>
            <a:r>
              <a:rPr sz="1100" b="0" i="0">
                <a:solidFill>
                  <a:srgbClr val="595959"/>
                </a:solidFill>
                <a:latin typeface="Arial"/>
              </a:rPr>
              <a:t>decisions remembered</a:t>
            </a:r>
          </a:p>
        </p:txBody>
      </p:sp>
      <p:sp>
        <p:nvSpPr>
          <p:cNvPr id="17462" name="Rounded Rectangle 17461"/>
          <p:cNvSpPr/>
          <p:nvPr/>
        </p:nvSpPr>
        <p:spPr>
          <a:xfrm>
            <a:off x="320040" y="5349240"/>
            <a:ext cx="288036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7  Student consent (OTP)</a:t>
            </a:r>
          </a:p>
          <a:p>
            <a:pPr algn="ctr"/>
            <a:r>
              <a:rPr sz="1100" b="0" i="0">
                <a:solidFill>
                  <a:srgbClr val="595959"/>
                </a:solidFill>
                <a:latin typeface="Arial"/>
              </a:rPr>
              <a:t>verifier sees only approved fields</a:t>
            </a:r>
          </a:p>
        </p:txBody>
      </p:sp>
      <p:sp>
        <p:nvSpPr>
          <p:cNvPr id="17463" name="Rounded Rectangle 17462"/>
          <p:cNvSpPr/>
          <p:nvPr/>
        </p:nvSpPr>
        <p:spPr>
          <a:xfrm>
            <a:off x="3429000" y="5349240"/>
            <a:ext cx="292608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8  Signed QR · degree feed</a:t>
            </a:r>
          </a:p>
          <a:p>
            <a:pPr algn="ctr"/>
            <a:r>
              <a:rPr sz="1100" b="0" i="0">
                <a:solidFill>
                  <a:srgbClr val="595959"/>
                </a:solidFill>
                <a:latin typeface="Arial"/>
              </a:rPr>
              <a:t>APAAR + student ID; forgery fails</a:t>
            </a:r>
          </a:p>
        </p:txBody>
      </p:sp>
      <p:cxnSp>
        <p:nvCxnSpPr>
          <p:cNvPr id="17464" name="Connector 17463"/>
          <p:cNvCxnSpPr/>
          <p:nvPr/>
        </p:nvCxnSpPr>
        <p:spPr>
          <a:xfrm>
            <a:off x="12344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65" name="Connector 17464"/>
          <p:cNvCxnSpPr/>
          <p:nvPr/>
        </p:nvCxnSpPr>
        <p:spPr>
          <a:xfrm>
            <a:off x="48920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6" name="Rounded Rectangle 17465"/>
          <p:cNvSpPr/>
          <p:nvPr/>
        </p:nvSpPr>
        <p:spPr>
          <a:xfrm>
            <a:off x="6601968" y="2788920"/>
            <a:ext cx="5266944" cy="1687601"/>
          </a:xfrm>
          <a:prstGeom prst="roundRect">
            <a:avLst>
              <a:gd name="adj" fmla="val 2167"/>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03_upload_validation.png"/>
          <p:cNvPicPr>
            <a:picLocks noChangeAspect="1"/>
          </p:cNvPicPr>
          <p:nvPr/>
        </p:nvPicPr>
        <p:blipFill>
          <a:blip r:embed="rId10"/>
          <a:srcRect l="17800" t="5800" b="53000"/>
          <a:stretch>
            <a:fillRect/>
          </a:stretch>
        </p:blipFill>
        <p:spPr>
          <a:xfrm>
            <a:off x="6629400" y="2816352"/>
            <a:ext cx="5212080" cy="1632737"/>
          </a:xfrm>
          <a:prstGeom prst="rect">
            <a:avLst/>
          </a:prstGeom>
        </p:spPr>
      </p:pic>
      <p:sp>
        <p:nvSpPr>
          <p:cNvPr id="17468" name="TextBox 17467"/>
          <p:cNvSpPr txBox="1"/>
          <p:nvPr/>
        </p:nvSpPr>
        <p:spPr>
          <a:xfrm>
            <a:off x="6629400" y="4494809"/>
            <a:ext cx="5212080" cy="237744"/>
          </a:xfrm>
          <a:prstGeom prst="rect">
            <a:avLst/>
          </a:prstGeom>
          <a:noFill/>
        </p:spPr>
        <p:txBody>
          <a:bodyPr wrap="square" lIns="45720" rIns="45720" tIns="18288" bIns="18288" anchor="ctr"/>
          <a:lstStyle/>
          <a:p>
            <a:pPr algn="l"/>
            <a:r>
              <a:rPr sz="1100" b="0" i="0">
                <a:solidFill>
                  <a:srgbClr val="595959"/>
                </a:solidFill>
                <a:latin typeface="Arial"/>
              </a:rPr>
              <a:t>Working prototype: 77-row upload → 65 accepted, 12 returned with rule codes</a:t>
            </a:r>
          </a:p>
        </p:txBody>
      </p:sp>
      <p:sp>
        <p:nvSpPr>
          <p:cNvPr id="17469" name="Rounded Rectangle 17468"/>
          <p:cNvSpPr/>
          <p:nvPr/>
        </p:nvSpPr>
        <p:spPr>
          <a:xfrm>
            <a:off x="6601968" y="4778273"/>
            <a:ext cx="5266944" cy="822960"/>
          </a:xfrm>
          <a:prstGeom prst="roundRect">
            <a:avLst>
              <a:gd name="adj" fmla="val 1333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0" name="TextBox 17469"/>
          <p:cNvSpPr txBox="1"/>
          <p:nvPr/>
        </p:nvSpPr>
        <p:spPr>
          <a:xfrm>
            <a:off x="6675120" y="4814849"/>
            <a:ext cx="5138928" cy="256032"/>
          </a:xfrm>
          <a:prstGeom prst="rect">
            <a:avLst/>
          </a:prstGeom>
          <a:noFill/>
        </p:spPr>
        <p:txBody>
          <a:bodyPr wrap="square" lIns="45720" rIns="45720" tIns="18288" bIns="18288" anchor="ctr"/>
          <a:lstStyle/>
          <a:p>
            <a:pPr algn="l"/>
            <a:r>
              <a:rPr sz="1050" b="1" i="0">
                <a:solidFill>
                  <a:srgbClr val="1E7B3E"/>
                </a:solidFill>
                <a:latin typeface="Arial"/>
              </a:rPr>
              <a:t>Built: </a:t>
            </a:r>
            <a:r>
              <a:rPr sz="1050" b="0" i="0">
                <a:solidFill>
                  <a:srgbClr val="1A1A1A"/>
                </a:solidFill>
                <a:latin typeface="Arial"/>
              </a:rPr>
              <a:t>upload, 31 rules, scan, risk score, consent, signed QR, audit</a:t>
            </a:r>
          </a:p>
        </p:txBody>
      </p:sp>
      <p:sp>
        <p:nvSpPr>
          <p:cNvPr id="17471" name="TextBox 17470"/>
          <p:cNvSpPr txBox="1"/>
          <p:nvPr/>
        </p:nvSpPr>
        <p:spPr>
          <a:xfrm>
            <a:off x="6675120" y="5070881"/>
            <a:ext cx="5138928" cy="256032"/>
          </a:xfrm>
          <a:prstGeom prst="rect">
            <a:avLst/>
          </a:prstGeom>
          <a:noFill/>
        </p:spPr>
        <p:txBody>
          <a:bodyPr wrap="square" lIns="45720" rIns="45720" tIns="18288" bIns="18288" anchor="ctr"/>
          <a:lstStyle/>
          <a:p>
            <a:pPr algn="l"/>
            <a:r>
              <a:rPr sz="1050" b="1" i="0">
                <a:solidFill>
                  <a:srgbClr val="E46C0A"/>
                </a:solidFill>
                <a:latin typeface="Arial"/>
              </a:rPr>
              <a:t>Simulated (no public API yet): </a:t>
            </a:r>
            <a:r>
              <a:rPr sz="1050" b="0" i="0">
                <a:solidFill>
                  <a:srgbClr val="1A1A1A"/>
                </a:solidFill>
                <a:latin typeface="Arial"/>
              </a:rPr>
              <a:t>APAAR lookup, DigiLocker, portal sign-in</a:t>
            </a:r>
          </a:p>
        </p:txBody>
      </p:sp>
      <p:sp>
        <p:nvSpPr>
          <p:cNvPr id="17472" name="TextBox 17471"/>
          <p:cNvSpPr txBox="1"/>
          <p:nvPr/>
        </p:nvSpPr>
        <p:spPr>
          <a:xfrm>
            <a:off x="6675120" y="5326913"/>
            <a:ext cx="5138928" cy="256032"/>
          </a:xfrm>
          <a:prstGeom prst="rect">
            <a:avLst/>
          </a:prstGeom>
          <a:noFill/>
        </p:spPr>
        <p:txBody>
          <a:bodyPr wrap="square" lIns="45720" rIns="45720" tIns="18288" bIns="18288" anchor="ctr"/>
          <a:lstStyle/>
          <a:p>
            <a:pPr algn="l"/>
            <a:r>
              <a:rPr sz="1050" b="1" i="0">
                <a:solidFill>
                  <a:srgbClr val="0070C0"/>
                </a:solidFill>
                <a:latin typeface="Arial"/>
              </a:rPr>
              <a:t>Planned: </a:t>
            </a:r>
            <a:r>
              <a:rPr sz="1050" b="0" i="0">
                <a:solidFill>
                  <a:srgbClr val="1A1A1A"/>
                </a:solidFill>
                <a:latin typeface="Arial"/>
              </a:rPr>
              <a:t>API Setu / DigiLocker partner access, govt SSO, STQC audit</a:t>
            </a:r>
          </a:p>
        </p:txBody>
      </p:sp>
      <p:sp>
        <p:nvSpPr>
          <p:cNvPr id="17473" name="Rounded Rectangle 17472"/>
          <p:cNvSpPr/>
          <p:nvPr/>
        </p:nvSpPr>
        <p:spPr>
          <a:xfrm>
            <a:off x="6601968" y="5674385"/>
            <a:ext cx="5266944" cy="589254"/>
          </a:xfrm>
          <a:prstGeom prst="roundRect">
            <a:avLst>
              <a:gd name="adj" fmla="val 18621"/>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qr_live.png"/>
          <p:cNvPicPr>
            <a:picLocks noChangeAspect="1"/>
          </p:cNvPicPr>
          <p:nvPr/>
        </p:nvPicPr>
        <p:blipFill>
          <a:blip r:embed="rId11"/>
          <a:stretch>
            <a:fillRect/>
          </a:stretch>
        </p:blipFill>
        <p:spPr>
          <a:xfrm>
            <a:off x="6693408" y="5729249"/>
            <a:ext cx="479526" cy="479526"/>
          </a:xfrm>
          <a:prstGeom prst="rect">
            <a:avLst/>
          </a:prstGeom>
        </p:spPr>
      </p:pic>
      <p:sp>
        <p:nvSpPr>
          <p:cNvPr id="17475" name="TextBox 17474"/>
          <p:cNvSpPr txBox="1"/>
          <p:nvPr/>
        </p:nvSpPr>
        <p:spPr>
          <a:xfrm>
            <a:off x="7282662" y="5701817"/>
            <a:ext cx="4389120" cy="534390"/>
          </a:xfrm>
          <a:prstGeom prst="rect">
            <a:avLst/>
          </a:prstGeom>
          <a:noFill/>
        </p:spPr>
        <p:txBody>
          <a:bodyPr wrap="square" lIns="45720" rIns="45720" tIns="18288" bIns="18288" anchor="ctr"/>
          <a:lstStyle/>
          <a:p>
            <a:pPr algn="l"/>
            <a:r>
              <a:rPr sz="1200" b="1" i="0">
                <a:solidFill>
                  <a:srgbClr val="E46C0A"/>
                </a:solidFill>
                <a:latin typeface="Arial"/>
              </a:rPr>
              <a:t>Try it live: </a:t>
            </a:r>
            <a:r>
              <a:rPr sz="1200" b="0" i="0">
                <a:solidFill>
                  <a:srgbClr val="0070C0"/>
                </a:solidFill>
                <a:latin typeface="Arial"/>
                <a:hlinkClick r:id="rId12"/>
              </a:rPr>
              <a:t>https://vidya-pramaan-sih26263.onrender.com</a:t>
            </a:r>
          </a:p>
          <a:p>
            <a:pPr algn="l"/>
            <a:r>
              <a:rPr sz="1050" b="0" i="0">
                <a:solidFill>
                  <a:srgbClr val="595959"/>
                </a:solidFill>
                <a:latin typeface="Arial"/>
              </a:rPr>
              <a:t>Demo video (5 min): </a:t>
            </a:r>
            <a:r>
              <a:rPr sz="1050" b="0" i="0">
                <a:solidFill>
                  <a:srgbClr val="0070C0"/>
                </a:solidFill>
                <a:latin typeface="Arial"/>
                <a:hlinkClick r:id="rId13"/>
              </a:rPr>
              <a:t>youtu.be/eBwySqMs63Q</a:t>
            </a:r>
            <a:r>
              <a:rPr sz="1050" b="0" i="0">
                <a:solidFill>
                  <a:srgbClr val="595959"/>
                </a:solidFill>
                <a:latin typeface="Arial"/>
              </a:rPr>
              <a:t> · 7 roles · synthetic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Analysis of the feasibility of the idea</a:t>
            </a:r>
          </a:p>
        </p:txBody>
      </p:sp>
      <p:sp>
        <p:nvSpPr>
          <p:cNvPr id="17411" name="Rounded Rectangle 17410"/>
          <p:cNvSpPr/>
          <p:nvPr/>
        </p:nvSpPr>
        <p:spPr>
          <a:xfrm>
            <a:off x="365759"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5720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Users2_white.png"/>
          <p:cNvPicPr>
            <a:picLocks noChangeAspect="1"/>
          </p:cNvPicPr>
          <p:nvPr/>
        </p:nvPicPr>
        <p:blipFill>
          <a:blip r:embed="rId4"/>
          <a:stretch>
            <a:fillRect/>
          </a:stretch>
        </p:blipFill>
        <p:spPr>
          <a:xfrm>
            <a:off x="541690" y="1657258"/>
            <a:ext cx="215066" cy="215066"/>
          </a:xfrm>
          <a:prstGeom prst="rect">
            <a:avLst/>
          </a:prstGeom>
        </p:spPr>
      </p:pic>
      <p:sp>
        <p:nvSpPr>
          <p:cNvPr id="17414" name="TextBox 17413"/>
          <p:cNvSpPr txBox="1"/>
          <p:nvPr/>
        </p:nvSpPr>
        <p:spPr>
          <a:xfrm>
            <a:off x="88696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0.79 / 0.92</a:t>
            </a:r>
          </a:p>
        </p:txBody>
      </p:sp>
      <p:sp>
        <p:nvSpPr>
          <p:cNvPr id="17415" name="TextBox 17414"/>
          <p:cNvSpPr txBox="1"/>
          <p:nvPr/>
        </p:nvSpPr>
        <p:spPr>
          <a:xfrm>
            <a:off x="457200" y="2029968"/>
            <a:ext cx="1696212" cy="530352"/>
          </a:xfrm>
          <a:prstGeom prst="rect">
            <a:avLst/>
          </a:prstGeom>
          <a:noFill/>
        </p:spPr>
        <p:txBody>
          <a:bodyPr wrap="square" lIns="45720" rIns="45720" tIns="18288" bIns="18288" anchor="t"/>
          <a:lstStyle/>
          <a:p>
            <a:pPr algn="l"/>
            <a:r>
              <a:rPr sz="1100" b="0" i="0">
                <a:solidFill>
                  <a:srgbClr val="1A1A1A"/>
                </a:solidFill>
                <a:latin typeface="Arial"/>
              </a:rPr>
              <a:t>held-out precision / recall
(old matcher 0.65 / 0.68)</a:t>
            </a:r>
          </a:p>
        </p:txBody>
      </p:sp>
      <p:sp>
        <p:nvSpPr>
          <p:cNvPr id="17416" name="Rounded Rectangle 17415"/>
          <p:cNvSpPr/>
          <p:nvPr/>
        </p:nvSpPr>
        <p:spPr>
          <a:xfrm>
            <a:off x="2290572"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82012"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UserCheck_white.png"/>
          <p:cNvPicPr>
            <a:picLocks noChangeAspect="1"/>
          </p:cNvPicPr>
          <p:nvPr/>
        </p:nvPicPr>
        <p:blipFill>
          <a:blip r:embed="rId5"/>
          <a:stretch>
            <a:fillRect/>
          </a:stretch>
        </p:blipFill>
        <p:spPr>
          <a:xfrm>
            <a:off x="2466502" y="1657258"/>
            <a:ext cx="215066" cy="215066"/>
          </a:xfrm>
          <a:prstGeom prst="rect">
            <a:avLst/>
          </a:prstGeom>
        </p:spPr>
      </p:pic>
      <p:sp>
        <p:nvSpPr>
          <p:cNvPr id="17419" name="TextBox 17418"/>
          <p:cNvSpPr txBox="1"/>
          <p:nvPr/>
        </p:nvSpPr>
        <p:spPr>
          <a:xfrm>
            <a:off x="2811780"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0/80 · 2/12</a:t>
            </a:r>
          </a:p>
        </p:txBody>
      </p:sp>
      <p:sp>
        <p:nvSpPr>
          <p:cNvPr id="17420" name="TextBox 17419"/>
          <p:cNvSpPr txBox="1"/>
          <p:nvPr/>
        </p:nvSpPr>
        <p:spPr>
          <a:xfrm>
            <a:off x="2382012" y="2029968"/>
            <a:ext cx="1696212" cy="530352"/>
          </a:xfrm>
          <a:prstGeom prst="rect">
            <a:avLst/>
          </a:prstGeom>
          <a:noFill/>
        </p:spPr>
        <p:txBody>
          <a:bodyPr wrap="square" lIns="45720" rIns="45720" tIns="18288" bIns="18288" anchor="t"/>
          <a:lstStyle/>
          <a:p>
            <a:pPr algn="l"/>
            <a:r>
              <a:rPr sz="1100" b="0" i="0">
                <a:solidFill>
                  <a:srgbClr val="1A1A1A"/>
                </a:solidFill>
                <a:latin typeface="Arial"/>
              </a:rPr>
              <a:t>twins flagged:
seeded · held-out</a:t>
            </a:r>
          </a:p>
        </p:txBody>
      </p:sp>
      <p:sp>
        <p:nvSpPr>
          <p:cNvPr id="17421" name="Rounded Rectangle 17420"/>
          <p:cNvSpPr/>
          <p:nvPr/>
        </p:nvSpPr>
        <p:spPr>
          <a:xfrm>
            <a:off x="4215383"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306824"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ShieldCheck_white.png"/>
          <p:cNvPicPr>
            <a:picLocks noChangeAspect="1"/>
          </p:cNvPicPr>
          <p:nvPr/>
        </p:nvPicPr>
        <p:blipFill>
          <a:blip r:embed="rId6"/>
          <a:stretch>
            <a:fillRect/>
          </a:stretch>
        </p:blipFill>
        <p:spPr>
          <a:xfrm>
            <a:off x="4391314" y="1657258"/>
            <a:ext cx="215066" cy="215066"/>
          </a:xfrm>
          <a:prstGeom prst="rect">
            <a:avLst/>
          </a:prstGeom>
        </p:spPr>
      </p:pic>
      <p:sp>
        <p:nvSpPr>
          <p:cNvPr id="17424" name="TextBox 17423"/>
          <p:cNvSpPr txBox="1"/>
          <p:nvPr/>
        </p:nvSpPr>
        <p:spPr>
          <a:xfrm>
            <a:off x="4736592"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17/17</a:t>
            </a:r>
          </a:p>
        </p:txBody>
      </p:sp>
      <p:sp>
        <p:nvSpPr>
          <p:cNvPr id="17425" name="TextBox 17424"/>
          <p:cNvSpPr txBox="1"/>
          <p:nvPr/>
        </p:nvSpPr>
        <p:spPr>
          <a:xfrm>
            <a:off x="4306824" y="2029968"/>
            <a:ext cx="1696212" cy="530352"/>
          </a:xfrm>
          <a:prstGeom prst="rect">
            <a:avLst/>
          </a:prstGeom>
          <a:noFill/>
        </p:spPr>
        <p:txBody>
          <a:bodyPr wrap="square" lIns="45720" rIns="45720" tIns="18288" bIns="18288" anchor="t"/>
          <a:lstStyle/>
          <a:p>
            <a:pPr algn="l"/>
            <a:r>
              <a:rPr sz="1100" b="0" i="0">
                <a:solidFill>
                  <a:srgbClr val="1A1A1A"/>
                </a:solidFill>
                <a:latin typeface="Arial"/>
              </a:rPr>
              <a:t>error types caught;
0 false flags (56 rows)</a:t>
            </a:r>
          </a:p>
        </p:txBody>
      </p:sp>
      <p:sp>
        <p:nvSpPr>
          <p:cNvPr id="17426" name="Rounded Rectangle 17425"/>
          <p:cNvSpPr/>
          <p:nvPr/>
        </p:nvSpPr>
        <p:spPr>
          <a:xfrm>
            <a:off x="6140195"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31636"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Network_white.png"/>
          <p:cNvPicPr>
            <a:picLocks noChangeAspect="1"/>
          </p:cNvPicPr>
          <p:nvPr/>
        </p:nvPicPr>
        <p:blipFill>
          <a:blip r:embed="rId7"/>
          <a:stretch>
            <a:fillRect/>
          </a:stretch>
        </p:blipFill>
        <p:spPr>
          <a:xfrm>
            <a:off x="6316126" y="1657258"/>
            <a:ext cx="215066" cy="215066"/>
          </a:xfrm>
          <a:prstGeom prst="rect">
            <a:avLst/>
          </a:prstGeom>
        </p:spPr>
      </p:pic>
      <p:sp>
        <p:nvSpPr>
          <p:cNvPr id="17429" name="TextBox 17428"/>
          <p:cNvSpPr txBox="1"/>
          <p:nvPr/>
        </p:nvSpPr>
        <p:spPr>
          <a:xfrm>
            <a:off x="6661403"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164 · 57 · 4</a:t>
            </a:r>
          </a:p>
        </p:txBody>
      </p:sp>
      <p:sp>
        <p:nvSpPr>
          <p:cNvPr id="17430" name="TextBox 17429"/>
          <p:cNvSpPr txBox="1"/>
          <p:nvPr/>
        </p:nvSpPr>
        <p:spPr>
          <a:xfrm>
            <a:off x="6231636" y="2029968"/>
            <a:ext cx="1696212" cy="530352"/>
          </a:xfrm>
          <a:prstGeom prst="rect">
            <a:avLst/>
          </a:prstGeom>
          <a:noFill/>
        </p:spPr>
        <p:txBody>
          <a:bodyPr wrap="square" lIns="45720" rIns="45720" tIns="18288" bIns="18288" anchor="t"/>
          <a:lstStyle/>
          <a:p>
            <a:pPr algn="l"/>
            <a:r>
              <a:rPr sz="1100" b="0" i="0">
                <a:solidFill>
                  <a:srgbClr val="1A1A1A"/>
                </a:solidFill>
                <a:latin typeface="Arial"/>
              </a:rPr>
              <a:t>dual enrolments · ID
dupes · contact rings</a:t>
            </a:r>
          </a:p>
        </p:txBody>
      </p:sp>
      <p:sp>
        <p:nvSpPr>
          <p:cNvPr id="17431" name="Rounded Rectangle 17430"/>
          <p:cNvSpPr/>
          <p:nvPr/>
        </p:nvSpPr>
        <p:spPr>
          <a:xfrm>
            <a:off x="8065008"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56448"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BrainCircuit_white.png"/>
          <p:cNvPicPr>
            <a:picLocks noChangeAspect="1"/>
          </p:cNvPicPr>
          <p:nvPr/>
        </p:nvPicPr>
        <p:blipFill>
          <a:blip r:embed="rId8"/>
          <a:stretch>
            <a:fillRect/>
          </a:stretch>
        </p:blipFill>
        <p:spPr>
          <a:xfrm>
            <a:off x="8240938" y="1657258"/>
            <a:ext cx="215066" cy="215066"/>
          </a:xfrm>
          <a:prstGeom prst="rect">
            <a:avLst/>
          </a:prstGeom>
        </p:spPr>
      </p:pic>
      <p:sp>
        <p:nvSpPr>
          <p:cNvPr id="17434" name="TextBox 17433"/>
          <p:cNvSpPr txBox="1"/>
          <p:nvPr/>
        </p:nvSpPr>
        <p:spPr>
          <a:xfrm>
            <a:off x="8586215"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42/46</a:t>
            </a:r>
          </a:p>
        </p:txBody>
      </p:sp>
      <p:sp>
        <p:nvSpPr>
          <p:cNvPr id="17435" name="TextBox 17434"/>
          <p:cNvSpPr txBox="1"/>
          <p:nvPr/>
        </p:nvSpPr>
        <p:spPr>
          <a:xfrm>
            <a:off x="8156448" y="2029968"/>
            <a:ext cx="1696212" cy="530352"/>
          </a:xfrm>
          <a:prstGeom prst="rect">
            <a:avLst/>
          </a:prstGeom>
          <a:noFill/>
        </p:spPr>
        <p:txBody>
          <a:bodyPr wrap="square" lIns="45720" rIns="45720" tIns="18288" bIns="18288" anchor="t"/>
          <a:lstStyle/>
          <a:p>
            <a:pPr algn="l"/>
            <a:r>
              <a:rPr sz="1100" b="0" i="0">
                <a:solidFill>
                  <a:srgbClr val="1A1A1A"/>
                </a:solidFill>
                <a:latin typeface="Arial"/>
              </a:rPr>
              <a:t>top-ranked colleges
were planted ones</a:t>
            </a:r>
          </a:p>
        </p:txBody>
      </p:sp>
      <p:sp>
        <p:nvSpPr>
          <p:cNvPr id="17436" name="Rounded Rectangle 17435"/>
          <p:cNvSpPr/>
          <p:nvPr/>
        </p:nvSpPr>
        <p:spPr>
          <a:xfrm>
            <a:off x="9989820"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8126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FlaskConical_white.png"/>
          <p:cNvPicPr>
            <a:picLocks noChangeAspect="1"/>
          </p:cNvPicPr>
          <p:nvPr/>
        </p:nvPicPr>
        <p:blipFill>
          <a:blip r:embed="rId9"/>
          <a:stretch>
            <a:fillRect/>
          </a:stretch>
        </p:blipFill>
        <p:spPr>
          <a:xfrm>
            <a:off x="10165750" y="1657258"/>
            <a:ext cx="215066" cy="215066"/>
          </a:xfrm>
          <a:prstGeom prst="rect">
            <a:avLst/>
          </a:prstGeom>
        </p:spPr>
      </p:pic>
      <p:sp>
        <p:nvSpPr>
          <p:cNvPr id="17439" name="TextBox 17438"/>
          <p:cNvSpPr txBox="1"/>
          <p:nvPr/>
        </p:nvSpPr>
        <p:spPr>
          <a:xfrm>
            <a:off x="1051102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65 tests</a:t>
            </a:r>
          </a:p>
        </p:txBody>
      </p:sp>
      <p:sp>
        <p:nvSpPr>
          <p:cNvPr id="17440" name="TextBox 17439"/>
          <p:cNvSpPr txBox="1"/>
          <p:nvPr/>
        </p:nvSpPr>
        <p:spPr>
          <a:xfrm>
            <a:off x="10081260" y="2029968"/>
            <a:ext cx="1696212" cy="530352"/>
          </a:xfrm>
          <a:prstGeom prst="rect">
            <a:avLst/>
          </a:prstGeom>
          <a:noFill/>
        </p:spPr>
        <p:txBody>
          <a:bodyPr wrap="square" lIns="45720" rIns="45720" tIns="18288" bIns="18288" anchor="t"/>
          <a:lstStyle/>
          <a:p>
            <a:pPr algn="l"/>
            <a:r>
              <a:rPr sz="1100" b="0" i="0">
                <a:solidFill>
                  <a:srgbClr val="1A1A1A"/>
                </a:solidFill>
                <a:latin typeface="Arial"/>
              </a:rPr>
              <a:t>93% coverage;
security + WCAG in CI</a:t>
            </a:r>
          </a:p>
        </p:txBody>
      </p:sp>
      <p:sp>
        <p:nvSpPr>
          <p:cNvPr id="17441" name="Rounded Rectangle 17440"/>
          <p:cNvSpPr/>
          <p:nvPr/>
        </p:nvSpPr>
        <p:spPr>
          <a:xfrm>
            <a:off x="320040" y="2624328"/>
            <a:ext cx="11548872" cy="292608"/>
          </a:xfrm>
          <a:prstGeom prst="roundRect">
            <a:avLst>
              <a:gd name="adj" fmla="val 1875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All synthetic data: </a:t>
            </a:r>
            <a:r>
              <a:rPr sz="1200" b="0" i="0">
                <a:solidFill>
                  <a:srgbClr val="1A1A1A"/>
                </a:solidFill>
                <a:latin typeface="Arial"/>
              </a:rPr>
              <a:t>regression checks, not real-world accuracy (the pilot measures that). An officer decides every flag.</a:t>
            </a:r>
          </a:p>
        </p:txBody>
      </p:sp>
      <p:sp>
        <p:nvSpPr>
          <p:cNvPr id="17442" name="Rounded Rectangle 17441"/>
          <p:cNvSpPr/>
          <p:nvPr/>
        </p:nvSpPr>
        <p:spPr>
          <a:xfrm>
            <a:off x="320040"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challenges and risks</a:t>
            </a:r>
          </a:p>
        </p:txBody>
      </p:sp>
      <p:sp>
        <p:nvSpPr>
          <p:cNvPr id="17443" name="Rounded Rectangle 17442"/>
          <p:cNvSpPr/>
          <p:nvPr/>
        </p:nvSpPr>
        <p:spPr>
          <a:xfrm>
            <a:off x="6382512"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Strategies for overcoming these challenges</a:t>
            </a:r>
          </a:p>
        </p:txBody>
      </p:sp>
      <p:sp>
        <p:nvSpPr>
          <p:cNvPr id="17444" name="Rounded Rectangle 17443"/>
          <p:cNvSpPr/>
          <p:nvPr/>
        </p:nvSpPr>
        <p:spPr>
          <a:xfrm>
            <a:off x="320040" y="341985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Oval 17444"/>
          <p:cNvSpPr/>
          <p:nvPr/>
        </p:nvSpPr>
        <p:spPr>
          <a:xfrm>
            <a:off x="374904" y="345643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6" name="Picture 17445" descr="LuPlugZap_white.png"/>
          <p:cNvPicPr>
            <a:picLocks noChangeAspect="1"/>
          </p:cNvPicPr>
          <p:nvPr/>
        </p:nvPicPr>
        <p:blipFill>
          <a:blip r:embed="rId10"/>
          <a:stretch>
            <a:fillRect/>
          </a:stretch>
        </p:blipFill>
        <p:spPr>
          <a:xfrm>
            <a:off x="441289" y="3522817"/>
            <a:ext cx="168981" cy="168981"/>
          </a:xfrm>
          <a:prstGeom prst="rect">
            <a:avLst/>
          </a:prstGeom>
        </p:spPr>
      </p:pic>
      <p:sp>
        <p:nvSpPr>
          <p:cNvPr id="17447" name="TextBox 17446"/>
          <p:cNvSpPr txBox="1"/>
          <p:nvPr/>
        </p:nvSpPr>
        <p:spPr>
          <a:xfrm>
            <a:off x="777240" y="3419856"/>
            <a:ext cx="4983480" cy="374904"/>
          </a:xfrm>
          <a:prstGeom prst="rect">
            <a:avLst/>
          </a:prstGeom>
          <a:noFill/>
        </p:spPr>
        <p:txBody>
          <a:bodyPr wrap="square" lIns="45720" rIns="45720" tIns="18288" bIns="18288" anchor="ctr"/>
          <a:lstStyle/>
          <a:p>
            <a:pPr algn="l"/>
            <a:r>
              <a:rPr sz="1200" b="1" i="0">
                <a:solidFill>
                  <a:srgbClr val="1A1A1A"/>
                </a:solidFill>
                <a:latin typeface="Arial"/>
              </a:rPr>
              <a:t>No public APAAR API</a:t>
            </a:r>
          </a:p>
        </p:txBody>
      </p:sp>
      <p:cxnSp>
        <p:nvCxnSpPr>
          <p:cNvPr id="17448" name="Connector 17447"/>
          <p:cNvCxnSpPr/>
          <p:nvPr/>
        </p:nvCxnSpPr>
        <p:spPr>
          <a:xfrm>
            <a:off x="5852160" y="360273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6382512" y="341985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0" name="TextBox 17449"/>
          <p:cNvSpPr txBox="1"/>
          <p:nvPr/>
        </p:nvSpPr>
        <p:spPr>
          <a:xfrm>
            <a:off x="6446520" y="3419856"/>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Adapter: mock now → DigiLocker / API Setu</a:t>
            </a:r>
          </a:p>
        </p:txBody>
      </p:sp>
      <p:sp>
        <p:nvSpPr>
          <p:cNvPr id="17451" name="Rounded Rectangle 17450"/>
          <p:cNvSpPr/>
          <p:nvPr/>
        </p:nvSpPr>
        <p:spPr>
          <a:xfrm>
            <a:off x="320040" y="3849624"/>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374904" y="3886200"/>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UserX_white.png"/>
          <p:cNvPicPr>
            <a:picLocks noChangeAspect="1"/>
          </p:cNvPicPr>
          <p:nvPr/>
        </p:nvPicPr>
        <p:blipFill>
          <a:blip r:embed="rId11"/>
          <a:stretch>
            <a:fillRect/>
          </a:stretch>
        </p:blipFill>
        <p:spPr>
          <a:xfrm>
            <a:off x="441289" y="3952585"/>
            <a:ext cx="168981" cy="168981"/>
          </a:xfrm>
          <a:prstGeom prst="rect">
            <a:avLst/>
          </a:prstGeom>
        </p:spPr>
      </p:pic>
      <p:sp>
        <p:nvSpPr>
          <p:cNvPr id="17454" name="TextBox 17453"/>
          <p:cNvSpPr txBox="1"/>
          <p:nvPr/>
        </p:nvSpPr>
        <p:spPr>
          <a:xfrm>
            <a:off x="777240" y="3849624"/>
            <a:ext cx="4983480" cy="374904"/>
          </a:xfrm>
          <a:prstGeom prst="rect">
            <a:avLst/>
          </a:prstGeom>
          <a:noFill/>
        </p:spPr>
        <p:txBody>
          <a:bodyPr wrap="square" lIns="45720" rIns="45720" tIns="18288" bIns="18288" anchor="ctr"/>
          <a:lstStyle/>
          <a:p>
            <a:pPr algn="l"/>
            <a:r>
              <a:rPr sz="1200" b="1" i="0">
                <a:solidFill>
                  <a:srgbClr val="1A1A1A"/>
                </a:solidFill>
                <a:latin typeface="Arial"/>
              </a:rPr>
              <a:t>Students without APAAR (opt-out, FN / OCI)</a:t>
            </a:r>
          </a:p>
        </p:txBody>
      </p:sp>
      <p:cxnSp>
        <p:nvCxnSpPr>
          <p:cNvPr id="17455" name="Connector 17454"/>
          <p:cNvCxnSpPr/>
          <p:nvPr/>
        </p:nvCxnSpPr>
        <p:spPr>
          <a:xfrm>
            <a:off x="5852160" y="4032504"/>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6" name="Rounded Rectangle 17455"/>
          <p:cNvSpPr/>
          <p:nvPr/>
        </p:nvSpPr>
        <p:spPr>
          <a:xfrm>
            <a:off x="6382512" y="3849624"/>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TextBox 17456"/>
          <p:cNvSpPr txBox="1"/>
          <p:nvPr/>
        </p:nvSpPr>
        <p:spPr>
          <a:xfrm>
            <a:off x="6446520" y="3849624"/>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Provisional ID; never rejected</a:t>
            </a:r>
          </a:p>
        </p:txBody>
      </p:sp>
      <p:sp>
        <p:nvSpPr>
          <p:cNvPr id="17458" name="Rounded Rectangle 17457"/>
          <p:cNvSpPr/>
          <p:nvPr/>
        </p:nvSpPr>
        <p:spPr>
          <a:xfrm>
            <a:off x="320040" y="4279392"/>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9" name="Oval 17458"/>
          <p:cNvSpPr/>
          <p:nvPr/>
        </p:nvSpPr>
        <p:spPr>
          <a:xfrm>
            <a:off x="374904" y="4315968"/>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0" name="Picture 17459" descr="LuLock_white.png"/>
          <p:cNvPicPr>
            <a:picLocks noChangeAspect="1"/>
          </p:cNvPicPr>
          <p:nvPr/>
        </p:nvPicPr>
        <p:blipFill>
          <a:blip r:embed="rId12"/>
          <a:stretch>
            <a:fillRect/>
          </a:stretch>
        </p:blipFill>
        <p:spPr>
          <a:xfrm>
            <a:off x="441289" y="4382353"/>
            <a:ext cx="168981" cy="168981"/>
          </a:xfrm>
          <a:prstGeom prst="rect">
            <a:avLst/>
          </a:prstGeom>
        </p:spPr>
      </p:pic>
      <p:sp>
        <p:nvSpPr>
          <p:cNvPr id="17461" name="TextBox 17460"/>
          <p:cNvSpPr txBox="1"/>
          <p:nvPr/>
        </p:nvSpPr>
        <p:spPr>
          <a:xfrm>
            <a:off x="777240" y="4279392"/>
            <a:ext cx="4983480" cy="374904"/>
          </a:xfrm>
          <a:prstGeom prst="rect">
            <a:avLst/>
          </a:prstGeom>
          <a:noFill/>
        </p:spPr>
        <p:txBody>
          <a:bodyPr wrap="square" lIns="45720" rIns="45720" tIns="18288" bIns="18288" anchor="ctr"/>
          <a:lstStyle/>
          <a:p>
            <a:pPr algn="l"/>
            <a:r>
              <a:rPr sz="1200" b="1" i="0">
                <a:solidFill>
                  <a:srgbClr val="1A1A1A"/>
                </a:solidFill>
                <a:latin typeface="Arial"/>
              </a:rPr>
              <a:t>Privacy (DPDP Act; APAAR is voluntary)</a:t>
            </a:r>
          </a:p>
        </p:txBody>
      </p:sp>
      <p:cxnSp>
        <p:nvCxnSpPr>
          <p:cNvPr id="17462" name="Connector 17461"/>
          <p:cNvCxnSpPr/>
          <p:nvPr/>
        </p:nvCxnSpPr>
        <p:spPr>
          <a:xfrm>
            <a:off x="5852160" y="4462272"/>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82512" y="4279392"/>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4" name="TextBox 17463"/>
          <p:cNvSpPr txBox="1"/>
          <p:nvPr/>
        </p:nvSpPr>
        <p:spPr>
          <a:xfrm>
            <a:off x="6446520" y="4279392"/>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Field-level consent; contacts encrypted; no Aadhaar</a:t>
            </a:r>
          </a:p>
        </p:txBody>
      </p:sp>
      <p:sp>
        <p:nvSpPr>
          <p:cNvPr id="17465" name="Rounded Rectangle 17464"/>
          <p:cNvSpPr/>
          <p:nvPr/>
        </p:nvSpPr>
        <p:spPr>
          <a:xfrm>
            <a:off x="320040" y="4709160"/>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6" name="Oval 17465"/>
          <p:cNvSpPr/>
          <p:nvPr/>
        </p:nvSpPr>
        <p:spPr>
          <a:xfrm>
            <a:off x="374904" y="4745736"/>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LuScale_white.png"/>
          <p:cNvPicPr>
            <a:picLocks noChangeAspect="1"/>
          </p:cNvPicPr>
          <p:nvPr/>
        </p:nvPicPr>
        <p:blipFill>
          <a:blip r:embed="rId13"/>
          <a:stretch>
            <a:fillRect/>
          </a:stretch>
        </p:blipFill>
        <p:spPr>
          <a:xfrm>
            <a:off x="441289" y="4812121"/>
            <a:ext cx="168981" cy="168981"/>
          </a:xfrm>
          <a:prstGeom prst="rect">
            <a:avLst/>
          </a:prstGeom>
        </p:spPr>
      </p:pic>
      <p:sp>
        <p:nvSpPr>
          <p:cNvPr id="17468" name="TextBox 17467"/>
          <p:cNvSpPr txBox="1"/>
          <p:nvPr/>
        </p:nvSpPr>
        <p:spPr>
          <a:xfrm>
            <a:off x="777240" y="4709160"/>
            <a:ext cx="4983480" cy="374904"/>
          </a:xfrm>
          <a:prstGeom prst="rect">
            <a:avLst/>
          </a:prstGeom>
          <a:noFill/>
        </p:spPr>
        <p:txBody>
          <a:bodyPr wrap="square" lIns="45720" rIns="45720" tIns="18288" bIns="18288" anchor="ctr"/>
          <a:lstStyle/>
          <a:p>
            <a:pPr algn="l"/>
            <a:r>
              <a:rPr sz="1200" b="1" i="0">
                <a:solidFill>
                  <a:srgbClr val="1A1A1A"/>
                </a:solidFill>
                <a:latin typeface="Arial"/>
              </a:rPr>
              <a:t>Wrong flags: twins, spellings, bad data</a:t>
            </a:r>
          </a:p>
        </p:txBody>
      </p:sp>
      <p:cxnSp>
        <p:nvCxnSpPr>
          <p:cNvPr id="17469" name="Connector 17468"/>
          <p:cNvCxnSpPr/>
          <p:nvPr/>
        </p:nvCxnSpPr>
        <p:spPr>
          <a:xfrm>
            <a:off x="5852160" y="4892040"/>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0" name="Rounded Rectangle 17469"/>
          <p:cNvSpPr/>
          <p:nvPr/>
        </p:nvSpPr>
        <p:spPr>
          <a:xfrm>
            <a:off x="6382512" y="4709160"/>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1" name="TextBox 17470"/>
          <p:cNvSpPr txBox="1"/>
          <p:nvPr/>
        </p:nvSpPr>
        <p:spPr>
          <a:xfrm>
            <a:off x="6446520" y="4709160"/>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Reasons shown; officer decides; decision kept</a:t>
            </a:r>
          </a:p>
        </p:txBody>
      </p:sp>
      <p:sp>
        <p:nvSpPr>
          <p:cNvPr id="17472" name="Rounded Rectangle 17471"/>
          <p:cNvSpPr/>
          <p:nvPr/>
        </p:nvSpPr>
        <p:spPr>
          <a:xfrm>
            <a:off x="320040" y="5138928"/>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3" name="Oval 17472"/>
          <p:cNvSpPr/>
          <p:nvPr/>
        </p:nvSpPr>
        <p:spPr>
          <a:xfrm>
            <a:off x="374904" y="5175504"/>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LuCalendarClock_white.png"/>
          <p:cNvPicPr>
            <a:picLocks noChangeAspect="1"/>
          </p:cNvPicPr>
          <p:nvPr/>
        </p:nvPicPr>
        <p:blipFill>
          <a:blip r:embed="rId14"/>
          <a:stretch>
            <a:fillRect/>
          </a:stretch>
        </p:blipFill>
        <p:spPr>
          <a:xfrm>
            <a:off x="441289" y="5241889"/>
            <a:ext cx="168981" cy="168981"/>
          </a:xfrm>
          <a:prstGeom prst="rect">
            <a:avLst/>
          </a:prstGeom>
        </p:spPr>
      </p:pic>
      <p:sp>
        <p:nvSpPr>
          <p:cNvPr id="17475" name="TextBox 17474"/>
          <p:cNvSpPr txBox="1"/>
          <p:nvPr/>
        </p:nvSpPr>
        <p:spPr>
          <a:xfrm>
            <a:off x="777240" y="5138928"/>
            <a:ext cx="4983480" cy="374904"/>
          </a:xfrm>
          <a:prstGeom prst="rect">
            <a:avLst/>
          </a:prstGeom>
          <a:noFill/>
        </p:spPr>
        <p:txBody>
          <a:bodyPr wrap="square" lIns="45720" rIns="45720" tIns="18288" bIns="18288" anchor="ctr"/>
          <a:lstStyle/>
          <a:p>
            <a:pPr algn="l"/>
            <a:r>
              <a:rPr sz="1200" b="1" i="0">
                <a:solidFill>
                  <a:srgbClr val="1A1A1A"/>
                </a:solidFill>
                <a:latin typeface="Arial"/>
              </a:rPr>
              <a:t>Rules change; some values unconfirmed</a:t>
            </a:r>
          </a:p>
        </p:txBody>
      </p:sp>
      <p:cxnSp>
        <p:nvCxnSpPr>
          <p:cNvPr id="17476" name="Connector 17475"/>
          <p:cNvCxnSpPr/>
          <p:nvPr/>
        </p:nvCxnSpPr>
        <p:spPr>
          <a:xfrm>
            <a:off x="5852160" y="5321808"/>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7" name="Rounded Rectangle 17476"/>
          <p:cNvSpPr/>
          <p:nvPr/>
        </p:nvSpPr>
        <p:spPr>
          <a:xfrm>
            <a:off x="6382512" y="5138928"/>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8" name="TextBox 17477"/>
          <p:cNvSpPr txBox="1"/>
          <p:nvPr/>
        </p:nvSpPr>
        <p:spPr>
          <a:xfrm>
            <a:off x="6446520" y="5138928"/>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Rules file per year; unconfirmed values only warn</a:t>
            </a:r>
          </a:p>
        </p:txBody>
      </p:sp>
      <p:sp>
        <p:nvSpPr>
          <p:cNvPr id="17479" name="Rounded Rectangle 17478"/>
          <p:cNvSpPr/>
          <p:nvPr/>
        </p:nvSpPr>
        <p:spPr>
          <a:xfrm>
            <a:off x="320040" y="556869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0" name="Oval 17479"/>
          <p:cNvSpPr/>
          <p:nvPr/>
        </p:nvSpPr>
        <p:spPr>
          <a:xfrm>
            <a:off x="374904" y="560527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81" name="Picture 17480" descr="LuSmartphone_white.png"/>
          <p:cNvPicPr>
            <a:picLocks noChangeAspect="1"/>
          </p:cNvPicPr>
          <p:nvPr/>
        </p:nvPicPr>
        <p:blipFill>
          <a:blip r:embed="rId15"/>
          <a:stretch>
            <a:fillRect/>
          </a:stretch>
        </p:blipFill>
        <p:spPr>
          <a:xfrm>
            <a:off x="441289" y="5671657"/>
            <a:ext cx="168981" cy="168981"/>
          </a:xfrm>
          <a:prstGeom prst="rect">
            <a:avLst/>
          </a:prstGeom>
        </p:spPr>
      </p:pic>
      <p:sp>
        <p:nvSpPr>
          <p:cNvPr id="17482" name="TextBox 17481"/>
          <p:cNvSpPr txBox="1"/>
          <p:nvPr/>
        </p:nvSpPr>
        <p:spPr>
          <a:xfrm>
            <a:off x="777240" y="5568696"/>
            <a:ext cx="4983480" cy="374904"/>
          </a:xfrm>
          <a:prstGeom prst="rect">
            <a:avLst/>
          </a:prstGeom>
          <a:noFill/>
        </p:spPr>
        <p:txBody>
          <a:bodyPr wrap="square" lIns="45720" rIns="45720" tIns="18288" bIns="18288" anchor="ctr"/>
          <a:lstStyle/>
          <a:p>
            <a:pPr algn="l"/>
            <a:r>
              <a:rPr sz="1200" b="1" i="0">
                <a:solidFill>
                  <a:srgbClr val="1A1A1A"/>
                </a:solidFill>
                <a:latin typeface="Arial"/>
              </a:rPr>
              <a:t>Varied ERP formats, low digital readiness</a:t>
            </a:r>
          </a:p>
        </p:txBody>
      </p:sp>
      <p:cxnSp>
        <p:nvCxnSpPr>
          <p:cNvPr id="17483" name="Connector 17482"/>
          <p:cNvCxnSpPr/>
          <p:nvPr/>
        </p:nvCxnSpPr>
        <p:spPr>
          <a:xfrm>
            <a:off x="5852160" y="575157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84" name="Rounded Rectangle 17483"/>
          <p:cNvSpPr/>
          <p:nvPr/>
        </p:nvSpPr>
        <p:spPr>
          <a:xfrm>
            <a:off x="6382512" y="556869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5" name="TextBox 17484"/>
          <p:cNvSpPr txBox="1"/>
          <p:nvPr/>
        </p:nvSpPr>
        <p:spPr>
          <a:xfrm>
            <a:off x="6446520" y="5568696"/>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Headers auto-mapped; Excel template; Hindi; phone</a:t>
            </a:r>
          </a:p>
        </p:txBody>
      </p:sp>
      <p:sp>
        <p:nvSpPr>
          <p:cNvPr id="17486" name="Rounded Rectangle 17485"/>
          <p:cNvSpPr/>
          <p:nvPr/>
        </p:nvSpPr>
        <p:spPr>
          <a:xfrm>
            <a:off x="320040" y="6035040"/>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7" name="TextBox 17486"/>
          <p:cNvSpPr txBox="1"/>
          <p:nvPr/>
        </p:nvSpPr>
        <p:spPr>
          <a:xfrm>
            <a:off x="411480" y="6035040"/>
            <a:ext cx="11384280" cy="274320"/>
          </a:xfrm>
          <a:prstGeom prst="rect">
            <a:avLst/>
          </a:prstGeom>
          <a:noFill/>
        </p:spPr>
        <p:txBody>
          <a:bodyPr wrap="square" lIns="45720" rIns="45720" tIns="18288" bIns="18288" anchor="ctr"/>
          <a:lstStyle/>
          <a:p>
            <a:pPr algn="l"/>
            <a:r>
              <a:rPr sz="1100" b="1" i="0">
                <a:solidFill>
                  <a:srgbClr val="E46C0A"/>
                </a:solidFill>
                <a:latin typeface="Arial"/>
              </a:rPr>
              <a:t>Roadmap  </a:t>
            </a:r>
            <a:r>
              <a:rPr sz="1100" b="0" i="0">
                <a:solidFill>
                  <a:srgbClr val="1A1A1A"/>
                </a:solidFill>
                <a:latin typeface="Arial"/>
              </a:rPr>
              <a:t>M1–3 pilot: 1 state, 50 colleges, measure hours saved → M4–6 API Setu, SSO, STQC → M7–12 national   </a:t>
            </a:r>
            <a:r>
              <a:rPr sz="1100" b="1" i="0">
                <a:solidFill>
                  <a:srgbClr val="E46C0A"/>
                </a:solidFill>
                <a:latin typeface="Arial"/>
              </a:rPr>
              <a:t>Cost  </a:t>
            </a:r>
            <a:r>
              <a:rPr sz="1100" b="0" i="0">
                <a:solidFill>
                  <a:srgbClr val="1A1A1A"/>
                </a:solidFill>
                <a:latin typeface="Arial"/>
              </a:rPr>
              <a:t>no licence fees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60350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impact on the target audience</a:t>
            </a:r>
          </a:p>
        </p:txBody>
      </p:sp>
      <p:cxnSp>
        <p:nvCxnSpPr>
          <p:cNvPr id="17411" name="Connector 17410"/>
          <p:cNvCxnSpPr/>
          <p:nvPr/>
        </p:nvCxnSpPr>
        <p:spPr>
          <a:xfrm flipH="1" flipV="1">
            <a:off x="1216152" y="2039112"/>
            <a:ext cx="2121408"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2" name="Connector 17411"/>
          <p:cNvCxnSpPr/>
          <p:nvPr/>
        </p:nvCxnSpPr>
        <p:spPr>
          <a:xfrm flipV="1">
            <a:off x="3337560" y="2039112"/>
            <a:ext cx="2084832"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3" name="Connector 17412"/>
          <p:cNvCxnSpPr/>
          <p:nvPr/>
        </p:nvCxnSpPr>
        <p:spPr>
          <a:xfrm flipH="1">
            <a:off x="1216152" y="3657600"/>
            <a:ext cx="2121408"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4" name="Connector 17413"/>
          <p:cNvCxnSpPr/>
          <p:nvPr/>
        </p:nvCxnSpPr>
        <p:spPr>
          <a:xfrm>
            <a:off x="3337560" y="3657600"/>
            <a:ext cx="2084832"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5" name="Connector 17414"/>
          <p:cNvCxnSpPr/>
          <p:nvPr/>
        </p:nvCxnSpPr>
        <p:spPr>
          <a:xfrm>
            <a:off x="3337560" y="3657600"/>
            <a:ext cx="9144" cy="201168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2167128" y="2852928"/>
            <a:ext cx="2340864" cy="1483614"/>
          </a:xfrm>
          <a:prstGeom prst="roundRect">
            <a:avLst>
              <a:gd name="adj" fmla="val 2465"/>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7" name="Picture 17416" descr="10_aicte_dashboard.png"/>
          <p:cNvPicPr>
            <a:picLocks noChangeAspect="1"/>
          </p:cNvPicPr>
          <p:nvPr/>
        </p:nvPicPr>
        <p:blipFill>
          <a:blip r:embed="rId4"/>
          <a:srcRect l="17800" t="5800" b="12000"/>
          <a:stretch>
            <a:fillRect/>
          </a:stretch>
        </p:blipFill>
        <p:spPr>
          <a:xfrm>
            <a:off x="2194560" y="2880360"/>
            <a:ext cx="2286000" cy="1428750"/>
          </a:xfrm>
          <a:prstGeom prst="rect">
            <a:avLst/>
          </a:prstGeom>
        </p:spPr>
      </p:pic>
      <p:sp>
        <p:nvSpPr>
          <p:cNvPr id="17418" name="TextBox 17417"/>
          <p:cNvSpPr txBox="1"/>
          <p:nvPr/>
        </p:nvSpPr>
        <p:spPr>
          <a:xfrm>
            <a:off x="2194560" y="4345686"/>
            <a:ext cx="2286000" cy="219456"/>
          </a:xfrm>
          <a:prstGeom prst="rect">
            <a:avLst/>
          </a:prstGeom>
          <a:noFill/>
        </p:spPr>
        <p:txBody>
          <a:bodyPr wrap="square" lIns="45720" rIns="45720" tIns="18288" bIns="18288" anchor="ctr"/>
          <a:lstStyle/>
          <a:p>
            <a:pPr algn="ctr"/>
            <a:r>
              <a:rPr sz="1100" b="1" i="0">
                <a:solidFill>
                  <a:srgbClr val="1F3864"/>
                </a:solidFill>
                <a:latin typeface="Arial"/>
              </a:rPr>
              <a:t>One national view</a:t>
            </a:r>
          </a:p>
        </p:txBody>
      </p:sp>
      <p:sp>
        <p:nvSpPr>
          <p:cNvPr id="17419" name="Rounded Rectangle 17418"/>
          <p:cNvSpPr/>
          <p:nvPr/>
        </p:nvSpPr>
        <p:spPr>
          <a:xfrm>
            <a:off x="32004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0" name="Oval 17419"/>
          <p:cNvSpPr/>
          <p:nvPr/>
        </p:nvSpPr>
        <p:spPr>
          <a:xfrm>
            <a:off x="39319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1" name="Picture 17420" descr="LuLandmark_white.png"/>
          <p:cNvPicPr>
            <a:picLocks noChangeAspect="1"/>
          </p:cNvPicPr>
          <p:nvPr/>
        </p:nvPicPr>
        <p:blipFill>
          <a:blip r:embed="rId5"/>
          <a:stretch>
            <a:fillRect/>
          </a:stretch>
        </p:blipFill>
        <p:spPr>
          <a:xfrm>
            <a:off x="485729" y="1720169"/>
            <a:ext cx="235549" cy="235549"/>
          </a:xfrm>
          <a:prstGeom prst="rect">
            <a:avLst/>
          </a:prstGeom>
        </p:spPr>
      </p:pic>
      <p:sp>
        <p:nvSpPr>
          <p:cNvPr id="17422" name="TextBox 17421"/>
          <p:cNvSpPr txBox="1"/>
          <p:nvPr/>
        </p:nvSpPr>
        <p:spPr>
          <a:xfrm>
            <a:off x="86868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AICTE &amp; regulators</a:t>
            </a:r>
          </a:p>
        </p:txBody>
      </p:sp>
      <p:sp>
        <p:nvSpPr>
          <p:cNvPr id="17423" name="TextBox 17422"/>
          <p:cNvSpPr txBox="1"/>
          <p:nvPr/>
        </p:nvSpPr>
        <p:spPr>
          <a:xfrm>
            <a:off x="393192" y="2084831"/>
            <a:ext cx="1691640" cy="438912"/>
          </a:xfrm>
          <a:prstGeom prst="rect">
            <a:avLst/>
          </a:prstGeom>
          <a:noFill/>
        </p:spPr>
        <p:txBody>
          <a:bodyPr wrap="square" lIns="45720" rIns="45720" tIns="18288" bIns="18288" anchor="t"/>
          <a:lstStyle/>
          <a:p>
            <a:pPr algn="l"/>
            <a:r>
              <a:rPr sz="1100" b="0" i="0">
                <a:solidFill>
                  <a:srgbClr val="1A1A1A"/>
                </a:solidFill>
                <a:latin typeface="Arial"/>
              </a:rPr>
              <a:t>excess and dual
enrolment at submission</a:t>
            </a:r>
          </a:p>
        </p:txBody>
      </p:sp>
      <p:sp>
        <p:nvSpPr>
          <p:cNvPr id="17424" name="Rounded Rectangle 17423"/>
          <p:cNvSpPr/>
          <p:nvPr/>
        </p:nvSpPr>
        <p:spPr>
          <a:xfrm>
            <a:off x="452628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Oval 17424"/>
          <p:cNvSpPr/>
          <p:nvPr/>
        </p:nvSpPr>
        <p:spPr>
          <a:xfrm>
            <a:off x="459943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6" name="Picture 17425" descr="LuBuilding2_white.png"/>
          <p:cNvPicPr>
            <a:picLocks noChangeAspect="1"/>
          </p:cNvPicPr>
          <p:nvPr/>
        </p:nvPicPr>
        <p:blipFill>
          <a:blip r:embed="rId6"/>
          <a:stretch>
            <a:fillRect/>
          </a:stretch>
        </p:blipFill>
        <p:spPr>
          <a:xfrm>
            <a:off x="4691969" y="1720169"/>
            <a:ext cx="235549" cy="235549"/>
          </a:xfrm>
          <a:prstGeom prst="rect">
            <a:avLst/>
          </a:prstGeom>
        </p:spPr>
      </p:pic>
      <p:sp>
        <p:nvSpPr>
          <p:cNvPr id="17427" name="TextBox 17426"/>
          <p:cNvSpPr txBox="1"/>
          <p:nvPr/>
        </p:nvSpPr>
        <p:spPr>
          <a:xfrm>
            <a:off x="507492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Institutions</a:t>
            </a:r>
          </a:p>
        </p:txBody>
      </p:sp>
      <p:sp>
        <p:nvSpPr>
          <p:cNvPr id="17428" name="TextBox 17427"/>
          <p:cNvSpPr txBox="1"/>
          <p:nvPr/>
        </p:nvSpPr>
        <p:spPr>
          <a:xfrm>
            <a:off x="4599432" y="2084831"/>
            <a:ext cx="1691640" cy="438912"/>
          </a:xfrm>
          <a:prstGeom prst="rect">
            <a:avLst/>
          </a:prstGeom>
          <a:noFill/>
        </p:spPr>
        <p:txBody>
          <a:bodyPr wrap="square" lIns="45720" rIns="45720" tIns="18288" bIns="18288" anchor="t"/>
          <a:lstStyle/>
          <a:p>
            <a:pPr algn="l"/>
            <a:r>
              <a:rPr sz="1100" b="0" i="0">
                <a:solidFill>
                  <a:srgbClr val="1A1A1A"/>
                </a:solidFill>
                <a:latin typeface="Arial"/>
              </a:rPr>
              <a:t>one upload;
errors explained</a:t>
            </a:r>
          </a:p>
        </p:txBody>
      </p:sp>
      <p:sp>
        <p:nvSpPr>
          <p:cNvPr id="17429" name="Rounded Rectangle 17428"/>
          <p:cNvSpPr/>
          <p:nvPr/>
        </p:nvSpPr>
        <p:spPr>
          <a:xfrm>
            <a:off x="32004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Oval 17429"/>
          <p:cNvSpPr/>
          <p:nvPr/>
        </p:nvSpPr>
        <p:spPr>
          <a:xfrm>
            <a:off x="39319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1" name="Picture 17430" descr="LuGraduationCap_white.png"/>
          <p:cNvPicPr>
            <a:picLocks noChangeAspect="1"/>
          </p:cNvPicPr>
          <p:nvPr/>
        </p:nvPicPr>
        <p:blipFill>
          <a:blip r:embed="rId7"/>
          <a:stretch>
            <a:fillRect/>
          </a:stretch>
        </p:blipFill>
        <p:spPr>
          <a:xfrm>
            <a:off x="485729" y="3338657"/>
            <a:ext cx="235549" cy="235549"/>
          </a:xfrm>
          <a:prstGeom prst="rect">
            <a:avLst/>
          </a:prstGeom>
        </p:spPr>
      </p:pic>
      <p:sp>
        <p:nvSpPr>
          <p:cNvPr id="17432" name="TextBox 17431"/>
          <p:cNvSpPr txBox="1"/>
          <p:nvPr/>
        </p:nvSpPr>
        <p:spPr>
          <a:xfrm>
            <a:off x="86868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Universities</a:t>
            </a:r>
          </a:p>
        </p:txBody>
      </p:sp>
      <p:sp>
        <p:nvSpPr>
          <p:cNvPr id="17433" name="TextBox 17432"/>
          <p:cNvSpPr txBox="1"/>
          <p:nvPr/>
        </p:nvSpPr>
        <p:spPr>
          <a:xfrm>
            <a:off x="393192" y="3703320"/>
            <a:ext cx="1691640" cy="438912"/>
          </a:xfrm>
          <a:prstGeom prst="rect">
            <a:avLst/>
          </a:prstGeom>
          <a:noFill/>
        </p:spPr>
        <p:txBody>
          <a:bodyPr wrap="square" lIns="45720" rIns="45720" tIns="18288" bIns="18288" anchor="t"/>
          <a:lstStyle/>
          <a:p>
            <a:pPr algn="l"/>
            <a:r>
              <a:rPr sz="1100" b="0" i="0">
                <a:solidFill>
                  <a:srgbClr val="1A1A1A"/>
                </a:solidFill>
                <a:latin typeface="Arial"/>
              </a:rPr>
              <a:t>APAAR printed
on degrees</a:t>
            </a:r>
          </a:p>
        </p:txBody>
      </p:sp>
      <p:sp>
        <p:nvSpPr>
          <p:cNvPr id="17434" name="Rounded Rectangle 17433"/>
          <p:cNvSpPr/>
          <p:nvPr/>
        </p:nvSpPr>
        <p:spPr>
          <a:xfrm>
            <a:off x="452628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Oval 17434"/>
          <p:cNvSpPr/>
          <p:nvPr/>
        </p:nvSpPr>
        <p:spPr>
          <a:xfrm>
            <a:off x="459943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6" name="Picture 17435" descr="LuBriefcase_white.png"/>
          <p:cNvPicPr>
            <a:picLocks noChangeAspect="1"/>
          </p:cNvPicPr>
          <p:nvPr/>
        </p:nvPicPr>
        <p:blipFill>
          <a:blip r:embed="rId8"/>
          <a:stretch>
            <a:fillRect/>
          </a:stretch>
        </p:blipFill>
        <p:spPr>
          <a:xfrm>
            <a:off x="4691969" y="3338657"/>
            <a:ext cx="235549" cy="235549"/>
          </a:xfrm>
          <a:prstGeom prst="rect">
            <a:avLst/>
          </a:prstGeom>
        </p:spPr>
      </p:pic>
      <p:sp>
        <p:nvSpPr>
          <p:cNvPr id="17437" name="TextBox 17436"/>
          <p:cNvSpPr txBox="1"/>
          <p:nvPr/>
        </p:nvSpPr>
        <p:spPr>
          <a:xfrm>
            <a:off x="507492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Employers</a:t>
            </a:r>
          </a:p>
        </p:txBody>
      </p:sp>
      <p:sp>
        <p:nvSpPr>
          <p:cNvPr id="17438" name="TextBox 17437"/>
          <p:cNvSpPr txBox="1"/>
          <p:nvPr/>
        </p:nvSpPr>
        <p:spPr>
          <a:xfrm>
            <a:off x="4599432" y="3703320"/>
            <a:ext cx="1691640" cy="438912"/>
          </a:xfrm>
          <a:prstGeom prst="rect">
            <a:avLst/>
          </a:prstGeom>
          <a:noFill/>
        </p:spPr>
        <p:txBody>
          <a:bodyPr wrap="square" lIns="45720" rIns="45720" tIns="18288" bIns="18288" anchor="t"/>
          <a:lstStyle/>
          <a:p>
            <a:pPr algn="l"/>
            <a:r>
              <a:rPr sz="1100" b="0" i="0">
                <a:solidFill>
                  <a:srgbClr val="1A1A1A"/>
                </a:solidFill>
                <a:latin typeface="Arial"/>
              </a:rPr>
              <a:t>QR check;
consent for more</a:t>
            </a:r>
          </a:p>
        </p:txBody>
      </p:sp>
      <p:sp>
        <p:nvSpPr>
          <p:cNvPr id="17439" name="Rounded Rectangle 17438"/>
          <p:cNvSpPr/>
          <p:nvPr/>
        </p:nvSpPr>
        <p:spPr>
          <a:xfrm>
            <a:off x="2450592" y="516636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Oval 17439"/>
          <p:cNvSpPr/>
          <p:nvPr/>
        </p:nvSpPr>
        <p:spPr>
          <a:xfrm>
            <a:off x="2523744" y="5257800"/>
            <a:ext cx="420624" cy="42062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1" name="Picture 17440" descr="LuUsers_white.png"/>
          <p:cNvPicPr>
            <a:picLocks noChangeAspect="1"/>
          </p:cNvPicPr>
          <p:nvPr/>
        </p:nvPicPr>
        <p:blipFill>
          <a:blip r:embed="rId9"/>
          <a:stretch>
            <a:fillRect/>
          </a:stretch>
        </p:blipFill>
        <p:spPr>
          <a:xfrm>
            <a:off x="2616281" y="5350337"/>
            <a:ext cx="235549" cy="235549"/>
          </a:xfrm>
          <a:prstGeom prst="rect">
            <a:avLst/>
          </a:prstGeom>
        </p:spPr>
      </p:pic>
      <p:sp>
        <p:nvSpPr>
          <p:cNvPr id="17442" name="TextBox 17441"/>
          <p:cNvSpPr txBox="1"/>
          <p:nvPr/>
        </p:nvSpPr>
        <p:spPr>
          <a:xfrm>
            <a:off x="2999232" y="5239512"/>
            <a:ext cx="1216152" cy="457200"/>
          </a:xfrm>
          <a:prstGeom prst="rect">
            <a:avLst/>
          </a:prstGeom>
          <a:noFill/>
        </p:spPr>
        <p:txBody>
          <a:bodyPr wrap="square" lIns="45720" rIns="45720" tIns="18288" bIns="18288" anchor="ctr"/>
          <a:lstStyle/>
          <a:p>
            <a:pPr algn="l"/>
            <a:r>
              <a:rPr sz="1200" b="1" i="0">
                <a:solidFill>
                  <a:srgbClr val="1F3864"/>
                </a:solidFill>
                <a:latin typeface="Arial"/>
              </a:rPr>
              <a:t>Students</a:t>
            </a:r>
          </a:p>
        </p:txBody>
      </p:sp>
      <p:sp>
        <p:nvSpPr>
          <p:cNvPr id="17443" name="TextBox 17442"/>
          <p:cNvSpPr txBox="1"/>
          <p:nvPr/>
        </p:nvSpPr>
        <p:spPr>
          <a:xfrm>
            <a:off x="2523744" y="5715000"/>
            <a:ext cx="1691640" cy="438912"/>
          </a:xfrm>
          <a:prstGeom prst="rect">
            <a:avLst/>
          </a:prstGeom>
          <a:noFill/>
        </p:spPr>
        <p:txBody>
          <a:bodyPr wrap="square" lIns="45720" rIns="45720" tIns="18288" bIns="18288" anchor="t"/>
          <a:lstStyle/>
          <a:p>
            <a:pPr algn="l"/>
            <a:r>
              <a:rPr sz="1100" b="0" i="0">
                <a:solidFill>
                  <a:srgbClr val="1A1A1A"/>
                </a:solidFill>
                <a:latin typeface="Arial"/>
              </a:rPr>
              <a:t>control who
sees their record</a:t>
            </a:r>
          </a:p>
        </p:txBody>
      </p:sp>
      <p:sp>
        <p:nvSpPr>
          <p:cNvPr id="17444" name="Rounded Rectangle 17443"/>
          <p:cNvSpPr/>
          <p:nvPr/>
        </p:nvSpPr>
        <p:spPr>
          <a:xfrm>
            <a:off x="320040" y="4443984"/>
            <a:ext cx="2011680" cy="1737360"/>
          </a:xfrm>
          <a:prstGeom prst="roundRect">
            <a:avLst>
              <a:gd name="adj" fmla="val 6315"/>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393192" y="4480560"/>
            <a:ext cx="1865376" cy="274320"/>
          </a:xfrm>
          <a:prstGeom prst="rect">
            <a:avLst/>
          </a:prstGeom>
          <a:noFill/>
        </p:spPr>
        <p:txBody>
          <a:bodyPr wrap="square" lIns="45720" rIns="45720" tIns="18288" bIns="18288" anchor="ctr"/>
          <a:lstStyle/>
          <a:p>
            <a:pPr algn="l"/>
            <a:r>
              <a:rPr sz="1200" b="1" i="0">
                <a:solidFill>
                  <a:srgbClr val="B42B2B"/>
                </a:solidFill>
                <a:latin typeface="Arial"/>
              </a:rPr>
              <a:t>Today</a:t>
            </a:r>
          </a:p>
        </p:txBody>
      </p:sp>
      <p:sp>
        <p:nvSpPr>
          <p:cNvPr id="17446" name="TextBox 17445"/>
          <p:cNvSpPr txBox="1"/>
          <p:nvPr/>
        </p:nvSpPr>
        <p:spPr>
          <a:xfrm>
            <a:off x="393192" y="4736592"/>
            <a:ext cx="1865376" cy="1426464"/>
          </a:xfrm>
          <a:prstGeom prst="rect">
            <a:avLst/>
          </a:prstGeom>
          <a:noFill/>
        </p:spPr>
        <p:txBody>
          <a:bodyPr wrap="square" lIns="45720" rIns="45720" tIns="18288" bIns="18288" anchor="t"/>
          <a:lstStyle/>
          <a:p>
            <a:pPr algn="l">
              <a:spcAft>
                <a:spcPts val="400"/>
              </a:spcAft>
            </a:pPr>
            <a:r>
              <a:rPr sz="1100" b="1" i="0">
                <a:solidFill>
                  <a:srgbClr val="B42B2B"/>
                </a:solidFill>
                <a:latin typeface="Arial"/>
              </a:rPr>
              <a:t>✖ </a:t>
            </a:r>
            <a:r>
              <a:rPr sz="1100" b="0" i="0">
                <a:solidFill>
                  <a:srgbClr val="1A1A1A"/>
                </a:solidFill>
                <a:latin typeface="Arial"/>
              </a:rPr>
              <a:t>₹23.1 cr fine: 42 seats × ₹11 lakh × 5 (SC, 2019)</a:t>
            </a:r>
          </a:p>
          <a:p>
            <a:pPr algn="l">
              <a:spcAft>
                <a:spcPts val="400"/>
              </a:spcAft>
            </a:pPr>
            <a:r>
              <a:rPr sz="1100" b="1" i="0">
                <a:solidFill>
                  <a:srgbClr val="B42B2B"/>
                </a:solidFill>
                <a:latin typeface="Arial"/>
              </a:rPr>
              <a:t>✖ </a:t>
            </a:r>
            <a:r>
              <a:rPr sz="1100" b="0" i="0">
                <a:solidFill>
                  <a:srgbClr val="1A1A1A"/>
                </a:solidFill>
                <a:latin typeface="Arial"/>
              </a:rPr>
              <a:t>AISHE 2022-23 data out in 2026</a:t>
            </a:r>
          </a:p>
          <a:p>
            <a:pPr algn="l">
              <a:spcAft>
                <a:spcPts val="400"/>
              </a:spcAft>
            </a:pPr>
            <a:r>
              <a:rPr sz="1100" b="1" i="0">
                <a:solidFill>
                  <a:srgbClr val="B42B2B"/>
                </a:solidFill>
                <a:latin typeface="Arial"/>
              </a:rPr>
              <a:t>✖ </a:t>
            </a:r>
            <a:r>
              <a:rPr sz="1100" b="0" i="0">
                <a:solidFill>
                  <a:srgbClr val="1A1A1A"/>
                </a:solidFill>
                <a:latin typeface="Arial"/>
              </a:rPr>
              <a:t>APAAR–Aadhaar mismatches (CU Srinagar, 2026)</a:t>
            </a:r>
          </a:p>
        </p:txBody>
      </p:sp>
      <p:sp>
        <p:nvSpPr>
          <p:cNvPr id="17447" name="Rounded Rectangle 17446"/>
          <p:cNvSpPr/>
          <p:nvPr/>
        </p:nvSpPr>
        <p:spPr>
          <a:xfrm>
            <a:off x="4315968" y="4443984"/>
            <a:ext cx="2039112" cy="1737360"/>
          </a:xfrm>
          <a:prstGeom prst="roundRect">
            <a:avLst>
              <a:gd name="adj" fmla="val 6315"/>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8" name="TextBox 17447"/>
          <p:cNvSpPr txBox="1"/>
          <p:nvPr/>
        </p:nvSpPr>
        <p:spPr>
          <a:xfrm>
            <a:off x="4389120" y="4480560"/>
            <a:ext cx="1892807" cy="274320"/>
          </a:xfrm>
          <a:prstGeom prst="rect">
            <a:avLst/>
          </a:prstGeom>
          <a:noFill/>
        </p:spPr>
        <p:txBody>
          <a:bodyPr wrap="square" lIns="45720" rIns="45720" tIns="18288" bIns="18288" anchor="ctr"/>
          <a:lstStyle/>
          <a:p>
            <a:pPr algn="l"/>
            <a:r>
              <a:rPr sz="1200" b="1" i="0">
                <a:solidFill>
                  <a:srgbClr val="1E7B3E"/>
                </a:solidFill>
                <a:latin typeface="Arial"/>
              </a:rPr>
              <a:t>With Vidya Pramaan</a:t>
            </a:r>
          </a:p>
        </p:txBody>
      </p:sp>
      <p:sp>
        <p:nvSpPr>
          <p:cNvPr id="17449" name="TextBox 17448"/>
          <p:cNvSpPr txBox="1"/>
          <p:nvPr/>
        </p:nvSpPr>
        <p:spPr>
          <a:xfrm>
            <a:off x="4389120" y="4736592"/>
            <a:ext cx="1892807" cy="1426464"/>
          </a:xfrm>
          <a:prstGeom prst="rect">
            <a:avLst/>
          </a:prstGeom>
          <a:noFill/>
        </p:spPr>
        <p:txBody>
          <a:bodyPr wrap="square" lIns="45720" rIns="45720" tIns="18288" bIns="18288" anchor="t"/>
          <a:lstStyle/>
          <a:p>
            <a:pPr algn="l">
              <a:spcAft>
                <a:spcPts val="400"/>
              </a:spcAft>
            </a:pPr>
            <a:r>
              <a:rPr sz="1100" b="1" i="0">
                <a:solidFill>
                  <a:srgbClr val="1E7B3E"/>
                </a:solidFill>
                <a:latin typeface="Arial"/>
              </a:rPr>
              <a:t>✔ </a:t>
            </a:r>
            <a:r>
              <a:rPr sz="1100" b="0" i="0">
                <a:solidFill>
                  <a:srgbClr val="1A1A1A"/>
                </a:solidFill>
                <a:latin typeface="Arial"/>
              </a:rPr>
              <a:t>Seat #61 of 60 refused at upload</a:t>
            </a:r>
          </a:p>
          <a:p>
            <a:pPr algn="l">
              <a:spcAft>
                <a:spcPts val="400"/>
              </a:spcAft>
            </a:pPr>
            <a:r>
              <a:rPr sz="1100" b="1" i="0">
                <a:solidFill>
                  <a:srgbClr val="1E7B3E"/>
                </a:solidFill>
                <a:latin typeface="Arial"/>
              </a:rPr>
              <a:t>✔ </a:t>
            </a:r>
            <a:r>
              <a:rPr sz="1100" b="0" i="0">
                <a:solidFill>
                  <a:srgbClr val="1A1A1A"/>
                </a:solidFill>
                <a:latin typeface="Arial"/>
              </a:rPr>
              <a:t>National view after each submission</a:t>
            </a:r>
          </a:p>
          <a:p>
            <a:pPr algn="l">
              <a:spcAft>
                <a:spcPts val="400"/>
              </a:spcAft>
            </a:pPr>
            <a:r>
              <a:rPr sz="1100" b="1" i="0">
                <a:solidFill>
                  <a:srgbClr val="1E7B3E"/>
                </a:solidFill>
                <a:latin typeface="Arial"/>
              </a:rPr>
              <a:t>✔ </a:t>
            </a:r>
            <a:r>
              <a:rPr sz="1100" b="0" i="0">
                <a:solidFill>
                  <a:srgbClr val="1A1A1A"/>
                </a:solidFill>
                <a:latin typeface="Arial"/>
              </a:rPr>
              <a:t>Mismatch returned with its reason</a:t>
            </a:r>
          </a:p>
        </p:txBody>
      </p:sp>
      <p:sp>
        <p:nvSpPr>
          <p:cNvPr id="17450" name="Rounded Rectangle 17449"/>
          <p:cNvSpPr/>
          <p:nvPr/>
        </p:nvSpPr>
        <p:spPr>
          <a:xfrm>
            <a:off x="6583680" y="1097280"/>
            <a:ext cx="528523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Benefits of the solution (social, economic, environmental, etc.)</a:t>
            </a:r>
          </a:p>
        </p:txBody>
      </p:sp>
      <p:sp>
        <p:nvSpPr>
          <p:cNvPr id="17451" name="Rounded Rectangle 17450"/>
          <p:cNvSpPr/>
          <p:nvPr/>
        </p:nvSpPr>
        <p:spPr>
          <a:xfrm>
            <a:off x="658368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6693408" y="1572768"/>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HeartHandshake_white.png"/>
          <p:cNvPicPr>
            <a:picLocks noChangeAspect="1"/>
          </p:cNvPicPr>
          <p:nvPr/>
        </p:nvPicPr>
        <p:blipFill>
          <a:blip r:embed="rId10"/>
          <a:stretch>
            <a:fillRect/>
          </a:stretch>
        </p:blipFill>
        <p:spPr>
          <a:xfrm>
            <a:off x="6793992" y="1673352"/>
            <a:ext cx="256032" cy="256032"/>
          </a:xfrm>
          <a:prstGeom prst="rect">
            <a:avLst/>
          </a:prstGeom>
        </p:spPr>
      </p:pic>
      <p:sp>
        <p:nvSpPr>
          <p:cNvPr id="17454" name="TextBox 17453"/>
          <p:cNvSpPr txBox="1"/>
          <p:nvPr/>
        </p:nvSpPr>
        <p:spPr>
          <a:xfrm>
            <a:off x="724204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Social</a:t>
            </a:r>
          </a:p>
        </p:txBody>
      </p:sp>
      <p:sp>
        <p:nvSpPr>
          <p:cNvPr id="17455" name="TextBox 17454"/>
          <p:cNvSpPr txBox="1"/>
          <p:nvPr/>
        </p:nvSpPr>
        <p:spPr>
          <a:xfrm>
            <a:off x="6693408" y="2084832"/>
            <a:ext cx="2404872" cy="548640"/>
          </a:xfrm>
          <a:prstGeom prst="rect">
            <a:avLst/>
          </a:prstGeom>
          <a:noFill/>
        </p:spPr>
        <p:txBody>
          <a:bodyPr wrap="square" lIns="45720" rIns="45720" tIns="18288" bIns="18288" anchor="t"/>
          <a:lstStyle/>
          <a:p>
            <a:pPr algn="l"/>
            <a:r>
              <a:rPr sz="1200" b="0" i="0">
                <a:solidFill>
                  <a:srgbClr val="1A1A1A"/>
                </a:solidFill>
                <a:latin typeface="Arial"/>
              </a:rPr>
              <a:t>APAAR opt-outs never
refused (SC, 2026)</a:t>
            </a:r>
          </a:p>
        </p:txBody>
      </p:sp>
      <p:sp>
        <p:nvSpPr>
          <p:cNvPr id="17456" name="Rounded Rectangle 17455"/>
          <p:cNvSpPr/>
          <p:nvPr/>
        </p:nvSpPr>
        <p:spPr>
          <a:xfrm>
            <a:off x="928116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Oval 17456"/>
          <p:cNvSpPr/>
          <p:nvPr/>
        </p:nvSpPr>
        <p:spPr>
          <a:xfrm>
            <a:off x="9390888" y="1572768"/>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8" name="Picture 17457" descr="LuIndianRupee_white.png"/>
          <p:cNvPicPr>
            <a:picLocks noChangeAspect="1"/>
          </p:cNvPicPr>
          <p:nvPr/>
        </p:nvPicPr>
        <p:blipFill>
          <a:blip r:embed="rId11"/>
          <a:stretch>
            <a:fillRect/>
          </a:stretch>
        </p:blipFill>
        <p:spPr>
          <a:xfrm>
            <a:off x="9491472" y="1673352"/>
            <a:ext cx="256032" cy="256032"/>
          </a:xfrm>
          <a:prstGeom prst="rect">
            <a:avLst/>
          </a:prstGeom>
        </p:spPr>
      </p:pic>
      <p:sp>
        <p:nvSpPr>
          <p:cNvPr id="17459" name="TextBox 17458"/>
          <p:cNvSpPr txBox="1"/>
          <p:nvPr/>
        </p:nvSpPr>
        <p:spPr>
          <a:xfrm>
            <a:off x="993952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Economic</a:t>
            </a:r>
          </a:p>
        </p:txBody>
      </p:sp>
      <p:sp>
        <p:nvSpPr>
          <p:cNvPr id="17460" name="TextBox 17459"/>
          <p:cNvSpPr txBox="1"/>
          <p:nvPr/>
        </p:nvSpPr>
        <p:spPr>
          <a:xfrm>
            <a:off x="9390888" y="2084832"/>
            <a:ext cx="2404872" cy="548640"/>
          </a:xfrm>
          <a:prstGeom prst="rect">
            <a:avLst/>
          </a:prstGeom>
          <a:noFill/>
        </p:spPr>
        <p:txBody>
          <a:bodyPr wrap="square" lIns="45720" rIns="45720" tIns="18288" bIns="18288" anchor="t"/>
          <a:lstStyle/>
          <a:p>
            <a:pPr algn="l"/>
            <a:r>
              <a:rPr sz="1200" b="0" i="0">
                <a:solidFill>
                  <a:srgbClr val="1A1A1A"/>
                </a:solidFill>
                <a:latin typeface="Arial"/>
              </a:rPr>
              <a:t>no licence fees; one upload
serves AICTE + university</a:t>
            </a:r>
          </a:p>
        </p:txBody>
      </p:sp>
      <p:sp>
        <p:nvSpPr>
          <p:cNvPr id="17461" name="Rounded Rectangle 17460"/>
          <p:cNvSpPr/>
          <p:nvPr/>
        </p:nvSpPr>
        <p:spPr>
          <a:xfrm>
            <a:off x="658368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2" name="Oval 17461"/>
          <p:cNvSpPr/>
          <p:nvPr/>
        </p:nvSpPr>
        <p:spPr>
          <a:xfrm>
            <a:off x="6693408" y="2834640"/>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3" name="Picture 17462" descr="LuLeaf_white.png"/>
          <p:cNvPicPr>
            <a:picLocks noChangeAspect="1"/>
          </p:cNvPicPr>
          <p:nvPr/>
        </p:nvPicPr>
        <p:blipFill>
          <a:blip r:embed="rId12"/>
          <a:stretch>
            <a:fillRect/>
          </a:stretch>
        </p:blipFill>
        <p:spPr>
          <a:xfrm>
            <a:off x="6793992" y="2935224"/>
            <a:ext cx="256032" cy="256032"/>
          </a:xfrm>
          <a:prstGeom prst="rect">
            <a:avLst/>
          </a:prstGeom>
        </p:spPr>
      </p:pic>
      <p:sp>
        <p:nvSpPr>
          <p:cNvPr id="17464" name="TextBox 17463"/>
          <p:cNvSpPr txBox="1"/>
          <p:nvPr/>
        </p:nvSpPr>
        <p:spPr>
          <a:xfrm>
            <a:off x="724204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Environmental</a:t>
            </a:r>
          </a:p>
        </p:txBody>
      </p:sp>
      <p:sp>
        <p:nvSpPr>
          <p:cNvPr id="17465" name="TextBox 17464"/>
          <p:cNvSpPr txBox="1"/>
          <p:nvPr/>
        </p:nvSpPr>
        <p:spPr>
          <a:xfrm>
            <a:off x="6693408" y="3346704"/>
            <a:ext cx="2404872" cy="548640"/>
          </a:xfrm>
          <a:prstGeom prst="rect">
            <a:avLst/>
          </a:prstGeom>
          <a:noFill/>
        </p:spPr>
        <p:txBody>
          <a:bodyPr wrap="square" lIns="45720" rIns="45720" tIns="18288" bIns="18288" anchor="t"/>
          <a:lstStyle/>
          <a:p>
            <a:pPr algn="l"/>
            <a:r>
              <a:rPr sz="1200" b="0" i="0">
                <a:solidFill>
                  <a:srgbClr val="1A1A1A"/>
                </a:solidFill>
                <a:latin typeface="Arial"/>
              </a:rPr>
              <a:t>fewer paper returns
and letters</a:t>
            </a:r>
          </a:p>
        </p:txBody>
      </p:sp>
      <p:sp>
        <p:nvSpPr>
          <p:cNvPr id="17466" name="Rounded Rectangle 17465"/>
          <p:cNvSpPr/>
          <p:nvPr/>
        </p:nvSpPr>
        <p:spPr>
          <a:xfrm>
            <a:off x="928116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7" name="Oval 17466"/>
          <p:cNvSpPr/>
          <p:nvPr/>
        </p:nvSpPr>
        <p:spPr>
          <a:xfrm>
            <a:off x="9390888" y="2834640"/>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8" name="Picture 17467" descr="LuLandmark_white.png"/>
          <p:cNvPicPr>
            <a:picLocks noChangeAspect="1"/>
          </p:cNvPicPr>
          <p:nvPr/>
        </p:nvPicPr>
        <p:blipFill>
          <a:blip r:embed="rId5"/>
          <a:stretch>
            <a:fillRect/>
          </a:stretch>
        </p:blipFill>
        <p:spPr>
          <a:xfrm>
            <a:off x="9491472" y="2935224"/>
            <a:ext cx="256032" cy="256032"/>
          </a:xfrm>
          <a:prstGeom prst="rect">
            <a:avLst/>
          </a:prstGeom>
        </p:spPr>
      </p:pic>
      <p:sp>
        <p:nvSpPr>
          <p:cNvPr id="17469" name="TextBox 17468"/>
          <p:cNvSpPr txBox="1"/>
          <p:nvPr/>
        </p:nvSpPr>
        <p:spPr>
          <a:xfrm>
            <a:off x="993952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Governance</a:t>
            </a:r>
          </a:p>
        </p:txBody>
      </p:sp>
      <p:sp>
        <p:nvSpPr>
          <p:cNvPr id="17470" name="TextBox 17469"/>
          <p:cNvSpPr txBox="1"/>
          <p:nvPr/>
        </p:nvSpPr>
        <p:spPr>
          <a:xfrm>
            <a:off x="9390888" y="3346704"/>
            <a:ext cx="2404872" cy="548640"/>
          </a:xfrm>
          <a:prstGeom prst="rect">
            <a:avLst/>
          </a:prstGeom>
          <a:noFill/>
        </p:spPr>
        <p:txBody>
          <a:bodyPr wrap="square" lIns="45720" rIns="45720" tIns="18288" bIns="18288" anchor="t"/>
          <a:lstStyle/>
          <a:p>
            <a:pPr algn="l"/>
            <a:r>
              <a:rPr sz="1200" b="0" i="0">
                <a:solidFill>
                  <a:srgbClr val="1A1A1A"/>
                </a:solidFill>
                <a:latin typeface="Arial"/>
              </a:rPr>
              <a:t>audited evidence
pack for show-cause</a:t>
            </a:r>
          </a:p>
        </p:txBody>
      </p:sp>
      <p:sp>
        <p:nvSpPr>
          <p:cNvPr id="17471" name="TextBox 17470"/>
          <p:cNvSpPr txBox="1"/>
          <p:nvPr/>
        </p:nvSpPr>
        <p:spPr>
          <a:xfrm>
            <a:off x="6583680" y="3931920"/>
            <a:ext cx="5285232" cy="237744"/>
          </a:xfrm>
          <a:prstGeom prst="rect">
            <a:avLst/>
          </a:prstGeom>
          <a:noFill/>
        </p:spPr>
        <p:txBody>
          <a:bodyPr wrap="square" lIns="45720" rIns="45720" tIns="18288" bIns="18288" anchor="ctr"/>
          <a:lstStyle/>
          <a:p>
            <a:pPr algn="ctr"/>
            <a:r>
              <a:rPr sz="1100" b="0" i="0">
                <a:solidFill>
                  <a:srgbClr val="595959"/>
                </a:solidFill>
                <a:latin typeface="Arial"/>
              </a:rPr>
              <a:t>Expected benefits; the pilot measures them.</a:t>
            </a:r>
          </a:p>
        </p:txBody>
      </p:sp>
      <p:sp>
        <p:nvSpPr>
          <p:cNvPr id="17472" name="Rounded Rectangle 17471"/>
          <p:cNvSpPr/>
          <p:nvPr/>
        </p:nvSpPr>
        <p:spPr>
          <a:xfrm>
            <a:off x="6601968" y="4306824"/>
            <a:ext cx="2340864" cy="1671227"/>
          </a:xfrm>
          <a:prstGeom prst="roundRect">
            <a:avLst>
              <a:gd name="adj" fmla="val 218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3" name="Picture 17472" descr="25_certificate.png"/>
          <p:cNvPicPr>
            <a:picLocks noChangeAspect="1"/>
          </p:cNvPicPr>
          <p:nvPr/>
        </p:nvPicPr>
        <p:blipFill>
          <a:blip r:embed="rId13"/>
          <a:srcRect/>
          <a:stretch>
            <a:fillRect/>
          </a:stretch>
        </p:blipFill>
        <p:spPr>
          <a:xfrm>
            <a:off x="6629400" y="4334256"/>
            <a:ext cx="2286000" cy="1616363"/>
          </a:xfrm>
          <a:prstGeom prst="rect">
            <a:avLst/>
          </a:prstGeom>
        </p:spPr>
      </p:pic>
      <p:sp>
        <p:nvSpPr>
          <p:cNvPr id="17474" name="Rounded Rectangle 17473"/>
          <p:cNvSpPr/>
          <p:nvPr/>
        </p:nvSpPr>
        <p:spPr>
          <a:xfrm>
            <a:off x="9235440" y="4306824"/>
            <a:ext cx="2633472" cy="1313949"/>
          </a:xfrm>
          <a:prstGeom prst="roundRect">
            <a:avLst>
              <a:gd name="adj" fmla="val 278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5" name="Picture 17474" descr="23_public_qr_verified.png"/>
          <p:cNvPicPr>
            <a:picLocks noChangeAspect="1"/>
          </p:cNvPicPr>
          <p:nvPr/>
        </p:nvPicPr>
        <p:blipFill>
          <a:blip r:embed="rId14"/>
          <a:srcRect l="17000" t="46000" r="51000" b="29000"/>
          <a:stretch>
            <a:fillRect/>
          </a:stretch>
        </p:blipFill>
        <p:spPr>
          <a:xfrm>
            <a:off x="9262872" y="4334256"/>
            <a:ext cx="2578608" cy="1259085"/>
          </a:xfrm>
          <a:prstGeom prst="rect">
            <a:avLst/>
          </a:prstGeom>
        </p:spPr>
      </p:pic>
      <p:sp>
        <p:nvSpPr>
          <p:cNvPr id="17476" name="TextBox 17475"/>
          <p:cNvSpPr txBox="1"/>
          <p:nvPr/>
        </p:nvSpPr>
        <p:spPr>
          <a:xfrm>
            <a:off x="6583680" y="5996339"/>
            <a:ext cx="2468880" cy="237744"/>
          </a:xfrm>
          <a:prstGeom prst="rect">
            <a:avLst/>
          </a:prstGeom>
          <a:noFill/>
        </p:spPr>
        <p:txBody>
          <a:bodyPr wrap="square" lIns="45720" rIns="45720" tIns="18288" bIns="18288" anchor="ctr"/>
          <a:lstStyle/>
          <a:p>
            <a:pPr algn="ctr"/>
            <a:r>
              <a:rPr sz="1050" b="0" i="0">
                <a:solidFill>
                  <a:srgbClr val="595959"/>
                </a:solidFill>
                <a:latin typeface="Arial"/>
              </a:rPr>
              <a:t>Certificate: APAAR ID + student ID + QR</a:t>
            </a:r>
          </a:p>
        </p:txBody>
      </p:sp>
      <p:sp>
        <p:nvSpPr>
          <p:cNvPr id="17477" name="TextBox 17476"/>
          <p:cNvSpPr txBox="1"/>
          <p:nvPr/>
        </p:nvSpPr>
        <p:spPr>
          <a:xfrm>
            <a:off x="9235440" y="5639061"/>
            <a:ext cx="2633472" cy="237744"/>
          </a:xfrm>
          <a:prstGeom prst="rect">
            <a:avLst/>
          </a:prstGeom>
          <a:noFill/>
        </p:spPr>
        <p:txBody>
          <a:bodyPr wrap="square" lIns="45720" rIns="45720" tIns="18288" bIns="18288" anchor="ctr"/>
          <a:lstStyle/>
          <a:p>
            <a:pPr algn="ctr"/>
            <a:r>
              <a:rPr sz="1050" b="0" i="0">
                <a:solidFill>
                  <a:srgbClr val="595959"/>
                </a:solidFill>
                <a:latin typeface="Arial"/>
              </a:rPr>
              <a:t>QR: on-device check + revocation list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Details / Links of the reference and research work</a:t>
            </a:r>
          </a:p>
        </p:txBody>
      </p:sp>
      <p:sp>
        <p:nvSpPr>
          <p:cNvPr id="17411" name="TextBox 17410"/>
          <p:cNvSpPr txBox="1"/>
          <p:nvPr/>
        </p:nvSpPr>
        <p:spPr>
          <a:xfrm>
            <a:off x="320040" y="1463040"/>
            <a:ext cx="6400800" cy="274320"/>
          </a:xfrm>
          <a:prstGeom prst="rect">
            <a:avLst/>
          </a:prstGeom>
          <a:noFill/>
        </p:spPr>
        <p:txBody>
          <a:bodyPr wrap="square" lIns="45720" rIns="45720" tIns="18288" bIns="18288" anchor="ctr"/>
          <a:lstStyle/>
          <a:p>
            <a:pPr algn="l"/>
            <a:r>
              <a:rPr sz="1300" b="1" i="0">
                <a:solidFill>
                  <a:srgbClr val="1F3864"/>
                </a:solidFill>
                <a:latin typeface="Arial"/>
              </a:rPr>
              <a:t>Why not just use the systems that exist?</a:t>
            </a:r>
          </a:p>
        </p:txBody>
      </p:sp>
      <p:sp>
        <p:nvSpPr>
          <p:cNvPr id="17412" name="Rounded Rectangle 17411"/>
          <p:cNvSpPr/>
          <p:nvPr/>
        </p:nvSpPr>
        <p:spPr>
          <a:xfrm>
            <a:off x="2852928" y="1783080"/>
            <a:ext cx="932688"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NAD / DigiLocker</a:t>
            </a:r>
          </a:p>
        </p:txBody>
      </p:sp>
      <p:sp>
        <p:nvSpPr>
          <p:cNvPr id="17413" name="Rounded Rectangle 17412"/>
          <p:cNvSpPr/>
          <p:nvPr/>
        </p:nvSpPr>
        <p:spPr>
          <a:xfrm>
            <a:off x="3822191" y="1783080"/>
            <a:ext cx="738835"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ABC</a:t>
            </a:r>
          </a:p>
        </p:txBody>
      </p:sp>
      <p:sp>
        <p:nvSpPr>
          <p:cNvPr id="17414" name="Rounded Rectangle 17413"/>
          <p:cNvSpPr/>
          <p:nvPr/>
        </p:nvSpPr>
        <p:spPr>
          <a:xfrm>
            <a:off x="4597603" y="1783080"/>
            <a:ext cx="1126540"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AISHE</a:t>
            </a:r>
          </a:p>
        </p:txBody>
      </p:sp>
      <p:sp>
        <p:nvSpPr>
          <p:cNvPr id="17415" name="Rounded Rectangle 17414"/>
          <p:cNvSpPr/>
          <p:nvPr/>
        </p:nvSpPr>
        <p:spPr>
          <a:xfrm>
            <a:off x="5760720" y="1783080"/>
            <a:ext cx="981151" cy="347472"/>
          </a:xfrm>
          <a:prstGeom prst="roundRect">
            <a:avLst>
              <a:gd name="adj" fmla="val 13157"/>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Vidya Pramaan</a:t>
            </a:r>
          </a:p>
        </p:txBody>
      </p:sp>
      <p:sp>
        <p:nvSpPr>
          <p:cNvPr id="17416" name="Rounded Rectangle 17415"/>
          <p:cNvSpPr/>
          <p:nvPr/>
        </p:nvSpPr>
        <p:spPr>
          <a:xfrm>
            <a:off x="320040" y="2185416"/>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365759" y="2185416"/>
            <a:ext cx="2423160" cy="402336"/>
          </a:xfrm>
          <a:prstGeom prst="rect">
            <a:avLst/>
          </a:prstGeom>
          <a:noFill/>
        </p:spPr>
        <p:txBody>
          <a:bodyPr wrap="square" lIns="45720" rIns="45720" tIns="18288" bIns="18288" anchor="ctr"/>
          <a:lstStyle/>
          <a:p>
            <a:pPr algn="l"/>
            <a:r>
              <a:rPr sz="1050" b="0" i="0">
                <a:solidFill>
                  <a:srgbClr val="1A1A1A"/>
                </a:solidFill>
                <a:latin typeface="Arial"/>
              </a:rPr>
              <a:t>Student-level admissions vs approved intake</a:t>
            </a:r>
          </a:p>
        </p:txBody>
      </p:sp>
      <p:sp>
        <p:nvSpPr>
          <p:cNvPr id="17418" name="TextBox 17417"/>
          <p:cNvSpPr txBox="1"/>
          <p:nvPr/>
        </p:nvSpPr>
        <p:spPr>
          <a:xfrm>
            <a:off x="2834640" y="2185416"/>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19" name="TextBox 17418"/>
          <p:cNvSpPr txBox="1"/>
          <p:nvPr/>
        </p:nvSpPr>
        <p:spPr>
          <a:xfrm>
            <a:off x="3803904" y="2185416"/>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0" name="TextBox 17419"/>
          <p:cNvSpPr txBox="1"/>
          <p:nvPr/>
        </p:nvSpPr>
        <p:spPr>
          <a:xfrm>
            <a:off x="4579315" y="2185416"/>
            <a:ext cx="1163116" cy="402336"/>
          </a:xfrm>
          <a:prstGeom prst="rect">
            <a:avLst/>
          </a:prstGeom>
          <a:noFill/>
        </p:spPr>
        <p:txBody>
          <a:bodyPr wrap="square" lIns="45720" rIns="45720" tIns="18288" bIns="18288" anchor="ctr"/>
          <a:lstStyle/>
          <a:p>
            <a:pPr algn="ctr"/>
            <a:r>
              <a:rPr sz="950" b="0" i="0">
                <a:solidFill>
                  <a:srgbClr val="595959"/>
                </a:solidFill>
                <a:latin typeface="Arial"/>
              </a:rPr>
              <a:t>totals, 2–3 yrs late</a:t>
            </a:r>
          </a:p>
        </p:txBody>
      </p:sp>
      <p:sp>
        <p:nvSpPr>
          <p:cNvPr id="17421" name="TextBox 17420"/>
          <p:cNvSpPr txBox="1"/>
          <p:nvPr/>
        </p:nvSpPr>
        <p:spPr>
          <a:xfrm>
            <a:off x="5742432" y="2185416"/>
            <a:ext cx="1017727" cy="402336"/>
          </a:xfrm>
          <a:prstGeom prst="rect">
            <a:avLst/>
          </a:prstGeom>
          <a:noFill/>
        </p:spPr>
        <p:txBody>
          <a:bodyPr wrap="square" lIns="45720" rIns="45720" tIns="18288" bIns="18288" anchor="ctr"/>
          <a:lstStyle/>
          <a:p>
            <a:pPr algn="ctr"/>
            <a:r>
              <a:rPr sz="950" b="1" i="0">
                <a:solidFill>
                  <a:srgbClr val="1E7B3E"/>
                </a:solidFill>
                <a:latin typeface="Arial"/>
              </a:rPr>
              <a:t>✔ per upload</a:t>
            </a:r>
          </a:p>
        </p:txBody>
      </p:sp>
      <p:sp>
        <p:nvSpPr>
          <p:cNvPr id="17422" name="Rounded Rectangle 17421"/>
          <p:cNvSpPr/>
          <p:nvPr/>
        </p:nvSpPr>
        <p:spPr>
          <a:xfrm>
            <a:off x="320040" y="2615184"/>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365759" y="2615184"/>
            <a:ext cx="2423160" cy="402336"/>
          </a:xfrm>
          <a:prstGeom prst="rect">
            <a:avLst/>
          </a:prstGeom>
          <a:noFill/>
        </p:spPr>
        <p:txBody>
          <a:bodyPr wrap="square" lIns="45720" rIns="45720" tIns="18288" bIns="18288" anchor="ctr"/>
          <a:lstStyle/>
          <a:p>
            <a:pPr algn="l"/>
            <a:r>
              <a:rPr sz="1050" b="0" i="0">
                <a:solidFill>
                  <a:srgbClr val="1A1A1A"/>
                </a:solidFill>
                <a:latin typeface="Arial"/>
              </a:rPr>
              <a:t>Same student at two colleges; ghost admissions</a:t>
            </a:r>
          </a:p>
        </p:txBody>
      </p:sp>
      <p:sp>
        <p:nvSpPr>
          <p:cNvPr id="17424" name="TextBox 17423"/>
          <p:cNvSpPr txBox="1"/>
          <p:nvPr/>
        </p:nvSpPr>
        <p:spPr>
          <a:xfrm>
            <a:off x="2834640" y="2615184"/>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5" name="TextBox 17424"/>
          <p:cNvSpPr txBox="1"/>
          <p:nvPr/>
        </p:nvSpPr>
        <p:spPr>
          <a:xfrm>
            <a:off x="3803904" y="2615184"/>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6" name="TextBox 17425"/>
          <p:cNvSpPr txBox="1"/>
          <p:nvPr/>
        </p:nvSpPr>
        <p:spPr>
          <a:xfrm>
            <a:off x="4579315" y="2615184"/>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7" name="TextBox 17426"/>
          <p:cNvSpPr txBox="1"/>
          <p:nvPr/>
        </p:nvSpPr>
        <p:spPr>
          <a:xfrm>
            <a:off x="5742432" y="2615184"/>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28" name="Rounded Rectangle 17427"/>
          <p:cNvSpPr/>
          <p:nvPr/>
        </p:nvSpPr>
        <p:spPr>
          <a:xfrm>
            <a:off x="320040" y="3044952"/>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9" name="TextBox 17428"/>
          <p:cNvSpPr txBox="1"/>
          <p:nvPr/>
        </p:nvSpPr>
        <p:spPr>
          <a:xfrm>
            <a:off x="365759" y="3044952"/>
            <a:ext cx="2423160" cy="402336"/>
          </a:xfrm>
          <a:prstGeom prst="rect">
            <a:avLst/>
          </a:prstGeom>
          <a:noFill/>
        </p:spPr>
        <p:txBody>
          <a:bodyPr wrap="square" lIns="45720" rIns="45720" tIns="18288" bIns="18288" anchor="ctr"/>
          <a:lstStyle/>
          <a:p>
            <a:pPr algn="l"/>
            <a:r>
              <a:rPr sz="1050" b="0" i="0">
                <a:solidFill>
                  <a:srgbClr val="1A1A1A"/>
                </a:solidFill>
                <a:latin typeface="Arial"/>
              </a:rPr>
              <a:t>Supernumerary caps by programme and year</a:t>
            </a:r>
          </a:p>
        </p:txBody>
      </p:sp>
      <p:sp>
        <p:nvSpPr>
          <p:cNvPr id="17430" name="TextBox 17429"/>
          <p:cNvSpPr txBox="1"/>
          <p:nvPr/>
        </p:nvSpPr>
        <p:spPr>
          <a:xfrm>
            <a:off x="2834640" y="3044952"/>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1" name="TextBox 17430"/>
          <p:cNvSpPr txBox="1"/>
          <p:nvPr/>
        </p:nvSpPr>
        <p:spPr>
          <a:xfrm>
            <a:off x="3803904" y="3044952"/>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2" name="TextBox 17431"/>
          <p:cNvSpPr txBox="1"/>
          <p:nvPr/>
        </p:nvSpPr>
        <p:spPr>
          <a:xfrm>
            <a:off x="4579315" y="3044952"/>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3" name="TextBox 17432"/>
          <p:cNvSpPr txBox="1"/>
          <p:nvPr/>
        </p:nvSpPr>
        <p:spPr>
          <a:xfrm>
            <a:off x="5742432" y="3044952"/>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4" name="Rounded Rectangle 17433"/>
          <p:cNvSpPr/>
          <p:nvPr/>
        </p:nvSpPr>
        <p:spPr>
          <a:xfrm>
            <a:off x="320040" y="3474720"/>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TextBox 17434"/>
          <p:cNvSpPr txBox="1"/>
          <p:nvPr/>
        </p:nvSpPr>
        <p:spPr>
          <a:xfrm>
            <a:off x="365759" y="3474720"/>
            <a:ext cx="2423160" cy="402336"/>
          </a:xfrm>
          <a:prstGeom prst="rect">
            <a:avLst/>
          </a:prstGeom>
          <a:noFill/>
        </p:spPr>
        <p:txBody>
          <a:bodyPr wrap="square" lIns="45720" rIns="45720" tIns="18288" bIns="18288" anchor="ctr"/>
          <a:lstStyle/>
          <a:p>
            <a:pPr algn="l"/>
            <a:r>
              <a:rPr sz="1050" b="0" i="0">
                <a:solidFill>
                  <a:srgbClr val="1A1A1A"/>
                </a:solidFill>
                <a:latin typeface="Arial"/>
              </a:rPr>
              <a:t>Consent-based verification for employers</a:t>
            </a:r>
          </a:p>
        </p:txBody>
      </p:sp>
      <p:sp>
        <p:nvSpPr>
          <p:cNvPr id="17436" name="TextBox 17435"/>
          <p:cNvSpPr txBox="1"/>
          <p:nvPr/>
        </p:nvSpPr>
        <p:spPr>
          <a:xfrm>
            <a:off x="2834640" y="3474720"/>
            <a:ext cx="969264"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7" name="TextBox 17436"/>
          <p:cNvSpPr txBox="1"/>
          <p:nvPr/>
        </p:nvSpPr>
        <p:spPr>
          <a:xfrm>
            <a:off x="3803904" y="3474720"/>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8" name="TextBox 17437"/>
          <p:cNvSpPr txBox="1"/>
          <p:nvPr/>
        </p:nvSpPr>
        <p:spPr>
          <a:xfrm>
            <a:off x="4579315" y="3474720"/>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9" name="TextBox 17438"/>
          <p:cNvSpPr txBox="1"/>
          <p:nvPr/>
        </p:nvSpPr>
        <p:spPr>
          <a:xfrm>
            <a:off x="5742432" y="3474720"/>
            <a:ext cx="1017727" cy="402336"/>
          </a:xfrm>
          <a:prstGeom prst="rect">
            <a:avLst/>
          </a:prstGeom>
          <a:noFill/>
        </p:spPr>
        <p:txBody>
          <a:bodyPr wrap="square" lIns="45720" rIns="45720" tIns="18288" bIns="18288" anchor="ctr"/>
          <a:lstStyle/>
          <a:p>
            <a:pPr algn="ctr"/>
            <a:r>
              <a:rPr sz="950" b="1" i="0">
                <a:solidFill>
                  <a:srgbClr val="1E7B3E"/>
                </a:solidFill>
                <a:latin typeface="Arial"/>
              </a:rPr>
              <a:t>✔ field-level</a:t>
            </a:r>
          </a:p>
        </p:txBody>
      </p:sp>
      <p:sp>
        <p:nvSpPr>
          <p:cNvPr id="17440" name="Rounded Rectangle 17439"/>
          <p:cNvSpPr/>
          <p:nvPr/>
        </p:nvSpPr>
        <p:spPr>
          <a:xfrm>
            <a:off x="320040" y="3904487"/>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1" name="TextBox 17440"/>
          <p:cNvSpPr txBox="1"/>
          <p:nvPr/>
        </p:nvSpPr>
        <p:spPr>
          <a:xfrm>
            <a:off x="365759" y="3904487"/>
            <a:ext cx="2423160" cy="402336"/>
          </a:xfrm>
          <a:prstGeom prst="rect">
            <a:avLst/>
          </a:prstGeom>
          <a:noFill/>
        </p:spPr>
        <p:txBody>
          <a:bodyPr wrap="square" lIns="45720" rIns="45720" tIns="18288" bIns="18288" anchor="ctr"/>
          <a:lstStyle/>
          <a:p>
            <a:pPr algn="l"/>
            <a:r>
              <a:rPr sz="1050" b="0" i="0">
                <a:solidFill>
                  <a:srgbClr val="1A1A1A"/>
                </a:solidFill>
                <a:latin typeface="Arial"/>
              </a:rPr>
              <a:t>APAAR + student ID feed for degree printing</a:t>
            </a:r>
          </a:p>
        </p:txBody>
      </p:sp>
      <p:sp>
        <p:nvSpPr>
          <p:cNvPr id="17442" name="TextBox 17441"/>
          <p:cNvSpPr txBox="1"/>
          <p:nvPr/>
        </p:nvSpPr>
        <p:spPr>
          <a:xfrm>
            <a:off x="2834640" y="3904487"/>
            <a:ext cx="969264" cy="402336"/>
          </a:xfrm>
          <a:prstGeom prst="rect">
            <a:avLst/>
          </a:prstGeom>
          <a:noFill/>
        </p:spPr>
        <p:txBody>
          <a:bodyPr wrap="square" lIns="45720" rIns="45720" tIns="18288" bIns="18288" anchor="ctr"/>
          <a:lstStyle/>
          <a:p>
            <a:pPr algn="ctr"/>
            <a:r>
              <a:rPr sz="950" b="0" i="0">
                <a:solidFill>
                  <a:srgbClr val="595959"/>
                </a:solidFill>
                <a:latin typeface="Arial"/>
              </a:rPr>
              <a:t>issuer uploads</a:t>
            </a:r>
          </a:p>
        </p:txBody>
      </p:sp>
      <p:sp>
        <p:nvSpPr>
          <p:cNvPr id="17443" name="TextBox 17442"/>
          <p:cNvSpPr txBox="1"/>
          <p:nvPr/>
        </p:nvSpPr>
        <p:spPr>
          <a:xfrm>
            <a:off x="3803904" y="3904487"/>
            <a:ext cx="775411" cy="402336"/>
          </a:xfrm>
          <a:prstGeom prst="rect">
            <a:avLst/>
          </a:prstGeom>
          <a:noFill/>
        </p:spPr>
        <p:txBody>
          <a:bodyPr wrap="square" lIns="45720" rIns="45720" tIns="18288" bIns="18288" anchor="ctr"/>
          <a:lstStyle/>
          <a:p>
            <a:pPr algn="ctr"/>
            <a:r>
              <a:rPr sz="950" b="0" i="0">
                <a:solidFill>
                  <a:srgbClr val="595959"/>
                </a:solidFill>
                <a:latin typeface="Arial"/>
              </a:rPr>
              <a:t>credits only</a:t>
            </a:r>
          </a:p>
        </p:txBody>
      </p:sp>
      <p:sp>
        <p:nvSpPr>
          <p:cNvPr id="17444" name="TextBox 17443"/>
          <p:cNvSpPr txBox="1"/>
          <p:nvPr/>
        </p:nvSpPr>
        <p:spPr>
          <a:xfrm>
            <a:off x="4579315" y="3904487"/>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45" name="TextBox 17444"/>
          <p:cNvSpPr txBox="1"/>
          <p:nvPr/>
        </p:nvSpPr>
        <p:spPr>
          <a:xfrm>
            <a:off x="5742432" y="3904487"/>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46" name="TextBox 17445"/>
          <p:cNvSpPr txBox="1"/>
          <p:nvPr/>
        </p:nvSpPr>
        <p:spPr>
          <a:xfrm>
            <a:off x="320040" y="4352544"/>
            <a:ext cx="6400800" cy="566928"/>
          </a:xfrm>
          <a:prstGeom prst="rect">
            <a:avLst/>
          </a:prstGeom>
          <a:noFill/>
        </p:spPr>
        <p:txBody>
          <a:bodyPr wrap="square" lIns="45720" rIns="45720" tIns="18288" bIns="18288" anchor="t"/>
          <a:lstStyle/>
          <a:p>
            <a:pPr algn="l"/>
            <a:r>
              <a:rPr sz="1100" b="1" i="0">
                <a:solidFill>
                  <a:srgbClr val="1F3864"/>
                </a:solidFill>
                <a:latin typeface="Arial"/>
              </a:rPr>
              <a:t>✔ = built and tested (docs/CLAIMS.md). </a:t>
            </a:r>
            <a:r>
              <a:rPr sz="1100" b="0" i="0">
                <a:solidFill>
                  <a:srgbClr val="595959"/>
                </a:solidFill>
                <a:latin typeface="Arial"/>
              </a:rPr>
              <a:t>Reuses APAAR; no new ID.</a:t>
            </a:r>
          </a:p>
        </p:txBody>
      </p:sp>
      <p:sp>
        <p:nvSpPr>
          <p:cNvPr id="17447" name="TextBox 17446"/>
          <p:cNvSpPr txBox="1"/>
          <p:nvPr/>
        </p:nvSpPr>
        <p:spPr>
          <a:xfrm>
            <a:off x="6949440" y="1463040"/>
            <a:ext cx="4937760" cy="274320"/>
          </a:xfrm>
          <a:prstGeom prst="rect">
            <a:avLst/>
          </a:prstGeom>
          <a:noFill/>
        </p:spPr>
        <p:txBody>
          <a:bodyPr wrap="square" lIns="45720" rIns="45720" tIns="18288" bIns="18288" anchor="ctr"/>
          <a:lstStyle/>
          <a:p>
            <a:pPr algn="l"/>
            <a:r>
              <a:rPr sz="1300" b="1" i="0">
                <a:solidFill>
                  <a:srgbClr val="1F3864"/>
                </a:solidFill>
                <a:latin typeface="Arial"/>
              </a:rPr>
              <a:t>References</a:t>
            </a:r>
          </a:p>
        </p:txBody>
      </p:sp>
      <p:sp>
        <p:nvSpPr>
          <p:cNvPr id="17448" name="TextBox 17447"/>
          <p:cNvSpPr txBox="1"/>
          <p:nvPr/>
        </p:nvSpPr>
        <p:spPr>
          <a:xfrm>
            <a:off x="6949440" y="1755648"/>
            <a:ext cx="4919472" cy="3154680"/>
          </a:xfrm>
          <a:prstGeom prst="rect">
            <a:avLst/>
          </a:prstGeom>
          <a:noFill/>
        </p:spPr>
        <p:txBody>
          <a:bodyPr wrap="square" lIns="45720" rIns="45720" tIns="18288" bIns="18288" anchor="t"/>
          <a:lstStyle/>
          <a:p>
            <a:pPr algn="l">
              <a:spcAft>
                <a:spcPts val="200"/>
              </a:spcAft>
            </a:pPr>
            <a:r>
              <a:rPr sz="1000" b="0" i="0">
                <a:solidFill>
                  <a:srgbClr val="1A1A1A"/>
                </a:solidFill>
                <a:latin typeface="Arial"/>
              </a:rPr>
              <a:t>1. AICTE PS SIH26263, SIH 2026  </a:t>
            </a:r>
            <a:r>
              <a:rPr sz="950" b="0" i="0">
                <a:solidFill>
                  <a:srgbClr val="0070C0"/>
                </a:solidFill>
                <a:latin typeface="Arial"/>
              </a:rPr>
              <a:t>sih.gov.in</a:t>
            </a:r>
          </a:p>
          <a:p>
            <a:pPr algn="l">
              <a:spcAft>
                <a:spcPts val="200"/>
              </a:spcAft>
            </a:pPr>
            <a:r>
              <a:rPr sz="1000" b="0" i="0">
                <a:solidFill>
                  <a:srgbClr val="1A1A1A"/>
                </a:solidFill>
                <a:latin typeface="Arial"/>
              </a:rPr>
              <a:t>2. AICTE Approval Process Handbook 2024-27 and 2026-27 addendum (FN/OCI/PIO caps)  </a:t>
            </a:r>
            <a:r>
              <a:rPr sz="950" b="0" i="0">
                <a:solidFill>
                  <a:srgbClr val="0070C0"/>
                </a:solidFill>
                <a:latin typeface="Arial"/>
              </a:rPr>
              <a:t>aicte.gov.in</a:t>
            </a:r>
          </a:p>
          <a:p>
            <a:pPr algn="l">
              <a:spcAft>
                <a:spcPts val="200"/>
              </a:spcAft>
            </a:pPr>
            <a:r>
              <a:rPr sz="1000" b="0" i="0">
                <a:solidFill>
                  <a:srgbClr val="1A1A1A"/>
                </a:solidFill>
                <a:latin typeface="Arial"/>
              </a:rPr>
              <a:t>3. Supreme Court, FORE School of Management v AICTE (2019): 5× fee per excess student  </a:t>
            </a:r>
            <a:r>
              <a:rPr sz="950" b="0" i="0">
                <a:solidFill>
                  <a:srgbClr val="0070C0"/>
                </a:solidFill>
                <a:latin typeface="Arial"/>
              </a:rPr>
              <a:t>sci.gov.in</a:t>
            </a:r>
          </a:p>
          <a:p>
            <a:pPr algn="l">
              <a:spcAft>
                <a:spcPts val="200"/>
              </a:spcAft>
            </a:pPr>
            <a:r>
              <a:rPr sz="1000" b="0" i="0">
                <a:solidFill>
                  <a:srgbClr val="1A1A1A"/>
                </a:solidFill>
                <a:latin typeface="Arial"/>
              </a:rPr>
              <a:t>4. NAD on DigiLocker: consent-based verification (FAQ)  </a:t>
            </a:r>
            <a:r>
              <a:rPr sz="950" b="0" i="0">
                <a:solidFill>
                  <a:srgbClr val="0070C0"/>
                </a:solidFill>
                <a:latin typeface="Arial"/>
              </a:rPr>
              <a:t>nad.digilocker.gov.in</a:t>
            </a:r>
          </a:p>
          <a:p>
            <a:pPr algn="l">
              <a:spcAft>
                <a:spcPts val="200"/>
              </a:spcAft>
            </a:pPr>
            <a:r>
              <a:rPr sz="1000" b="0" i="0">
                <a:solidFill>
                  <a:srgbClr val="1A1A1A"/>
                </a:solidFill>
                <a:latin typeface="Arial"/>
              </a:rPr>
              <a:t>5. AISHE 2022-23 &amp; 2023-24 reports (released 2026)  </a:t>
            </a:r>
            <a:r>
              <a:rPr sz="950" b="0" i="0">
                <a:solidFill>
                  <a:srgbClr val="0070C0"/>
                </a:solidFill>
                <a:latin typeface="Arial"/>
              </a:rPr>
              <a:t>aishe.gov.in</a:t>
            </a:r>
          </a:p>
          <a:p>
            <a:pPr algn="l">
              <a:spcAft>
                <a:spcPts val="200"/>
              </a:spcAft>
            </a:pPr>
            <a:r>
              <a:rPr sz="1000" b="0" i="0">
                <a:solidFill>
                  <a:srgbClr val="1A1A1A"/>
                </a:solidFill>
                <a:latin typeface="Arial"/>
              </a:rPr>
              <a:t>6. APAAR opt-out: Orissa HC, Rohit Anand Das (Dec 2025); Supreme Court direction (Jul 2026)  </a:t>
            </a:r>
            <a:r>
              <a:rPr sz="950" b="0" i="0">
                <a:solidFill>
                  <a:srgbClr val="0070C0"/>
                </a:solidFill>
                <a:latin typeface="Arial"/>
              </a:rPr>
              <a:t>scconline.com · livelaw.in</a:t>
            </a:r>
          </a:p>
          <a:p>
            <a:pPr algn="l">
              <a:spcAft>
                <a:spcPts val="200"/>
              </a:spcAft>
            </a:pPr>
            <a:r>
              <a:rPr sz="1000" b="0" i="0">
                <a:solidFill>
                  <a:srgbClr val="1A1A1A"/>
                </a:solidFill>
                <a:latin typeface="Arial"/>
              </a:rPr>
              <a:t>7. Parliament replies: AICTE enrolment 2025-26 (Lok Sabha); APAAR IDs at 30 Mar 2026 (Rajya Sabha)  </a:t>
            </a:r>
            <a:r>
              <a:rPr sz="950" b="0" i="0">
                <a:solidFill>
                  <a:srgbClr val="0070C0"/>
                </a:solidFill>
                <a:latin typeface="Arial"/>
              </a:rPr>
              <a:t>sansad.in</a:t>
            </a:r>
          </a:p>
          <a:p>
            <a:pPr algn="l">
              <a:spcAft>
                <a:spcPts val="200"/>
              </a:spcAft>
            </a:pPr>
            <a:r>
              <a:rPr sz="1000" b="0" i="0">
                <a:solidFill>
                  <a:srgbClr val="1A1A1A"/>
                </a:solidFill>
                <a:latin typeface="Arial"/>
              </a:rPr>
              <a:t>8. Digital Personal Data Protection Act 2023; DPDP Rules 2025  </a:t>
            </a:r>
            <a:r>
              <a:rPr sz="950" b="0" i="0">
                <a:solidFill>
                  <a:srgbClr val="0070C0"/>
                </a:solidFill>
                <a:latin typeface="Arial"/>
              </a:rPr>
              <a:t>meity.gov.in</a:t>
            </a:r>
          </a:p>
          <a:p>
            <a:pPr algn="l">
              <a:spcAft>
                <a:spcPts val="200"/>
              </a:spcAft>
            </a:pPr>
            <a:r>
              <a:rPr sz="1000" b="0" i="0">
                <a:solidFill>
                  <a:srgbClr val="1A1A1A"/>
                </a:solidFill>
                <a:latin typeface="Arial"/>
              </a:rPr>
              <a:t>9. W3C Verifiable Credentials and did:web; RFC 8032 (Ed25519)  </a:t>
            </a:r>
            <a:r>
              <a:rPr sz="950" b="0" i="0">
                <a:solidFill>
                  <a:srgbClr val="0070C0"/>
                </a:solidFill>
                <a:latin typeface="Arial"/>
              </a:rPr>
              <a:t>w3.org · rfc-editor.org</a:t>
            </a:r>
          </a:p>
          <a:p>
            <a:pPr algn="l">
              <a:spcAft>
                <a:spcPts val="200"/>
              </a:spcAft>
            </a:pPr>
            <a:r>
              <a:rPr sz="1000" b="0" i="0">
                <a:solidFill>
                  <a:srgbClr val="1A1A1A"/>
                </a:solidFill>
                <a:latin typeface="Arial"/>
              </a:rPr>
              <a:t>10. Liu, Ting &amp; Zhou (2008) Isolation Forest; IDinsight on matching Indian names  </a:t>
            </a:r>
            <a:r>
              <a:rPr sz="950" b="0" i="0">
                <a:solidFill>
                  <a:srgbClr val="0070C0"/>
                </a:solidFill>
                <a:latin typeface="Arial"/>
              </a:rPr>
              <a:t>doi.org/10.1109/ICDM.2008.17 · idinsight.org</a:t>
            </a:r>
          </a:p>
        </p:txBody>
      </p:sp>
      <p:sp>
        <p:nvSpPr>
          <p:cNvPr id="17449" name="Rounded Rectangle 17448"/>
          <p:cNvSpPr/>
          <p:nvPr/>
        </p:nvSpPr>
        <p:spPr>
          <a:xfrm>
            <a:off x="320040" y="4983480"/>
            <a:ext cx="11548872" cy="1261872"/>
          </a:xfrm>
          <a:prstGeom prst="roundRect">
            <a:avLst>
              <a:gd name="adj" fmla="val 8695"/>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0" name="Picture 17449" descr="qr_video.png"/>
          <p:cNvPicPr>
            <a:picLocks noChangeAspect="1"/>
          </p:cNvPicPr>
          <p:nvPr/>
        </p:nvPicPr>
        <p:blipFill>
          <a:blip r:embed="rId4"/>
          <a:stretch>
            <a:fillRect/>
          </a:stretch>
        </p:blipFill>
        <p:spPr>
          <a:xfrm>
            <a:off x="429768" y="5093208"/>
            <a:ext cx="1042415" cy="1042415"/>
          </a:xfrm>
          <a:prstGeom prst="rect">
            <a:avLst/>
          </a:prstGeom>
        </p:spPr>
      </p:pic>
      <p:sp>
        <p:nvSpPr>
          <p:cNvPr id="17451" name="TextBox 17450"/>
          <p:cNvSpPr txBox="1"/>
          <p:nvPr/>
        </p:nvSpPr>
        <p:spPr>
          <a:xfrm>
            <a:off x="1563624"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Demo video, 5 min</a:t>
            </a:r>
          </a:p>
          <a:p>
            <a:pPr algn="l"/>
            <a:r>
              <a:rPr sz="1050" b="0" i="0">
                <a:solidFill>
                  <a:srgbClr val="0070C0"/>
                </a:solidFill>
                <a:latin typeface="Arial"/>
                <a:hlinkClick r:id="rId5"/>
              </a:rPr>
              <a:t>youtu.be/eBwySqMs63Q</a:t>
            </a:r>
          </a:p>
          <a:p>
            <a:pPr algn="l"/>
            <a:r>
              <a:rPr sz="1050" b="0" i="0">
                <a:solidFill>
                  <a:srgbClr val="595959"/>
                </a:solidFill>
                <a:latin typeface="Arial"/>
              </a:rPr>
              <a:t>every role, narrated, captioned</a:t>
            </a:r>
          </a:p>
        </p:txBody>
      </p:sp>
      <p:pic>
        <p:nvPicPr>
          <p:cNvPr id="17452" name="Picture 17451" descr="qr_live.png"/>
          <p:cNvPicPr>
            <a:picLocks noChangeAspect="1"/>
          </p:cNvPicPr>
          <p:nvPr/>
        </p:nvPicPr>
        <p:blipFill>
          <a:blip r:embed="rId6"/>
          <a:stretch>
            <a:fillRect/>
          </a:stretch>
        </p:blipFill>
        <p:spPr>
          <a:xfrm>
            <a:off x="4279392" y="5093208"/>
            <a:ext cx="1042415" cy="1042415"/>
          </a:xfrm>
          <a:prstGeom prst="rect">
            <a:avLst/>
          </a:prstGeom>
        </p:spPr>
      </p:pic>
      <p:sp>
        <p:nvSpPr>
          <p:cNvPr id="17453" name="TextBox 17452"/>
          <p:cNvSpPr txBox="1"/>
          <p:nvPr/>
        </p:nvSpPr>
        <p:spPr>
          <a:xfrm>
            <a:off x="5413248"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Live prototype</a:t>
            </a:r>
          </a:p>
          <a:p>
            <a:pPr algn="l"/>
            <a:r>
              <a:rPr sz="1050" b="0" i="0">
                <a:solidFill>
                  <a:srgbClr val="0070C0"/>
                </a:solidFill>
                <a:latin typeface="Arial"/>
                <a:hlinkClick r:id="rId7"/>
              </a:rPr>
              <a:t>vidya-pramaan-sih26263.onrender.com</a:t>
            </a:r>
          </a:p>
          <a:p>
            <a:pPr algn="l"/>
            <a:r>
              <a:rPr sz="1050" b="0" i="0">
                <a:solidFill>
                  <a:srgbClr val="595959"/>
                </a:solidFill>
                <a:latin typeface="Arial"/>
              </a:rPr>
              <a:t>7 demo roles · synthetic data</a:t>
            </a:r>
          </a:p>
        </p:txBody>
      </p:sp>
      <p:pic>
        <p:nvPicPr>
          <p:cNvPr id="17454" name="Picture 17453" descr="qr_repo.png"/>
          <p:cNvPicPr>
            <a:picLocks noChangeAspect="1"/>
          </p:cNvPicPr>
          <p:nvPr/>
        </p:nvPicPr>
        <p:blipFill>
          <a:blip r:embed="rId8"/>
          <a:stretch>
            <a:fillRect/>
          </a:stretch>
        </p:blipFill>
        <p:spPr>
          <a:xfrm>
            <a:off x="8129015" y="5093208"/>
            <a:ext cx="1042415" cy="1042415"/>
          </a:xfrm>
          <a:prstGeom prst="rect">
            <a:avLst/>
          </a:prstGeom>
        </p:spPr>
      </p:pic>
      <p:sp>
        <p:nvSpPr>
          <p:cNvPr id="17455" name="TextBox 17454"/>
          <p:cNvSpPr txBox="1"/>
          <p:nvPr/>
        </p:nvSpPr>
        <p:spPr>
          <a:xfrm>
            <a:off x="9262872"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Source code &amp; tests</a:t>
            </a:r>
          </a:p>
          <a:p>
            <a:pPr algn="l"/>
            <a:r>
              <a:rPr sz="1050" b="0" i="0">
                <a:solidFill>
                  <a:srgbClr val="0070C0"/>
                </a:solidFill>
                <a:latin typeface="Arial"/>
                <a:hlinkClick r:id="rId9"/>
              </a:rPr>
              <a:t>github.com/Pulkitkh/VidyaPramaan</a:t>
            </a:r>
          </a:p>
          <a:p>
            <a:pPr algn="l"/>
            <a:r>
              <a:rPr sz="1050" b="0" i="0">
                <a:solidFill>
                  <a:srgbClr val="595959"/>
                </a:solidFill>
                <a:latin typeface="Arial"/>
              </a:rPr>
              <a:t>65 tests · 93% coverage · MIT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Development of an APAAR ID-Based Student Data Management and Verification Platform for AICTE-Approved Institutions</dc:subject>
  <dc:creator>Team AI Riders</dc:creator>
  <cp:keywords>SIH 2026, SIH26263, APAAR, AICTE</cp:keywords>
  <dc:description/>
  <cp:lastModifiedBy>AICTE</cp:lastModifiedBy>
  <cp:revision>148</cp:revision>
  <dcterms:created xsi:type="dcterms:W3CDTF">2013-12-12T18:46:50Z</dcterms:created>
  <dcterms:modified xsi:type="dcterms:W3CDTF">2026-06-02T09:29:39Z</dcterms:modified>
  <cp:category/>
</cp:coreProperties>
</file>