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AICTE today sees totals, late. Excess admission costs five times the fee per student, yet it surfaces in annual returns. Our flow is the one the problem statement asks for: upload, APAAR check, verification, central record, live monitoring, consented verification. What is new: name matching that keeps twins apart, ghost-admission rings, decisions that are remembered, signed audit checkpoints, rules as data,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Scan the QR to try it.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Feasibility is measured, not promised. On name pairs written independently of our data: precision 0.79, recall 0.92, against 0.65 and 0.68 for the usual fuzzy match. No twin is ever merged. Planted cases are regression checks, and we say so. 59 tests on SQLite and PostgreSQL. Each risk has a built answer, and the roadmap goes from one-state pilot to national rollout within a year on open-source software.</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catch problems at submission, institutions get explained errors, universities print APAAR on degrees, employers verify in seconds, students control access. The contrast at the bottom is the point, and every item on the left is sourced: a ₹23.1 crore fine for 42 excess seats, national statistics years late, and APAAR mismatches universities are struggling with this year.</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Both QR codes work: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394960"/>
            <a:ext cx="5760720" cy="1005840"/>
          </a:xfrm>
          <a:prstGeom prst="roundRect">
            <a:avLst>
              <a:gd name="adj" fmla="val 1090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550408"/>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703295"/>
            <a:ext cx="389168" cy="389168"/>
          </a:xfrm>
          <a:prstGeom prst="rect">
            <a:avLst/>
          </a:prstGeom>
        </p:spPr>
      </p:pic>
      <p:sp>
        <p:nvSpPr>
          <p:cNvPr id="41" name="TextBox 40"/>
          <p:cNvSpPr txBox="1"/>
          <p:nvPr/>
        </p:nvSpPr>
        <p:spPr>
          <a:xfrm>
            <a:off x="1389888" y="5440680"/>
            <a:ext cx="4709160" cy="914400"/>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rPr>
              <a:t>https://vidya-pramaan-sih26263.onrender.com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926080" y="731520"/>
            <a:ext cx="6309360" cy="310896"/>
          </a:xfrm>
          <a:prstGeom prst="rect">
            <a:avLst/>
          </a:prstGeom>
          <a:noFill/>
        </p:spPr>
        <p:txBody>
          <a:bodyPr wrap="square" lIns="45720" rIns="45720" tIns="18288" bIns="18288" anchor="ctr"/>
          <a:lstStyle/>
          <a:p>
            <a:pPr algn="ctr"/>
            <a:r>
              <a:rPr sz="1400" b="0" i="0">
                <a:solidFill>
                  <a:srgbClr val="595959"/>
                </a:solidFill>
                <a:latin typeface="Arial"/>
              </a:rPr>
              <a:t>APAAR-linked student data, validation &amp; verification platform for AICTE</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58417" y="1920240"/>
            <a:ext cx="603504" cy="60350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191188" y="2053010"/>
            <a:ext cx="337962" cy="337962"/>
          </a:xfrm>
          <a:prstGeom prst="rect">
            <a:avLst/>
          </a:prstGeom>
        </p:spPr>
      </p:pic>
      <p:cxnSp>
        <p:nvCxnSpPr>
          <p:cNvPr id="15368" name="Connector 15367"/>
          <p:cNvCxnSpPr/>
          <p:nvPr/>
        </p:nvCxnSpPr>
        <p:spPr>
          <a:xfrm>
            <a:off x="174421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55798"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088568" y="2053010"/>
            <a:ext cx="337962" cy="337962"/>
          </a:xfrm>
          <a:prstGeom prst="rect">
            <a:avLst/>
          </a:prstGeom>
        </p:spPr>
      </p:pic>
      <p:cxnSp>
        <p:nvCxnSpPr>
          <p:cNvPr id="15373" name="Connector 15372"/>
          <p:cNvCxnSpPr/>
          <p:nvPr/>
        </p:nvCxnSpPr>
        <p:spPr>
          <a:xfrm>
            <a:off x="3641598" y="2221992"/>
            <a:ext cx="1129283"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5317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4985948" y="2053010"/>
            <a:ext cx="337962" cy="337962"/>
          </a:xfrm>
          <a:prstGeom prst="rect">
            <a:avLst/>
          </a:prstGeom>
        </p:spPr>
      </p:pic>
      <p:cxnSp>
        <p:nvCxnSpPr>
          <p:cNvPr id="15378" name="Connector 15377"/>
          <p:cNvCxnSpPr/>
          <p:nvPr/>
        </p:nvCxnSpPr>
        <p:spPr>
          <a:xfrm>
            <a:off x="553897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5055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83328" y="2053010"/>
            <a:ext cx="337962" cy="337962"/>
          </a:xfrm>
          <a:prstGeom prst="rect">
            <a:avLst/>
          </a:prstGeom>
        </p:spPr>
      </p:pic>
      <p:cxnSp>
        <p:nvCxnSpPr>
          <p:cNvPr id="15383" name="Connector 15382"/>
          <p:cNvCxnSpPr/>
          <p:nvPr/>
        </p:nvCxnSpPr>
        <p:spPr>
          <a:xfrm>
            <a:off x="7436358"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4793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80708" y="2053010"/>
            <a:ext cx="337962" cy="337962"/>
          </a:xfrm>
          <a:prstGeom prst="rect">
            <a:avLst/>
          </a:prstGeom>
        </p:spPr>
      </p:pic>
      <p:cxnSp>
        <p:nvCxnSpPr>
          <p:cNvPr id="15388" name="Connector 15387"/>
          <p:cNvCxnSpPr/>
          <p:nvPr/>
        </p:nvCxnSpPr>
        <p:spPr>
          <a:xfrm>
            <a:off x="933373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live, case by case</a:t>
            </a:r>
          </a:p>
        </p:txBody>
      </p:sp>
      <p:sp>
        <p:nvSpPr>
          <p:cNvPr id="15391" name="Oval 15390"/>
          <p:cNvSpPr/>
          <p:nvPr/>
        </p:nvSpPr>
        <p:spPr>
          <a:xfrm>
            <a:off x="10545317" y="1920240"/>
            <a:ext cx="603504" cy="60350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78088" y="2053010"/>
            <a:ext cx="337962" cy="337962"/>
          </a:xfrm>
          <a:prstGeom prst="rect">
            <a:avLst/>
          </a:prstGeom>
        </p:spPr>
      </p:pic>
      <p:sp>
        <p:nvSpPr>
          <p:cNvPr id="15393" name="TextBox 15392"/>
          <p:cNvSpPr txBox="1"/>
          <p:nvPr/>
        </p:nvSpPr>
        <p:spPr>
          <a:xfrm>
            <a:off x="989837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3200400"/>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6" name="Rounded Rectangle 15395"/>
          <p:cNvSpPr/>
          <p:nvPr/>
        </p:nvSpPr>
        <p:spPr>
          <a:xfrm>
            <a:off x="320040" y="36393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Only totals reach AICTE; AISHE is 2–3 years late</a:t>
            </a:r>
          </a:p>
        </p:txBody>
      </p:sp>
      <p:cxnSp>
        <p:nvCxnSpPr>
          <p:cNvPr id="15397" name="Connector 15396"/>
          <p:cNvCxnSpPr/>
          <p:nvPr/>
        </p:nvCxnSpPr>
        <p:spPr>
          <a:xfrm>
            <a:off x="2880360" y="39136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8" name="Rounded Rectangle 15397"/>
          <p:cNvSpPr/>
          <p:nvPr/>
        </p:nvSpPr>
        <p:spPr>
          <a:xfrm>
            <a:off x="3383280" y="36393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Student-level records keyed on APAAR, live</a:t>
            </a:r>
          </a:p>
        </p:txBody>
      </p:sp>
      <p:sp>
        <p:nvSpPr>
          <p:cNvPr id="15399" name="Rounded Rectangle 15398"/>
          <p:cNvSpPr/>
          <p:nvPr/>
        </p:nvSpPr>
        <p:spPr>
          <a:xfrm>
            <a:off x="320040" y="4297680"/>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Excess admission = 5× fee fine per student, found late</a:t>
            </a:r>
          </a:p>
        </p:txBody>
      </p:sp>
      <p:cxnSp>
        <p:nvCxnSpPr>
          <p:cNvPr id="15400" name="Connector 15399"/>
          <p:cNvCxnSpPr/>
          <p:nvPr/>
        </p:nvCxnSpPr>
        <p:spPr>
          <a:xfrm>
            <a:off x="2880360" y="4572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1" name="Rounded Rectangle 15400"/>
          <p:cNvSpPr/>
          <p:nvPr/>
        </p:nvSpPr>
        <p:spPr>
          <a:xfrm>
            <a:off x="3383280" y="4297680"/>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Seat #61 of 60 blocked at upload and at submit</a:t>
            </a:r>
          </a:p>
        </p:txBody>
      </p:sp>
      <p:sp>
        <p:nvSpPr>
          <p:cNvPr id="15402" name="Rounded Rectangle 15401"/>
          <p:cNvSpPr/>
          <p:nvPr/>
        </p:nvSpPr>
        <p:spPr>
          <a:xfrm>
            <a:off x="320040" y="4956048"/>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Same student at 2 colleges; agent-filled admissions</a:t>
            </a:r>
          </a:p>
        </p:txBody>
      </p:sp>
      <p:cxnSp>
        <p:nvCxnSpPr>
          <p:cNvPr id="15403" name="Connector 15402"/>
          <p:cNvCxnSpPr/>
          <p:nvPr/>
        </p:nvCxnSpPr>
        <p:spPr>
          <a:xfrm>
            <a:off x="2880360" y="5230368"/>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4" name="Rounded Rectangle 15403"/>
          <p:cNvSpPr/>
          <p:nvPr/>
        </p:nvSpPr>
        <p:spPr>
          <a:xfrm>
            <a:off x="3383280" y="4956048"/>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Cross-college match + shared-contact rings</a:t>
            </a:r>
          </a:p>
        </p:txBody>
      </p:sp>
      <p:sp>
        <p:nvSpPr>
          <p:cNvPr id="15405" name="Rounded Rectangle 15404"/>
          <p:cNvSpPr/>
          <p:nvPr/>
        </p:nvSpPr>
        <p:spPr>
          <a:xfrm>
            <a:off x="320040" y="5614416"/>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Records can't be verified at source</a:t>
            </a:r>
          </a:p>
        </p:txBody>
      </p:sp>
      <p:cxnSp>
        <p:nvCxnSpPr>
          <p:cNvPr id="15406" name="Connector 15405"/>
          <p:cNvCxnSpPr/>
          <p:nvPr/>
        </p:nvCxnSpPr>
        <p:spPr>
          <a:xfrm>
            <a:off x="2880360" y="5888736"/>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7" name="Rounded Rectangle 15406"/>
          <p:cNvSpPr/>
          <p:nvPr/>
        </p:nvSpPr>
        <p:spPr>
          <a:xfrm>
            <a:off x="3383280" y="5614416"/>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Signed QR (checks offline) + consent for more</a:t>
            </a:r>
          </a:p>
        </p:txBody>
      </p:sp>
      <p:sp>
        <p:nvSpPr>
          <p:cNvPr id="15408" name="Rounded Rectangle 15407"/>
          <p:cNvSpPr/>
          <p:nvPr/>
        </p:nvSpPr>
        <p:spPr>
          <a:xfrm>
            <a:off x="6217920" y="3200400"/>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09" name="Rounded Rectangle 15408"/>
          <p:cNvSpPr/>
          <p:nvPr/>
        </p:nvSpPr>
        <p:spPr>
          <a:xfrm>
            <a:off x="621792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0" name="Oval 15409"/>
          <p:cNvSpPr/>
          <p:nvPr/>
        </p:nvSpPr>
        <p:spPr>
          <a:xfrm>
            <a:off x="687628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1" name="Picture 15410" descr="LuUsers2_white.png"/>
          <p:cNvPicPr>
            <a:picLocks noChangeAspect="1"/>
          </p:cNvPicPr>
          <p:nvPr/>
        </p:nvPicPr>
        <p:blipFill>
          <a:blip r:embed="rId10"/>
          <a:stretch>
            <a:fillRect/>
          </a:stretch>
        </p:blipFill>
        <p:spPr>
          <a:xfrm>
            <a:off x="6984918" y="3839382"/>
            <a:ext cx="276514" cy="276514"/>
          </a:xfrm>
          <a:prstGeom prst="rect">
            <a:avLst/>
          </a:prstGeom>
        </p:spPr>
      </p:pic>
      <p:sp>
        <p:nvSpPr>
          <p:cNvPr id="15412" name="TextBox 15411"/>
          <p:cNvSpPr txBox="1"/>
          <p:nvPr/>
        </p:nvSpPr>
        <p:spPr>
          <a:xfrm>
            <a:off x="626364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3" name="TextBox 15412"/>
          <p:cNvSpPr txBox="1"/>
          <p:nvPr/>
        </p:nvSpPr>
        <p:spPr>
          <a:xfrm>
            <a:off x="626364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Mohd = Mohammed,
but Rohit ≠ Mohit</a:t>
            </a:r>
          </a:p>
        </p:txBody>
      </p:sp>
      <p:sp>
        <p:nvSpPr>
          <p:cNvPr id="15414" name="Rounded Rectangle 15413"/>
          <p:cNvSpPr/>
          <p:nvPr/>
        </p:nvSpPr>
        <p:spPr>
          <a:xfrm>
            <a:off x="813816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5" name="Oval 15414"/>
          <p:cNvSpPr/>
          <p:nvPr/>
        </p:nvSpPr>
        <p:spPr>
          <a:xfrm>
            <a:off x="879652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6" name="Picture 15415" descr="LuNetwork_white.png"/>
          <p:cNvPicPr>
            <a:picLocks noChangeAspect="1"/>
          </p:cNvPicPr>
          <p:nvPr/>
        </p:nvPicPr>
        <p:blipFill>
          <a:blip r:embed="rId11"/>
          <a:stretch>
            <a:fillRect/>
          </a:stretch>
        </p:blipFill>
        <p:spPr>
          <a:xfrm>
            <a:off x="8905158" y="3839382"/>
            <a:ext cx="276514" cy="276514"/>
          </a:xfrm>
          <a:prstGeom prst="rect">
            <a:avLst/>
          </a:prstGeom>
        </p:spPr>
      </p:pic>
      <p:sp>
        <p:nvSpPr>
          <p:cNvPr id="15417" name="TextBox 15416"/>
          <p:cNvSpPr txBox="1"/>
          <p:nvPr/>
        </p:nvSpPr>
        <p:spPr>
          <a:xfrm>
            <a:off x="818388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8" name="TextBox 15417"/>
          <p:cNvSpPr txBox="1"/>
          <p:nvPr/>
        </p:nvSpPr>
        <p:spPr>
          <a:xfrm>
            <a:off x="818388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1 phone, 8 students,
2 colleges: flagged</a:t>
            </a:r>
          </a:p>
        </p:txBody>
      </p:sp>
      <p:sp>
        <p:nvSpPr>
          <p:cNvPr id="15419" name="Rounded Rectangle 15418"/>
          <p:cNvSpPr/>
          <p:nvPr/>
        </p:nvSpPr>
        <p:spPr>
          <a:xfrm>
            <a:off x="1005840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0" name="Oval 15419"/>
          <p:cNvSpPr/>
          <p:nvPr/>
        </p:nvSpPr>
        <p:spPr>
          <a:xfrm>
            <a:off x="1071676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1" name="Picture 15420" descr="LuHistory_white.png"/>
          <p:cNvPicPr>
            <a:picLocks noChangeAspect="1"/>
          </p:cNvPicPr>
          <p:nvPr/>
        </p:nvPicPr>
        <p:blipFill>
          <a:blip r:embed="rId12"/>
          <a:stretch>
            <a:fillRect/>
          </a:stretch>
        </p:blipFill>
        <p:spPr>
          <a:xfrm>
            <a:off x="10825398" y="3839382"/>
            <a:ext cx="276514" cy="276514"/>
          </a:xfrm>
          <a:prstGeom prst="rect">
            <a:avLst/>
          </a:prstGeom>
        </p:spPr>
      </p:pic>
      <p:sp>
        <p:nvSpPr>
          <p:cNvPr id="15422" name="TextBox 15421"/>
          <p:cNvSpPr txBox="1"/>
          <p:nvPr/>
        </p:nvSpPr>
        <p:spPr>
          <a:xfrm>
            <a:off x="1010412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3" name="TextBox 15422"/>
          <p:cNvSpPr txBox="1"/>
          <p:nvPr/>
        </p:nvSpPr>
        <p:spPr>
          <a:xfrm>
            <a:off x="1010412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reason required;
never re-flagged</a:t>
            </a:r>
          </a:p>
        </p:txBody>
      </p:sp>
      <p:sp>
        <p:nvSpPr>
          <p:cNvPr id="15424" name="Rounded Rectangle 15423"/>
          <p:cNvSpPr/>
          <p:nvPr/>
        </p:nvSpPr>
        <p:spPr>
          <a:xfrm>
            <a:off x="621792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5" name="Oval 15424"/>
          <p:cNvSpPr/>
          <p:nvPr/>
        </p:nvSpPr>
        <p:spPr>
          <a:xfrm>
            <a:off x="687628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6" name="Picture 15425" descr="LuStamp_white.png"/>
          <p:cNvPicPr>
            <a:picLocks noChangeAspect="1"/>
          </p:cNvPicPr>
          <p:nvPr/>
        </p:nvPicPr>
        <p:blipFill>
          <a:blip r:embed="rId13"/>
          <a:stretch>
            <a:fillRect/>
          </a:stretch>
        </p:blipFill>
        <p:spPr>
          <a:xfrm>
            <a:off x="6984918" y="5192694"/>
            <a:ext cx="276514" cy="276514"/>
          </a:xfrm>
          <a:prstGeom prst="rect">
            <a:avLst/>
          </a:prstGeom>
        </p:spPr>
      </p:pic>
      <p:sp>
        <p:nvSpPr>
          <p:cNvPr id="15427" name="TextBox 15426"/>
          <p:cNvSpPr txBox="1"/>
          <p:nvPr/>
        </p:nvSpPr>
        <p:spPr>
          <a:xfrm>
            <a:off x="626364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8" name="TextBox 15427"/>
          <p:cNvSpPr txBox="1"/>
          <p:nvPr/>
        </p:nvSpPr>
        <p:spPr>
          <a:xfrm>
            <a:off x="626364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even a full history
rewrite is caught</a:t>
            </a:r>
          </a:p>
        </p:txBody>
      </p:sp>
      <p:sp>
        <p:nvSpPr>
          <p:cNvPr id="15429" name="Rounded Rectangle 15428"/>
          <p:cNvSpPr/>
          <p:nvPr/>
        </p:nvSpPr>
        <p:spPr>
          <a:xfrm>
            <a:off x="813816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0" name="Oval 15429"/>
          <p:cNvSpPr/>
          <p:nvPr/>
        </p:nvSpPr>
        <p:spPr>
          <a:xfrm>
            <a:off x="879652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1" name="Picture 15430" descr="LuScale_white.png"/>
          <p:cNvPicPr>
            <a:picLocks noChangeAspect="1"/>
          </p:cNvPicPr>
          <p:nvPr/>
        </p:nvPicPr>
        <p:blipFill>
          <a:blip r:embed="rId14"/>
          <a:stretch>
            <a:fillRect/>
          </a:stretch>
        </p:blipFill>
        <p:spPr>
          <a:xfrm>
            <a:off x="8905158" y="5192694"/>
            <a:ext cx="276514" cy="276514"/>
          </a:xfrm>
          <a:prstGeom prst="rect">
            <a:avLst/>
          </a:prstGeom>
        </p:spPr>
      </p:pic>
      <p:sp>
        <p:nvSpPr>
          <p:cNvPr id="15432" name="TextBox 15431"/>
          <p:cNvSpPr txBox="1"/>
          <p:nvPr/>
        </p:nvSpPr>
        <p:spPr>
          <a:xfrm>
            <a:off x="818388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3" name="TextBox 15432"/>
          <p:cNvSpPr txBox="1"/>
          <p:nvPr/>
        </p:nvSpPr>
        <p:spPr>
          <a:xfrm>
            <a:off x="818388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2026-27 caps by level,
each with its source</a:t>
            </a:r>
          </a:p>
        </p:txBody>
      </p:sp>
      <p:sp>
        <p:nvSpPr>
          <p:cNvPr id="15434" name="Rounded Rectangle 15433"/>
          <p:cNvSpPr/>
          <p:nvPr/>
        </p:nvSpPr>
        <p:spPr>
          <a:xfrm>
            <a:off x="1005840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5" name="Oval 15434"/>
          <p:cNvSpPr/>
          <p:nvPr/>
        </p:nvSpPr>
        <p:spPr>
          <a:xfrm>
            <a:off x="1071676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6" name="Picture 15435" descr="LuGraduationCap_white.png"/>
          <p:cNvPicPr>
            <a:picLocks noChangeAspect="1"/>
          </p:cNvPicPr>
          <p:nvPr/>
        </p:nvPicPr>
        <p:blipFill>
          <a:blip r:embed="rId15"/>
          <a:stretch>
            <a:fillRect/>
          </a:stretch>
        </p:blipFill>
        <p:spPr>
          <a:xfrm>
            <a:off x="10825398" y="5192694"/>
            <a:ext cx="276514" cy="276514"/>
          </a:xfrm>
          <a:prstGeom prst="rect">
            <a:avLst/>
          </a:prstGeom>
        </p:spPr>
      </p:pic>
      <p:sp>
        <p:nvSpPr>
          <p:cNvPr id="15437" name="TextBox 15436"/>
          <p:cNvSpPr txBox="1"/>
          <p:nvPr/>
        </p:nvSpPr>
        <p:spPr>
          <a:xfrm>
            <a:off x="1010412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8" name="TextBox 15437"/>
          <p:cNvSpPr txBox="1"/>
          <p:nvPr/>
        </p:nvSpPr>
        <p:spPr>
          <a:xfrm>
            <a:off x="1010412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university print feed
with verification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signed QR + audit</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825496"/>
            <a:ext cx="5266944" cy="2361304"/>
          </a:xfrm>
          <a:prstGeom prst="roundRect">
            <a:avLst>
              <a:gd name="adj" fmla="val 154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36000"/>
          <a:stretch>
            <a:fillRect/>
          </a:stretch>
        </p:blipFill>
        <p:spPr>
          <a:xfrm>
            <a:off x="6629400" y="2852928"/>
            <a:ext cx="5212080" cy="2306440"/>
          </a:xfrm>
          <a:prstGeom prst="rect">
            <a:avLst/>
          </a:prstGeom>
        </p:spPr>
      </p:pic>
      <p:sp>
        <p:nvSpPr>
          <p:cNvPr id="17468" name="TextBox 17467"/>
          <p:cNvSpPr txBox="1"/>
          <p:nvPr/>
        </p:nvSpPr>
        <p:spPr>
          <a:xfrm>
            <a:off x="6629400" y="5214232"/>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5506840"/>
            <a:ext cx="5266944" cy="756799"/>
          </a:xfrm>
          <a:prstGeom prst="roundRect">
            <a:avLst>
              <a:gd name="adj" fmla="val 14498"/>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0" name="Picture 17469" descr="qr_live.png"/>
          <p:cNvPicPr>
            <a:picLocks noChangeAspect="1"/>
          </p:cNvPicPr>
          <p:nvPr/>
        </p:nvPicPr>
        <p:blipFill>
          <a:blip r:embed="rId11"/>
          <a:stretch>
            <a:fillRect/>
          </a:stretch>
        </p:blipFill>
        <p:spPr>
          <a:xfrm>
            <a:off x="6693408" y="5570848"/>
            <a:ext cx="628783" cy="628783"/>
          </a:xfrm>
          <a:prstGeom prst="rect">
            <a:avLst/>
          </a:prstGeom>
        </p:spPr>
      </p:pic>
      <p:sp>
        <p:nvSpPr>
          <p:cNvPr id="17471" name="TextBox 17470"/>
          <p:cNvSpPr txBox="1"/>
          <p:nvPr/>
        </p:nvSpPr>
        <p:spPr>
          <a:xfrm>
            <a:off x="7431919" y="5552560"/>
            <a:ext cx="4206240" cy="665359"/>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rPr>
              <a:t>https://vidya-pramaan-sih26263.onrender.com</a:t>
            </a:r>
          </a:p>
          <a:p>
            <a:pPr algn="l"/>
            <a:r>
              <a:rPr sz="1100" b="0" i="0">
                <a:solidFill>
                  <a:srgbClr val="595959"/>
                </a:solidFill>
                <a:latin typeface="Arial"/>
              </a:rPr>
              <a:t>7 demo roles · synthetic data · installable on phones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0 / 80</a:t>
            </a:r>
          </a:p>
        </p:txBody>
      </p:sp>
      <p:sp>
        <p:nvSpPr>
          <p:cNvPr id="17420" name="TextBox 17419"/>
          <p:cNvSpPr txBox="1"/>
          <p:nvPr/>
        </p:nvSpPr>
        <p:spPr>
          <a:xfrm>
            <a:off x="2382012" y="2048256"/>
            <a:ext cx="1696212" cy="512064"/>
          </a:xfrm>
          <a:prstGeom prst="rect">
            <a:avLst/>
          </a:prstGeom>
          <a:noFill/>
        </p:spPr>
        <p:txBody>
          <a:bodyPr wrap="square" lIns="45720" rIns="45720" tIns="18288" bIns="18288" anchor="t"/>
          <a:lstStyle/>
          <a:p>
            <a:pPr algn="l"/>
            <a:r>
              <a:rPr sz="1050" b="0" i="0">
                <a:solidFill>
                  <a:srgbClr val="1A1A1A"/>
                </a:solidFill>
                <a:latin typeface="Arial"/>
              </a:rPr>
              <a:t>same-day twins
wrongly merged</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error types; 0 false
flags on 56 clean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dual enrolments,
identity dupes,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48256"/>
            <a:ext cx="1696212" cy="512064"/>
          </a:xfrm>
          <a:prstGeom prst="rect">
            <a:avLst/>
          </a:prstGeom>
          <a:noFill/>
        </p:spPr>
        <p:txBody>
          <a:bodyPr wrap="square" lIns="45720" rIns="45720" tIns="18288" bIns="18288" anchor="t"/>
          <a:lstStyle/>
          <a:p>
            <a:pPr algn="l"/>
            <a:r>
              <a:rPr sz="1050" b="0" i="0">
                <a:solidFill>
                  <a:srgbClr val="1A1A1A"/>
                </a:solidFill>
                <a:latin typeface="Arial"/>
              </a:rPr>
              <a:t>top-ranked colleges
truly anomalous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59 tests</a:t>
            </a:r>
          </a:p>
        </p:txBody>
      </p:sp>
      <p:sp>
        <p:nvSpPr>
          <p:cNvPr id="17440" name="TextBox 17439"/>
          <p:cNvSpPr txBox="1"/>
          <p:nvPr/>
        </p:nvSpPr>
        <p:spPr>
          <a:xfrm>
            <a:off x="1008126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SQLite + PostgreSQL 16;
7-role browser walkthrough</a:t>
            </a:r>
          </a:p>
        </p:txBody>
      </p:sp>
      <p:sp>
        <p:nvSpPr>
          <p:cNvPr id="17441" name="TextBox 17440"/>
          <p:cNvSpPr txBox="1"/>
          <p:nvPr/>
        </p:nvSpPr>
        <p:spPr>
          <a:xfrm>
            <a:off x="320040" y="2615184"/>
            <a:ext cx="11548872" cy="274320"/>
          </a:xfrm>
          <a:prstGeom prst="rect">
            <a:avLst/>
          </a:prstGeom>
          <a:noFill/>
        </p:spPr>
        <p:txBody>
          <a:bodyPr wrap="square" lIns="45720" rIns="45720" tIns="18288" bIns="18288" anchor="ctr"/>
          <a:lstStyle/>
          <a:p>
            <a:pPr algn="ctr"/>
            <a:r>
              <a:rPr sz="1050" b="0" i="0">
                <a:solidFill>
                  <a:srgbClr val="595959"/>
                </a:solidFill>
                <a:latin typeface="Arial"/>
              </a:rPr>
              <a:t>Planted cases are regression checks on synthetic data, not real-world accuracy · precision / recall come from independent hand-labelled name pairs</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15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Registry adapter: mock now → DigiLocker / API Setu after partner onboarding</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15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Provisional ID, never rejected; mother's or guardian's name accepted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150" b="1" i="0">
                <a:solidFill>
                  <a:srgbClr val="1A1A1A"/>
                </a:solidFill>
                <a:latin typeface="Arial"/>
              </a:rPr>
              <a:t>Student 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Consent per field, masked IDs, no Aadhaar stored, access log</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150" b="1" i="0">
                <a:solidFill>
                  <a:srgbClr val="1A1A1A"/>
                </a:solidFill>
                <a:latin typeface="Arial"/>
              </a:rPr>
              <a:t>Wrong flags: twins, spelling variants</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Twin-safe matcher; officer decides with a reason; decision remembered</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150" b="1" i="0">
                <a:solidFill>
                  <a:srgbClr val="1A1A1A"/>
                </a:solidFill>
                <a:latin typeface="Arial"/>
              </a:rPr>
              <a:t>Rules change every year by circular</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Rules file per academic year, each value with its source</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150" b="1" i="0">
                <a:solidFill>
                  <a:srgbClr val="1A1A1A"/>
                </a:solidFill>
                <a:latin typeface="Arial"/>
              </a:rPr>
              <a:t>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ERP headers auto-mapped, Excel template, API keys, Hindi, phone app</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000" b="1" i="0">
                <a:solidFill>
                  <a:srgbClr val="E46C0A"/>
                </a:solidFill>
                <a:latin typeface="Arial"/>
              </a:rPr>
              <a:t>Roadmap  </a:t>
            </a:r>
            <a:r>
              <a:rPr sz="1000" b="0" i="0">
                <a:solidFill>
                  <a:srgbClr val="1A1A1A"/>
                </a:solidFill>
                <a:latin typeface="Arial"/>
              </a:rPr>
              <a:t>M1–3 pilot: 1 state, 50 colleges → M4–6 API Setu, SSO, STQC audit → M7–12 national   </a:t>
            </a:r>
            <a:r>
              <a:rPr sz="1000" b="1" i="0">
                <a:solidFill>
                  <a:srgbClr val="E46C0A"/>
                </a:solidFill>
                <a:latin typeface="Arial"/>
              </a:rPr>
              <a:t>Cost  </a:t>
            </a:r>
            <a:r>
              <a:rPr sz="1000" b="0" i="0">
                <a:solidFill>
                  <a:srgbClr val="1A1A1A"/>
                </a:solidFill>
                <a:latin typeface="Arial"/>
              </a:rPr>
              <a:t>open source, no licence fees; est. ₹20–25 lakh/yr MeitY-empanelled cloud</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excess &amp; dual enrolment
caught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one upload; errors and
corrections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APAAR + student ID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instant QR check, even
offline;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050" b="0" i="0">
                <a:solidFill>
                  <a:srgbClr val="1A1A1A"/>
                </a:solidFill>
                <a:latin typeface="Arial"/>
              </a:rPr>
              <a:t>own record; control
over who sees it</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150" b="1" i="0">
                <a:solidFill>
                  <a:srgbClr val="B42B2B"/>
                </a:solidFill>
                <a:latin typeface="Arial"/>
              </a:rPr>
              <a:t>Today</a:t>
            </a:r>
          </a:p>
        </p:txBody>
      </p:sp>
      <p:sp>
        <p:nvSpPr>
          <p:cNvPr id="17446" name="TextBox 17445"/>
          <p:cNvSpPr txBox="1"/>
          <p:nvPr/>
        </p:nvSpPr>
        <p:spPr>
          <a:xfrm>
            <a:off x="393192" y="4736592"/>
            <a:ext cx="1865376" cy="1426464"/>
          </a:xfrm>
          <a:prstGeom prst="rect">
            <a:avLst/>
          </a:prstGeom>
          <a:noFill/>
        </p:spPr>
        <p:txBody>
          <a:bodyPr wrap="square" lIns="45720" rIns="45720" tIns="18288" bIns="18288" anchor="t"/>
          <a:lstStyle/>
          <a:p>
            <a:pPr algn="l">
              <a:spcAft>
                <a:spcPts val="200"/>
              </a:spcAft>
            </a:pPr>
            <a:r>
              <a:rPr sz="950" b="1" i="0">
                <a:solidFill>
                  <a:srgbClr val="B42B2B"/>
                </a:solidFill>
                <a:latin typeface="Arial"/>
              </a:rPr>
              <a:t>✖ </a:t>
            </a:r>
            <a:r>
              <a:rPr sz="950" b="0" i="0">
                <a:solidFill>
                  <a:srgbClr val="1A1A1A"/>
                </a:solidFill>
                <a:latin typeface="Arial"/>
              </a:rPr>
              <a:t>42 excess seats found late: ₹23.1 cr fine (FORE v AICTE, SC 2019)</a:t>
            </a:r>
          </a:p>
          <a:p>
            <a:pPr algn="l">
              <a:spcAft>
                <a:spcPts val="200"/>
              </a:spcAft>
            </a:pPr>
            <a:r>
              <a:rPr sz="950" b="1" i="0">
                <a:solidFill>
                  <a:srgbClr val="B42B2B"/>
                </a:solidFill>
                <a:latin typeface="Arial"/>
              </a:rPr>
              <a:t>✖ </a:t>
            </a:r>
            <a:r>
              <a:rPr sz="950" b="0" i="0">
                <a:solidFill>
                  <a:srgbClr val="1A1A1A"/>
                </a:solidFill>
                <a:latin typeface="Arial"/>
              </a:rPr>
              <a:t>AISHE 2022-23 report published only in 2026</a:t>
            </a:r>
          </a:p>
          <a:p>
            <a:pPr algn="l">
              <a:spcAft>
                <a:spcPts val="200"/>
              </a:spcAft>
            </a:pPr>
            <a:r>
              <a:rPr sz="950" b="1" i="0">
                <a:solidFill>
                  <a:srgbClr val="B42B2B"/>
                </a:solidFill>
                <a:latin typeface="Arial"/>
              </a:rPr>
              <a:t>✖ </a:t>
            </a:r>
            <a:r>
              <a:rPr sz="950" b="0" i="0">
                <a:solidFill>
                  <a:srgbClr val="1A1A1A"/>
                </a:solidFill>
                <a:latin typeface="Arial"/>
              </a:rPr>
              <a:t>“a number of students have mismatch in Aadhaar and APAAR ID details”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150" b="1" i="0">
                <a:solidFill>
                  <a:srgbClr val="1E7B3E"/>
                </a:solidFill>
                <a:latin typeface="Arial"/>
              </a:rPr>
              <a:t>With Vidya Pramaan</a:t>
            </a:r>
          </a:p>
        </p:txBody>
      </p:sp>
      <p:sp>
        <p:nvSpPr>
          <p:cNvPr id="17449" name="TextBox 17448"/>
          <p:cNvSpPr txBox="1"/>
          <p:nvPr/>
        </p:nvSpPr>
        <p:spPr>
          <a:xfrm>
            <a:off x="4389120" y="4736592"/>
            <a:ext cx="1892807" cy="1426464"/>
          </a:xfrm>
          <a:prstGeom prst="rect">
            <a:avLst/>
          </a:prstGeom>
          <a:noFill/>
        </p:spPr>
        <p:txBody>
          <a:bodyPr wrap="square" lIns="45720" rIns="45720" tIns="18288" bIns="18288" anchor="t"/>
          <a:lstStyle/>
          <a:p>
            <a:pPr algn="l">
              <a:spcAft>
                <a:spcPts val="200"/>
              </a:spcAft>
            </a:pPr>
            <a:r>
              <a:rPr sz="950" b="1" i="0">
                <a:solidFill>
                  <a:srgbClr val="1E7B3E"/>
                </a:solidFill>
                <a:latin typeface="Arial"/>
              </a:rPr>
              <a:t>✔ </a:t>
            </a:r>
            <a:r>
              <a:rPr sz="950" b="0" i="0">
                <a:solidFill>
                  <a:srgbClr val="1A1A1A"/>
                </a:solidFill>
                <a:latin typeface="Arial"/>
              </a:rPr>
              <a:t>Seat #61 of 60 stopped the day it is uploaded, before any fine</a:t>
            </a:r>
          </a:p>
          <a:p>
            <a:pPr algn="l">
              <a:spcAft>
                <a:spcPts val="200"/>
              </a:spcAft>
            </a:pPr>
            <a:r>
              <a:rPr sz="950" b="1" i="0">
                <a:solidFill>
                  <a:srgbClr val="1E7B3E"/>
                </a:solidFill>
                <a:latin typeface="Arial"/>
              </a:rPr>
              <a:t>✔ </a:t>
            </a:r>
            <a:r>
              <a:rPr sz="950" b="0" i="0">
                <a:solidFill>
                  <a:srgbClr val="1A1A1A"/>
                </a:solidFill>
                <a:latin typeface="Arial"/>
              </a:rPr>
              <a:t>Same-day national view; duplicates flagged within minutes</a:t>
            </a:r>
          </a:p>
          <a:p>
            <a:pPr algn="l">
              <a:spcAft>
                <a:spcPts val="200"/>
              </a:spcAft>
            </a:pPr>
            <a:r>
              <a:rPr sz="950" b="1" i="0">
                <a:solidFill>
                  <a:srgbClr val="1E7B3E"/>
                </a:solidFill>
                <a:latin typeface="Arial"/>
              </a:rPr>
              <a:t>✔ </a:t>
            </a:r>
            <a:r>
              <a:rPr sz="950" b="0" i="0">
                <a:solidFill>
                  <a:srgbClr val="1A1A1A"/>
                </a:solidFill>
                <a:latin typeface="Arial"/>
              </a:rPr>
              <a:t>Mismatches returned with the reason, fixed by re-upload</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508760"/>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61848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719072"/>
            <a:ext cx="256032" cy="256032"/>
          </a:xfrm>
          <a:prstGeom prst="rect">
            <a:avLst/>
          </a:prstGeom>
        </p:spPr>
      </p:pic>
      <p:sp>
        <p:nvSpPr>
          <p:cNvPr id="17454" name="TextBox 17453"/>
          <p:cNvSpPr txBox="1"/>
          <p:nvPr/>
        </p:nvSpPr>
        <p:spPr>
          <a:xfrm>
            <a:off x="7242048" y="161848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148839"/>
            <a:ext cx="2404872" cy="566928"/>
          </a:xfrm>
          <a:prstGeom prst="rect">
            <a:avLst/>
          </a:prstGeom>
          <a:noFill/>
        </p:spPr>
        <p:txBody>
          <a:bodyPr wrap="square" lIns="45720" rIns="45720" tIns="18288" bIns="18288" anchor="t"/>
          <a:lstStyle/>
          <a:p>
            <a:pPr algn="l"/>
            <a:r>
              <a:rPr sz="1100" b="0" i="0">
                <a:solidFill>
                  <a:srgbClr val="1A1A1A"/>
                </a:solidFill>
                <a:latin typeface="Arial"/>
              </a:rPr>
              <a:t>fair admissions; no student
excluded for opting out</a:t>
            </a:r>
          </a:p>
        </p:txBody>
      </p:sp>
      <p:sp>
        <p:nvSpPr>
          <p:cNvPr id="17456" name="Rounded Rectangle 17455"/>
          <p:cNvSpPr/>
          <p:nvPr/>
        </p:nvSpPr>
        <p:spPr>
          <a:xfrm>
            <a:off x="9281160" y="1508760"/>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61848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719072"/>
            <a:ext cx="256032" cy="256032"/>
          </a:xfrm>
          <a:prstGeom prst="rect">
            <a:avLst/>
          </a:prstGeom>
        </p:spPr>
      </p:pic>
      <p:sp>
        <p:nvSpPr>
          <p:cNvPr id="17459" name="TextBox 17458"/>
          <p:cNvSpPr txBox="1"/>
          <p:nvPr/>
        </p:nvSpPr>
        <p:spPr>
          <a:xfrm>
            <a:off x="9939528" y="161848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148839"/>
            <a:ext cx="2404872" cy="566928"/>
          </a:xfrm>
          <a:prstGeom prst="rect">
            <a:avLst/>
          </a:prstGeom>
          <a:noFill/>
        </p:spPr>
        <p:txBody>
          <a:bodyPr wrap="square" lIns="45720" rIns="45720" tIns="18288" bIns="18288" anchor="t"/>
          <a:lstStyle/>
          <a:p>
            <a:pPr algn="l"/>
            <a:r>
              <a:rPr sz="1100" b="0" i="0">
                <a:solidFill>
                  <a:srgbClr val="1A1A1A"/>
                </a:solidFill>
                <a:latin typeface="Arial"/>
              </a:rPr>
              <a:t>no licence cost; one upload
replaces repeated returns</a:t>
            </a:r>
          </a:p>
        </p:txBody>
      </p:sp>
      <p:sp>
        <p:nvSpPr>
          <p:cNvPr id="17461" name="Rounded Rectangle 17460"/>
          <p:cNvSpPr/>
          <p:nvPr/>
        </p:nvSpPr>
        <p:spPr>
          <a:xfrm>
            <a:off x="6583680" y="2862072"/>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97180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3072384"/>
            <a:ext cx="256032" cy="256032"/>
          </a:xfrm>
          <a:prstGeom prst="rect">
            <a:avLst/>
          </a:prstGeom>
        </p:spPr>
      </p:pic>
      <p:sp>
        <p:nvSpPr>
          <p:cNvPr id="17464" name="TextBox 17463"/>
          <p:cNvSpPr txBox="1"/>
          <p:nvPr/>
        </p:nvSpPr>
        <p:spPr>
          <a:xfrm>
            <a:off x="7242048" y="297180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502152"/>
            <a:ext cx="2404872" cy="566928"/>
          </a:xfrm>
          <a:prstGeom prst="rect">
            <a:avLst/>
          </a:prstGeom>
          <a:noFill/>
        </p:spPr>
        <p:txBody>
          <a:bodyPr wrap="square" lIns="45720" rIns="45720" tIns="18288" bIns="18288" anchor="t"/>
          <a:lstStyle/>
          <a:p>
            <a:pPr algn="l"/>
            <a:r>
              <a:rPr sz="1100" b="0" i="0">
                <a:solidFill>
                  <a:srgbClr val="1A1A1A"/>
                </a:solidFill>
                <a:latin typeface="Arial"/>
              </a:rPr>
              <a:t>paperless returns and
verification; no courier checks</a:t>
            </a:r>
          </a:p>
        </p:txBody>
      </p:sp>
      <p:sp>
        <p:nvSpPr>
          <p:cNvPr id="17466" name="Rounded Rectangle 17465"/>
          <p:cNvSpPr/>
          <p:nvPr/>
        </p:nvSpPr>
        <p:spPr>
          <a:xfrm>
            <a:off x="9281160" y="2862072"/>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97180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3072384"/>
            <a:ext cx="256032" cy="256032"/>
          </a:xfrm>
          <a:prstGeom prst="rect">
            <a:avLst/>
          </a:prstGeom>
        </p:spPr>
      </p:pic>
      <p:sp>
        <p:nvSpPr>
          <p:cNvPr id="17469" name="TextBox 17468"/>
          <p:cNvSpPr txBox="1"/>
          <p:nvPr/>
        </p:nvSpPr>
        <p:spPr>
          <a:xfrm>
            <a:off x="9939528" y="297180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502152"/>
            <a:ext cx="2404872" cy="566928"/>
          </a:xfrm>
          <a:prstGeom prst="rect">
            <a:avLst/>
          </a:prstGeom>
          <a:noFill/>
        </p:spPr>
        <p:txBody>
          <a:bodyPr wrap="square" lIns="45720" rIns="45720" tIns="18288" bIns="18288" anchor="t"/>
          <a:lstStyle/>
          <a:p>
            <a:pPr algn="l"/>
            <a:r>
              <a:rPr sz="1100" b="0" i="0">
                <a:solidFill>
                  <a:srgbClr val="1A1A1A"/>
                </a:solidFill>
                <a:latin typeface="Arial"/>
              </a:rPr>
              <a:t>audited evidence pack for
review and show-cause</a:t>
            </a:r>
          </a:p>
        </p:txBody>
      </p:sp>
      <p:sp>
        <p:nvSpPr>
          <p:cNvPr id="17471" name="Rounded Rectangle 17470"/>
          <p:cNvSpPr/>
          <p:nvPr/>
        </p:nvSpPr>
        <p:spPr>
          <a:xfrm>
            <a:off x="6601968" y="4288536"/>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2" name="Picture 17471" descr="25_certificate.png"/>
          <p:cNvPicPr>
            <a:picLocks noChangeAspect="1"/>
          </p:cNvPicPr>
          <p:nvPr/>
        </p:nvPicPr>
        <p:blipFill>
          <a:blip r:embed="rId13"/>
          <a:srcRect/>
          <a:stretch>
            <a:fillRect/>
          </a:stretch>
        </p:blipFill>
        <p:spPr>
          <a:xfrm>
            <a:off x="6629400" y="4315968"/>
            <a:ext cx="2286000" cy="1616363"/>
          </a:xfrm>
          <a:prstGeom prst="rect">
            <a:avLst/>
          </a:prstGeom>
        </p:spPr>
      </p:pic>
      <p:sp>
        <p:nvSpPr>
          <p:cNvPr id="17473" name="Rounded Rectangle 17472"/>
          <p:cNvSpPr/>
          <p:nvPr/>
        </p:nvSpPr>
        <p:spPr>
          <a:xfrm>
            <a:off x="9235440" y="4288536"/>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23_public_qr_verified.png"/>
          <p:cNvPicPr>
            <a:picLocks noChangeAspect="1"/>
          </p:cNvPicPr>
          <p:nvPr/>
        </p:nvPicPr>
        <p:blipFill>
          <a:blip r:embed="rId14"/>
          <a:srcRect l="17000" t="46000" r="51000" b="29000"/>
          <a:stretch>
            <a:fillRect/>
          </a:stretch>
        </p:blipFill>
        <p:spPr>
          <a:xfrm>
            <a:off x="9262872" y="4315968"/>
            <a:ext cx="2578608" cy="1259085"/>
          </a:xfrm>
          <a:prstGeom prst="rect">
            <a:avLst/>
          </a:prstGeom>
        </p:spPr>
      </p:pic>
      <p:sp>
        <p:nvSpPr>
          <p:cNvPr id="17475" name="TextBox 17474"/>
          <p:cNvSpPr txBox="1"/>
          <p:nvPr/>
        </p:nvSpPr>
        <p:spPr>
          <a:xfrm>
            <a:off x="6583680" y="5978051"/>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6" name="TextBox 17475"/>
          <p:cNvSpPr txBox="1"/>
          <p:nvPr/>
        </p:nvSpPr>
        <p:spPr>
          <a:xfrm>
            <a:off x="9235440" y="5620773"/>
            <a:ext cx="2633472" cy="237744"/>
          </a:xfrm>
          <a:prstGeom prst="rect">
            <a:avLst/>
          </a:prstGeom>
          <a:noFill/>
        </p:spPr>
        <p:txBody>
          <a:bodyPr wrap="square" lIns="45720" rIns="45720" tIns="18288" bIns="18288" anchor="ctr"/>
          <a:lstStyle/>
          <a:p>
            <a:pPr algn="ctr"/>
            <a:r>
              <a:rPr sz="1050" b="0" i="0">
                <a:solidFill>
                  <a:srgbClr val="595959"/>
                </a:solidFill>
                <a:latin typeface="Arial"/>
              </a:rPr>
              <a:t>QR scan: verified, also on the device</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00" b="0" i="0">
                <a:solidFill>
                  <a:srgbClr val="595959"/>
                </a:solidFill>
                <a:latin typeface="Arial"/>
              </a:rPr>
              <a:t>aggregate, 2–3 yr lag</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1050" b="1" i="0">
                <a:solidFill>
                  <a:srgbClr val="1E7B3E"/>
                </a:solidFill>
                <a:latin typeface="Arial"/>
              </a:rPr>
              <a:t>✔ live</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0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0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0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384048"/>
          </a:xfrm>
          <a:prstGeom prst="rect">
            <a:avLst/>
          </a:prstGeom>
          <a:noFill/>
        </p:spPr>
        <p:txBody>
          <a:bodyPr wrap="square" lIns="45720" rIns="45720" tIns="18288" bIns="18288" anchor="t"/>
          <a:lstStyle/>
          <a:p>
            <a:pPr algn="l"/>
            <a:r>
              <a:rPr sz="1000" b="0" i="0">
                <a:solidFill>
                  <a:srgbClr val="595959"/>
                </a:solidFill>
                <a:latin typeface="Arial"/>
              </a:rPr>
              <a:t>Vidya Pramaan consumes APAAR and feeds NAD / ABC and AISHE: no new ID, no parallel credential store, no invented APAAR checksum (none is published), and no student rejected for opting out.</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3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3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3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3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3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300"/>
              </a:spcAft>
            </a:pPr>
            <a:r>
              <a:rPr sz="1000" b="0" i="0">
                <a:solidFill>
                  <a:srgbClr val="1A1A1A"/>
                </a:solidFill>
                <a:latin typeface="Arial"/>
              </a:rPr>
              <a:t>6. APAAR consent and opt-out: MoE guidance; Supreme Court proceedings 2026  </a:t>
            </a:r>
            <a:r>
              <a:rPr sz="950" b="0" i="0">
                <a:solidFill>
                  <a:srgbClr val="0070C0"/>
                </a:solidFill>
                <a:latin typeface="Arial"/>
              </a:rPr>
              <a:t>apaar.education.gov.in</a:t>
            </a:r>
          </a:p>
          <a:p>
            <a:pPr algn="l">
              <a:spcAft>
                <a:spcPts val="300"/>
              </a:spcAft>
            </a:pPr>
            <a:r>
              <a:rPr sz="1000" b="0" i="0">
                <a:solidFill>
                  <a:srgbClr val="1A1A1A"/>
                </a:solidFill>
                <a:latin typeface="Arial"/>
              </a:rPr>
              <a:t>7. Digital Personal Data Protection Act 2023; DPDP Rules 2025  </a:t>
            </a:r>
            <a:r>
              <a:rPr sz="950" b="0" i="0">
                <a:solidFill>
                  <a:srgbClr val="0070C0"/>
                </a:solidFill>
                <a:latin typeface="Arial"/>
              </a:rPr>
              <a:t>meity.gov.in</a:t>
            </a:r>
          </a:p>
          <a:p>
            <a:pPr algn="l">
              <a:spcAft>
                <a:spcPts val="300"/>
              </a:spcAft>
            </a:pPr>
            <a:r>
              <a:rPr sz="1000" b="0" i="0">
                <a:solidFill>
                  <a:srgbClr val="1A1A1A"/>
                </a:solidFill>
                <a:latin typeface="Arial"/>
              </a:rPr>
              <a:t>8. W3C Verifiable Credentials; RFC 8032 (Ed25519)  </a:t>
            </a:r>
            <a:r>
              <a:rPr sz="950" b="0" i="0">
                <a:solidFill>
                  <a:srgbClr val="0070C0"/>
                </a:solidFill>
                <a:latin typeface="Arial"/>
              </a:rPr>
              <a:t>w3.org · rfc-editor.org</a:t>
            </a:r>
          </a:p>
          <a:p>
            <a:pPr algn="l">
              <a:spcAft>
                <a:spcPts val="300"/>
              </a:spcAft>
            </a:pPr>
            <a:r>
              <a:rPr sz="1000" b="0" i="0">
                <a:solidFill>
                  <a:srgbClr val="1A1A1A"/>
                </a:solidFill>
                <a:latin typeface="Arial"/>
              </a:rPr>
              <a:t>9. Liu et al. (2008) Isolation Forest; IDinsight (2021)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live.png"/>
          <p:cNvPicPr>
            <a:picLocks noChangeAspect="1"/>
          </p:cNvPicPr>
          <p:nvPr/>
        </p:nvPicPr>
        <p:blipFill>
          <a:blip r:embed="rId4"/>
          <a:stretch>
            <a:fillRect/>
          </a:stretch>
        </p:blipFill>
        <p:spPr>
          <a:xfrm>
            <a:off x="457200" y="5074920"/>
            <a:ext cx="1078992" cy="1078992"/>
          </a:xfrm>
          <a:prstGeom prst="rect">
            <a:avLst/>
          </a:prstGeom>
        </p:spPr>
      </p:pic>
      <p:sp>
        <p:nvSpPr>
          <p:cNvPr id="17451" name="TextBox 17450"/>
          <p:cNvSpPr txBox="1"/>
          <p:nvPr/>
        </p:nvSpPr>
        <p:spPr>
          <a:xfrm>
            <a:off x="1664208"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200" b="0" i="0">
                <a:solidFill>
                  <a:srgbClr val="0070C0"/>
                </a:solidFill>
                <a:latin typeface="Arial"/>
              </a:rPr>
              <a:t>https://vidya-pramaan-sih26263.onrender.com</a:t>
            </a:r>
          </a:p>
          <a:p>
            <a:pPr algn="l"/>
            <a:r>
              <a:rPr sz="1050" b="0" i="0">
                <a:solidFill>
                  <a:srgbClr val="595959"/>
                </a:solidFill>
                <a:latin typeface="Arial"/>
              </a:rPr>
              <a:t>Synthetic data only · 7 demo roles · works on phones</a:t>
            </a:r>
          </a:p>
        </p:txBody>
      </p:sp>
      <p:pic>
        <p:nvPicPr>
          <p:cNvPr id="17452" name="Picture 17451" descr="qr_repo.png"/>
          <p:cNvPicPr>
            <a:picLocks noChangeAspect="1"/>
          </p:cNvPicPr>
          <p:nvPr/>
        </p:nvPicPr>
        <p:blipFill>
          <a:blip r:embed="rId5"/>
          <a:stretch>
            <a:fillRect/>
          </a:stretch>
        </p:blipFill>
        <p:spPr>
          <a:xfrm>
            <a:off x="6217920" y="5074920"/>
            <a:ext cx="1078992" cy="1078992"/>
          </a:xfrm>
          <a:prstGeom prst="rect">
            <a:avLst/>
          </a:prstGeom>
        </p:spPr>
      </p:pic>
      <p:sp>
        <p:nvSpPr>
          <p:cNvPr id="17453" name="TextBox 17452"/>
          <p:cNvSpPr txBox="1"/>
          <p:nvPr/>
        </p:nvSpPr>
        <p:spPr>
          <a:xfrm>
            <a:off x="7424927"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200" b="0" i="0">
                <a:solidFill>
                  <a:srgbClr val="0070C0"/>
                </a:solidFill>
                <a:latin typeface="Arial"/>
              </a:rPr>
              <a:t>https://github.com/Pulkitkh/VidyaPramaan</a:t>
            </a:r>
          </a:p>
          <a:p>
            <a:pPr algn="l"/>
            <a:r>
              <a:rPr sz="1050" b="0" i="0">
                <a:solidFill>
                  <a:srgbClr val="595959"/>
                </a:solidFill>
                <a:latin typeface="Arial"/>
              </a:rPr>
              <a:t>59 automated tests + browser walkthrough · MIT licence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