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29.6 lakh enrolments in AICTE institutions in 2025-26 and 24.25 crore APAAR IDs, yet AICTE today receives totals only. Excess admission costs five times the fee per student, and it surfaces in annual returns or inspections. Our flow is the one the problem statement asks for: upload, APAAR check, verification, central record, monitoring after every submission, consented verification. What is new is the per-student check against approved intake, which no existing national system makes, plus twin-safe name matching, ghost-admission rings, remembered decisions, signed audit checkpoints, sourced rules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We are explicit about what is simulated: there is no public APAAR API yet, so the registry lookup is a mock behind an adapter that switches to DigiLocker or API Setu after onboarding.</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These are measurements on synthetic data, and we say so. On 49 held-out name pairs: precision 0.79, recall 0.92, against 0.65 and 0.68 for our earlier matcher. None of the 80 seeded twin pairs is flagged; 2 of 12 held-out twin pairs are, and go to an officer, who decides. Real-world accuracy is the first thing the pilot measures. 65 tests on SQLite and PostgreSQL with 93% coverage, plus security and accessibility checks on every push.</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see problems at submission, institutions get explained errors, universities print APAAR on degrees, employers check a QR, students control access. Every item on the left is sourced: 42 excess seats times an 11 lakh fee times five is the 23.1 crore fine the Supreme Court upheld, national statistics arrive years late, and universities report APAAR mismatches this year. The benefits on the right are expected, not yet measured; the pilot measures them.</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The three QR codes open the five-minute demo video,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on this slide, with seven demo roles and synthetic data only. The five-minute narrated demo video shows every role end to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vidya-pramaan-sih26263.onrender.com" TargetMode="External"/><Relationship Id="rId6" Type="http://schemas.openxmlformats.org/officeDocument/2006/relationships/hyperlink" Target="https://youtu.be/eBwySqMs63Q" TargetMode="External"/><Relationship Id="rId7"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8.png"/><Relationship Id="rId8" Type="http://schemas.openxmlformats.org/officeDocument/2006/relationships/image" Target="../media/image10.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hyperlink" Target="https://vidya-pramaan-sih26263.onrender.com" TargetMode="External"/><Relationship Id="rId13" Type="http://schemas.openxmlformats.org/officeDocument/2006/relationships/hyperlink" Target="https://youtu.be/eBwySqMs63Q"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8.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19.png"/><Relationship Id="rId13" Type="http://schemas.openxmlformats.org/officeDocument/2006/relationships/image" Target="../media/image14.png"/><Relationship Id="rId14" Type="http://schemas.openxmlformats.org/officeDocument/2006/relationships/image" Target="../media/image26.png"/><Relationship Id="rId15"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youtu.be/eBwySqMs63Q" TargetMode="External"/><Relationship Id="rId6" Type="http://schemas.openxmlformats.org/officeDocument/2006/relationships/image" Target="../media/image21.png"/><Relationship Id="rId7" Type="http://schemas.openxmlformats.org/officeDocument/2006/relationships/hyperlink" Target="https://vidya-pramaan-sih26263.onrender.com" TargetMode="External"/><Relationship Id="rId8" Type="http://schemas.openxmlformats.org/officeDocument/2006/relationships/image" Target="../media/image39.png"/><Relationship Id="rId9" Type="http://schemas.openxmlformats.org/officeDocument/2006/relationships/hyperlink" Target="https://github.com/Pulkitkh/VidyaPrama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411480" y="5413248"/>
            <a:ext cx="5760720"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8640" y="5660136"/>
            <a:ext cx="694944" cy="6949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ShieldCheck_white.png"/>
          <p:cNvPicPr>
            <a:picLocks noChangeAspect="1"/>
          </p:cNvPicPr>
          <p:nvPr/>
        </p:nvPicPr>
        <p:blipFill>
          <a:blip r:embed="rId4"/>
          <a:stretch>
            <a:fillRect/>
          </a:stretch>
        </p:blipFill>
        <p:spPr>
          <a:xfrm>
            <a:off x="701527" y="5813023"/>
            <a:ext cx="389168" cy="389168"/>
          </a:xfrm>
          <a:prstGeom prst="rect">
            <a:avLst/>
          </a:prstGeom>
        </p:spPr>
      </p:pic>
      <p:sp>
        <p:nvSpPr>
          <p:cNvPr id="41" name="TextBox 40"/>
          <p:cNvSpPr txBox="1"/>
          <p:nvPr/>
        </p:nvSpPr>
        <p:spPr>
          <a:xfrm>
            <a:off x="1389888" y="5449824"/>
            <a:ext cx="4709160" cy="1115568"/>
          </a:xfrm>
          <a:prstGeom prst="rect">
            <a:avLst/>
          </a:prstGeom>
          <a:noFill/>
        </p:spPr>
        <p:txBody>
          <a:bodyPr wrap="square" lIns="45720" rIns="45720" tIns="18288" bIns="18288" anchor="ctr"/>
          <a:lstStyle/>
          <a:p>
            <a:pPr algn="l"/>
            <a:r>
              <a:rPr sz="2000" b="1" i="0">
                <a:solidFill>
                  <a:srgbClr val="1F3864"/>
                </a:solidFill>
                <a:latin typeface="Arial"/>
              </a:rPr>
              <a:t>VIDYA PRAMAAN</a:t>
            </a:r>
          </a:p>
          <a:p>
            <a:pPr algn="l"/>
            <a:r>
              <a:rPr sz="1200" b="0" i="0">
                <a:solidFill>
                  <a:srgbClr val="1A1A1A"/>
                </a:solidFill>
                <a:latin typeface="Arial"/>
              </a:rPr>
              <a:t>One student. One APAAR ID. One verifiable record.</a:t>
            </a:r>
          </a:p>
          <a:p>
            <a:pPr algn="l"/>
            <a:r>
              <a:rPr sz="1100" b="0" i="0">
                <a:solidFill>
                  <a:srgbClr val="595959"/>
                </a:solidFill>
                <a:latin typeface="Arial"/>
              </a:rPr>
              <a:t>Working prototype: </a:t>
            </a:r>
            <a:r>
              <a:rPr sz="1100" b="0" i="0">
                <a:solidFill>
                  <a:srgbClr val="0070C0"/>
                </a:solidFill>
                <a:latin typeface="Arial"/>
                <a:hlinkClick r:id="rId5"/>
              </a:rPr>
              <a:t>vidya-pramaan-sih26263.onrender.com</a:t>
            </a:r>
          </a:p>
          <a:p>
            <a:pPr algn="l"/>
            <a:r>
              <a:rPr sz="1100" b="0" i="0">
                <a:solidFill>
                  <a:srgbClr val="595959"/>
                </a:solidFill>
                <a:latin typeface="Arial"/>
              </a:rPr>
              <a:t>Demo video (5 min): </a:t>
            </a:r>
            <a:r>
              <a:rPr sz="1100" b="0" i="0">
                <a:solidFill>
                  <a:srgbClr val="0070C0"/>
                </a:solidFill>
                <a:latin typeface="Arial"/>
                <a:hlinkClick r:id="rId6"/>
              </a:rPr>
              <a:t>youtu.be/eBwySqMs63Q</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011680" y="731520"/>
            <a:ext cx="8138160" cy="310896"/>
          </a:xfrm>
          <a:prstGeom prst="rect">
            <a:avLst/>
          </a:prstGeom>
          <a:noFill/>
        </p:spPr>
        <p:txBody>
          <a:bodyPr wrap="square" lIns="45720" rIns="45720" tIns="18288" bIns="18288" anchor="ctr"/>
          <a:lstStyle/>
          <a:p>
            <a:pPr algn="ctr"/>
            <a:r>
              <a:rPr sz="1200" b="1" i="0">
                <a:solidFill>
                  <a:srgbClr val="1F3864"/>
                </a:solidFill>
                <a:latin typeface="Arial"/>
              </a:rPr>
              <a:t>29.6 lakh</a:t>
            </a:r>
            <a:r>
              <a:rPr sz="1200" b="0" i="0">
                <a:solidFill>
                  <a:srgbClr val="595959"/>
                </a:solidFill>
                <a:latin typeface="Arial"/>
              </a:rPr>
              <a:t> enrolments in AICTE institutions (2025-26)  ·  </a:t>
            </a:r>
            <a:r>
              <a:rPr sz="1200" b="1" i="0">
                <a:solidFill>
                  <a:srgbClr val="1F3864"/>
                </a:solidFill>
                <a:latin typeface="Arial"/>
              </a:rPr>
              <a:t>24.25 crore</a:t>
            </a:r>
            <a:r>
              <a:rPr sz="1200" b="0" i="0">
                <a:solidFill>
                  <a:srgbClr val="595959"/>
                </a:solidFill>
                <a:latin typeface="Arial"/>
              </a:rPr>
              <a:t> APAAR IDs issued (Mar 2026)</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858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206550" y="2004364"/>
            <a:ext cx="307238" cy="307238"/>
          </a:xfrm>
          <a:prstGeom prst="rect">
            <a:avLst/>
          </a:prstGeom>
        </p:spPr>
      </p:pic>
      <p:cxnSp>
        <p:nvCxnSpPr>
          <p:cNvPr id="15368" name="Connector 15367"/>
          <p:cNvCxnSpPr/>
          <p:nvPr/>
        </p:nvCxnSpPr>
        <p:spPr>
          <a:xfrm>
            <a:off x="172592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8323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103930" y="2004364"/>
            <a:ext cx="307238" cy="307238"/>
          </a:xfrm>
          <a:prstGeom prst="rect">
            <a:avLst/>
          </a:prstGeom>
        </p:spPr>
      </p:pic>
      <p:cxnSp>
        <p:nvCxnSpPr>
          <p:cNvPr id="15373" name="Connector 15372"/>
          <p:cNvCxnSpPr/>
          <p:nvPr/>
        </p:nvCxnSpPr>
        <p:spPr>
          <a:xfrm>
            <a:off x="362331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8060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5001310" y="2004364"/>
            <a:ext cx="307238" cy="307238"/>
          </a:xfrm>
          <a:prstGeom prst="rect">
            <a:avLst/>
          </a:prstGeom>
        </p:spPr>
      </p:pic>
      <p:cxnSp>
        <p:nvCxnSpPr>
          <p:cNvPr id="15378" name="Connector 15377"/>
          <p:cNvCxnSpPr/>
          <p:nvPr/>
        </p:nvCxnSpPr>
        <p:spPr>
          <a:xfrm>
            <a:off x="552069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7799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98690" y="2004364"/>
            <a:ext cx="307238" cy="307238"/>
          </a:xfrm>
          <a:prstGeom prst="rect">
            <a:avLst/>
          </a:prstGeom>
        </p:spPr>
      </p:pic>
      <p:cxnSp>
        <p:nvCxnSpPr>
          <p:cNvPr id="15383" name="Connector 15382"/>
          <p:cNvCxnSpPr/>
          <p:nvPr/>
        </p:nvCxnSpPr>
        <p:spPr>
          <a:xfrm>
            <a:off x="7418069" y="2157984"/>
            <a:ext cx="1165861"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7536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96070" y="2004364"/>
            <a:ext cx="307238" cy="307238"/>
          </a:xfrm>
          <a:prstGeom prst="rect">
            <a:avLst/>
          </a:prstGeom>
        </p:spPr>
      </p:pic>
      <p:cxnSp>
        <p:nvCxnSpPr>
          <p:cNvPr id="15388" name="Connector 15387"/>
          <p:cNvCxnSpPr/>
          <p:nvPr/>
        </p:nvCxnSpPr>
        <p:spPr>
          <a:xfrm>
            <a:off x="931544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after every submission</a:t>
            </a:r>
          </a:p>
        </p:txBody>
      </p:sp>
      <p:sp>
        <p:nvSpPr>
          <p:cNvPr id="15391" name="Oval 15390"/>
          <p:cNvSpPr/>
          <p:nvPr/>
        </p:nvSpPr>
        <p:spPr>
          <a:xfrm>
            <a:off x="105727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93450" y="2004364"/>
            <a:ext cx="307238" cy="307238"/>
          </a:xfrm>
          <a:prstGeom prst="rect">
            <a:avLst/>
          </a:prstGeom>
        </p:spPr>
      </p:pic>
      <p:sp>
        <p:nvSpPr>
          <p:cNvPr id="15393" name="TextBox 15392"/>
          <p:cNvSpPr txBox="1"/>
          <p:nvPr/>
        </p:nvSpPr>
        <p:spPr>
          <a:xfrm>
            <a:off x="98983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2962656"/>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E46C0A"/>
                </a:solidFill>
                <a:latin typeface="Arial"/>
              </a:rPr>
              <a:t>What is new  </a:t>
            </a:r>
            <a:r>
              <a:rPr sz="1200" b="0" i="0">
                <a:solidFill>
                  <a:srgbClr val="1A1A1A"/>
                </a:solidFill>
                <a:latin typeface="Arial"/>
              </a:rPr>
              <a:t>no national system checks each admission against approved intake. We add that check, on top of APAAR.</a:t>
            </a:r>
          </a:p>
        </p:txBody>
      </p:sp>
      <p:sp>
        <p:nvSpPr>
          <p:cNvPr id="15396" name="Rounded Rectangle 15395"/>
          <p:cNvSpPr/>
          <p:nvPr/>
        </p:nvSpPr>
        <p:spPr>
          <a:xfrm>
            <a:off x="320040" y="3328416"/>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7" name="Rounded Rectangle 15396"/>
          <p:cNvSpPr/>
          <p:nvPr/>
        </p:nvSpPr>
        <p:spPr>
          <a:xfrm>
            <a:off x="320040" y="373075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AICTE gets only totals (PS)</a:t>
            </a:r>
          </a:p>
        </p:txBody>
      </p:sp>
      <p:cxnSp>
        <p:nvCxnSpPr>
          <p:cNvPr id="15398" name="Connector 15397"/>
          <p:cNvCxnSpPr/>
          <p:nvPr/>
        </p:nvCxnSpPr>
        <p:spPr>
          <a:xfrm>
            <a:off x="2880360" y="400507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9" name="Rounded Rectangle 15398"/>
          <p:cNvSpPr/>
          <p:nvPr/>
        </p:nvSpPr>
        <p:spPr>
          <a:xfrm>
            <a:off x="3383280" y="373075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Student-level records on APAAR</a:t>
            </a:r>
          </a:p>
        </p:txBody>
      </p:sp>
      <p:sp>
        <p:nvSpPr>
          <p:cNvPr id="15400" name="Rounded Rectangle 15399"/>
          <p:cNvSpPr/>
          <p:nvPr/>
        </p:nvSpPr>
        <p:spPr>
          <a:xfrm>
            <a:off x="320040" y="437083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Excess seat: 5× fee fine each (APH)</a:t>
            </a:r>
          </a:p>
        </p:txBody>
      </p:sp>
      <p:cxnSp>
        <p:nvCxnSpPr>
          <p:cNvPr id="15401" name="Connector 15400"/>
          <p:cNvCxnSpPr/>
          <p:nvPr/>
        </p:nvCxnSpPr>
        <p:spPr>
          <a:xfrm>
            <a:off x="2880360" y="464515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2" name="Rounded Rectangle 15401"/>
          <p:cNvSpPr/>
          <p:nvPr/>
        </p:nvSpPr>
        <p:spPr>
          <a:xfrm>
            <a:off x="3383280" y="437083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Seat #61 of 60 refused at upload</a:t>
            </a:r>
          </a:p>
        </p:txBody>
      </p:sp>
      <p:sp>
        <p:nvSpPr>
          <p:cNvPr id="15403" name="Rounded Rectangle 15402"/>
          <p:cNvSpPr/>
          <p:nvPr/>
        </p:nvSpPr>
        <p:spPr>
          <a:xfrm>
            <a:off x="320040" y="50109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Same student at two colleges</a:t>
            </a:r>
          </a:p>
        </p:txBody>
      </p:sp>
      <p:cxnSp>
        <p:nvCxnSpPr>
          <p:cNvPr id="15404" name="Connector 15403"/>
          <p:cNvCxnSpPr/>
          <p:nvPr/>
        </p:nvCxnSpPr>
        <p:spPr>
          <a:xfrm>
            <a:off x="2880360" y="52852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5" name="Rounded Rectangle 15404"/>
          <p:cNvSpPr/>
          <p:nvPr/>
        </p:nvSpPr>
        <p:spPr>
          <a:xfrm>
            <a:off x="3383280" y="50109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Cross-college match + contact rings</a:t>
            </a:r>
          </a:p>
        </p:txBody>
      </p:sp>
      <p:sp>
        <p:nvSpPr>
          <p:cNvPr id="15406" name="Rounded Rectangle 15405"/>
          <p:cNvSpPr/>
          <p:nvPr/>
        </p:nvSpPr>
        <p:spPr>
          <a:xfrm>
            <a:off x="320040" y="565099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Hard to verify at source (PS)</a:t>
            </a:r>
          </a:p>
        </p:txBody>
      </p:sp>
      <p:cxnSp>
        <p:nvCxnSpPr>
          <p:cNvPr id="15407" name="Connector 15406"/>
          <p:cNvCxnSpPr/>
          <p:nvPr/>
        </p:nvCxnSpPr>
        <p:spPr>
          <a:xfrm>
            <a:off x="2880360" y="592531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8" name="Rounded Rectangle 15407"/>
          <p:cNvSpPr/>
          <p:nvPr/>
        </p:nvSpPr>
        <p:spPr>
          <a:xfrm>
            <a:off x="3383280" y="565099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Signed QR, checks offline</a:t>
            </a:r>
          </a:p>
        </p:txBody>
      </p:sp>
      <p:sp>
        <p:nvSpPr>
          <p:cNvPr id="15409" name="Rounded Rectangle 15408"/>
          <p:cNvSpPr/>
          <p:nvPr/>
        </p:nvSpPr>
        <p:spPr>
          <a:xfrm>
            <a:off x="6217920" y="3328416"/>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10" name="Rounded Rectangle 15409"/>
          <p:cNvSpPr/>
          <p:nvPr/>
        </p:nvSpPr>
        <p:spPr>
          <a:xfrm>
            <a:off x="621792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1" name="Oval 15410"/>
          <p:cNvSpPr/>
          <p:nvPr/>
        </p:nvSpPr>
        <p:spPr>
          <a:xfrm>
            <a:off x="689457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2" name="Picture 15411" descr="LuUsers2_white.png"/>
          <p:cNvPicPr>
            <a:picLocks noChangeAspect="1"/>
          </p:cNvPicPr>
          <p:nvPr/>
        </p:nvPicPr>
        <p:blipFill>
          <a:blip r:embed="rId10"/>
          <a:stretch>
            <a:fillRect/>
          </a:stretch>
        </p:blipFill>
        <p:spPr>
          <a:xfrm>
            <a:off x="6995160" y="3904488"/>
            <a:ext cx="256032" cy="256032"/>
          </a:xfrm>
          <a:prstGeom prst="rect">
            <a:avLst/>
          </a:prstGeom>
        </p:spPr>
      </p:pic>
      <p:sp>
        <p:nvSpPr>
          <p:cNvPr id="15413" name="TextBox 15412"/>
          <p:cNvSpPr txBox="1"/>
          <p:nvPr/>
        </p:nvSpPr>
        <p:spPr>
          <a:xfrm>
            <a:off x="626364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4" name="TextBox 15413"/>
          <p:cNvSpPr txBox="1"/>
          <p:nvPr/>
        </p:nvSpPr>
        <p:spPr>
          <a:xfrm>
            <a:off x="626364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Mohd = Mohammed
Rohit ≠ Mohit</a:t>
            </a:r>
          </a:p>
        </p:txBody>
      </p:sp>
      <p:sp>
        <p:nvSpPr>
          <p:cNvPr id="15415" name="Rounded Rectangle 15414"/>
          <p:cNvSpPr/>
          <p:nvPr/>
        </p:nvSpPr>
        <p:spPr>
          <a:xfrm>
            <a:off x="813816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6" name="Oval 15415"/>
          <p:cNvSpPr/>
          <p:nvPr/>
        </p:nvSpPr>
        <p:spPr>
          <a:xfrm>
            <a:off x="881481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7" name="Picture 15416" descr="LuNetwork_white.png"/>
          <p:cNvPicPr>
            <a:picLocks noChangeAspect="1"/>
          </p:cNvPicPr>
          <p:nvPr/>
        </p:nvPicPr>
        <p:blipFill>
          <a:blip r:embed="rId11"/>
          <a:stretch>
            <a:fillRect/>
          </a:stretch>
        </p:blipFill>
        <p:spPr>
          <a:xfrm>
            <a:off x="8915400" y="3904488"/>
            <a:ext cx="256032" cy="256032"/>
          </a:xfrm>
          <a:prstGeom prst="rect">
            <a:avLst/>
          </a:prstGeom>
        </p:spPr>
      </p:pic>
      <p:sp>
        <p:nvSpPr>
          <p:cNvPr id="15418" name="TextBox 15417"/>
          <p:cNvSpPr txBox="1"/>
          <p:nvPr/>
        </p:nvSpPr>
        <p:spPr>
          <a:xfrm>
            <a:off x="818388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9" name="TextBox 15418"/>
          <p:cNvSpPr txBox="1"/>
          <p:nvPr/>
        </p:nvSpPr>
        <p:spPr>
          <a:xfrm>
            <a:off x="818388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1 phone, 8 students,
2 colleges</a:t>
            </a:r>
          </a:p>
        </p:txBody>
      </p:sp>
      <p:sp>
        <p:nvSpPr>
          <p:cNvPr id="15420" name="Rounded Rectangle 15419"/>
          <p:cNvSpPr/>
          <p:nvPr/>
        </p:nvSpPr>
        <p:spPr>
          <a:xfrm>
            <a:off x="1005840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1" name="Oval 15420"/>
          <p:cNvSpPr/>
          <p:nvPr/>
        </p:nvSpPr>
        <p:spPr>
          <a:xfrm>
            <a:off x="1073505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2" name="Picture 15421" descr="LuHistory_white.png"/>
          <p:cNvPicPr>
            <a:picLocks noChangeAspect="1"/>
          </p:cNvPicPr>
          <p:nvPr/>
        </p:nvPicPr>
        <p:blipFill>
          <a:blip r:embed="rId12"/>
          <a:stretch>
            <a:fillRect/>
          </a:stretch>
        </p:blipFill>
        <p:spPr>
          <a:xfrm>
            <a:off x="10835640" y="3904488"/>
            <a:ext cx="256032" cy="256032"/>
          </a:xfrm>
          <a:prstGeom prst="rect">
            <a:avLst/>
          </a:prstGeom>
        </p:spPr>
      </p:pic>
      <p:sp>
        <p:nvSpPr>
          <p:cNvPr id="15423" name="TextBox 15422"/>
          <p:cNvSpPr txBox="1"/>
          <p:nvPr/>
        </p:nvSpPr>
        <p:spPr>
          <a:xfrm>
            <a:off x="1010412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4" name="TextBox 15423"/>
          <p:cNvSpPr txBox="1"/>
          <p:nvPr/>
        </p:nvSpPr>
        <p:spPr>
          <a:xfrm>
            <a:off x="1010412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with a reason;
never re-flagged</a:t>
            </a:r>
          </a:p>
        </p:txBody>
      </p:sp>
      <p:sp>
        <p:nvSpPr>
          <p:cNvPr id="15425" name="Rounded Rectangle 15424"/>
          <p:cNvSpPr/>
          <p:nvPr/>
        </p:nvSpPr>
        <p:spPr>
          <a:xfrm>
            <a:off x="621792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6" name="Oval 15425"/>
          <p:cNvSpPr/>
          <p:nvPr/>
        </p:nvSpPr>
        <p:spPr>
          <a:xfrm>
            <a:off x="689457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7" name="Picture 15426" descr="LuStamp_white.png"/>
          <p:cNvPicPr>
            <a:picLocks noChangeAspect="1"/>
          </p:cNvPicPr>
          <p:nvPr/>
        </p:nvPicPr>
        <p:blipFill>
          <a:blip r:embed="rId13"/>
          <a:stretch>
            <a:fillRect/>
          </a:stretch>
        </p:blipFill>
        <p:spPr>
          <a:xfrm>
            <a:off x="6995160" y="5202936"/>
            <a:ext cx="256032" cy="256032"/>
          </a:xfrm>
          <a:prstGeom prst="rect">
            <a:avLst/>
          </a:prstGeom>
        </p:spPr>
      </p:pic>
      <p:sp>
        <p:nvSpPr>
          <p:cNvPr id="15428" name="TextBox 15427"/>
          <p:cNvSpPr txBox="1"/>
          <p:nvPr/>
        </p:nvSpPr>
        <p:spPr>
          <a:xfrm>
            <a:off x="626364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9" name="TextBox 15428"/>
          <p:cNvSpPr txBox="1"/>
          <p:nvPr/>
        </p:nvSpPr>
        <p:spPr>
          <a:xfrm>
            <a:off x="626364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history rewrites
detected</a:t>
            </a:r>
          </a:p>
        </p:txBody>
      </p:sp>
      <p:sp>
        <p:nvSpPr>
          <p:cNvPr id="15430" name="Rounded Rectangle 15429"/>
          <p:cNvSpPr/>
          <p:nvPr/>
        </p:nvSpPr>
        <p:spPr>
          <a:xfrm>
            <a:off x="813816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1" name="Oval 15430"/>
          <p:cNvSpPr/>
          <p:nvPr/>
        </p:nvSpPr>
        <p:spPr>
          <a:xfrm>
            <a:off x="881481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2" name="Picture 15431" descr="LuScale_white.png"/>
          <p:cNvPicPr>
            <a:picLocks noChangeAspect="1"/>
          </p:cNvPicPr>
          <p:nvPr/>
        </p:nvPicPr>
        <p:blipFill>
          <a:blip r:embed="rId14"/>
          <a:stretch>
            <a:fillRect/>
          </a:stretch>
        </p:blipFill>
        <p:spPr>
          <a:xfrm>
            <a:off x="8915400" y="5202936"/>
            <a:ext cx="256032" cy="256032"/>
          </a:xfrm>
          <a:prstGeom prst="rect">
            <a:avLst/>
          </a:prstGeom>
        </p:spPr>
      </p:pic>
      <p:sp>
        <p:nvSpPr>
          <p:cNvPr id="15433" name="TextBox 15432"/>
          <p:cNvSpPr txBox="1"/>
          <p:nvPr/>
        </p:nvSpPr>
        <p:spPr>
          <a:xfrm>
            <a:off x="818388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4" name="TextBox 15433"/>
          <p:cNvSpPr txBox="1"/>
          <p:nvPr/>
        </p:nvSpPr>
        <p:spPr>
          <a:xfrm>
            <a:off x="818388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sourced; unconfirmed
values only warn</a:t>
            </a:r>
          </a:p>
        </p:txBody>
      </p:sp>
      <p:sp>
        <p:nvSpPr>
          <p:cNvPr id="15435" name="Rounded Rectangle 15434"/>
          <p:cNvSpPr/>
          <p:nvPr/>
        </p:nvSpPr>
        <p:spPr>
          <a:xfrm>
            <a:off x="1005840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6" name="Oval 15435"/>
          <p:cNvSpPr/>
          <p:nvPr/>
        </p:nvSpPr>
        <p:spPr>
          <a:xfrm>
            <a:off x="1073505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7" name="Picture 15436" descr="LuGraduationCap_white.png"/>
          <p:cNvPicPr>
            <a:picLocks noChangeAspect="1"/>
          </p:cNvPicPr>
          <p:nvPr/>
        </p:nvPicPr>
        <p:blipFill>
          <a:blip r:embed="rId15"/>
          <a:stretch>
            <a:fillRect/>
          </a:stretch>
        </p:blipFill>
        <p:spPr>
          <a:xfrm>
            <a:off x="10835640" y="5202936"/>
            <a:ext cx="256032" cy="256032"/>
          </a:xfrm>
          <a:prstGeom prst="rect">
            <a:avLst/>
          </a:prstGeom>
        </p:spPr>
      </p:pic>
      <p:sp>
        <p:nvSpPr>
          <p:cNvPr id="15438" name="TextBox 15437"/>
          <p:cNvSpPr txBox="1"/>
          <p:nvPr/>
        </p:nvSpPr>
        <p:spPr>
          <a:xfrm>
            <a:off x="1010412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9" name="TextBox 15438"/>
          <p:cNvSpPr txBox="1"/>
          <p:nvPr/>
        </p:nvSpPr>
        <p:spPr>
          <a:xfrm>
            <a:off x="1010412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university print
feed +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did:web · AES-GCM</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788920"/>
            <a:ext cx="5266944" cy="1687601"/>
          </a:xfrm>
          <a:prstGeom prst="roundRect">
            <a:avLst>
              <a:gd name="adj" fmla="val 2167"/>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53000"/>
          <a:stretch>
            <a:fillRect/>
          </a:stretch>
        </p:blipFill>
        <p:spPr>
          <a:xfrm>
            <a:off x="6629400" y="2816352"/>
            <a:ext cx="5212080" cy="1632737"/>
          </a:xfrm>
          <a:prstGeom prst="rect">
            <a:avLst/>
          </a:prstGeom>
        </p:spPr>
      </p:pic>
      <p:sp>
        <p:nvSpPr>
          <p:cNvPr id="17468" name="TextBox 17467"/>
          <p:cNvSpPr txBox="1"/>
          <p:nvPr/>
        </p:nvSpPr>
        <p:spPr>
          <a:xfrm>
            <a:off x="6629400" y="4494809"/>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4778273"/>
            <a:ext cx="5266944" cy="822960"/>
          </a:xfrm>
          <a:prstGeom prst="roundRect">
            <a:avLst>
              <a:gd name="adj" fmla="val 1333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0" name="TextBox 17469"/>
          <p:cNvSpPr txBox="1"/>
          <p:nvPr/>
        </p:nvSpPr>
        <p:spPr>
          <a:xfrm>
            <a:off x="6675120" y="4814849"/>
            <a:ext cx="5138928" cy="256032"/>
          </a:xfrm>
          <a:prstGeom prst="rect">
            <a:avLst/>
          </a:prstGeom>
          <a:noFill/>
        </p:spPr>
        <p:txBody>
          <a:bodyPr wrap="square" lIns="45720" rIns="45720" tIns="18288" bIns="18288" anchor="ctr"/>
          <a:lstStyle/>
          <a:p>
            <a:pPr algn="l"/>
            <a:r>
              <a:rPr sz="1050" b="1" i="0">
                <a:solidFill>
                  <a:srgbClr val="1E7B3E"/>
                </a:solidFill>
                <a:latin typeface="Arial"/>
              </a:rPr>
              <a:t>Built: </a:t>
            </a:r>
            <a:r>
              <a:rPr sz="1050" b="0" i="0">
                <a:solidFill>
                  <a:srgbClr val="1A1A1A"/>
                </a:solidFill>
                <a:latin typeface="Arial"/>
              </a:rPr>
              <a:t>upload, 31 rules, scan, risk score, consent, signed QR, audit</a:t>
            </a:r>
          </a:p>
        </p:txBody>
      </p:sp>
      <p:sp>
        <p:nvSpPr>
          <p:cNvPr id="17471" name="TextBox 17470"/>
          <p:cNvSpPr txBox="1"/>
          <p:nvPr/>
        </p:nvSpPr>
        <p:spPr>
          <a:xfrm>
            <a:off x="6675120" y="5070881"/>
            <a:ext cx="5138928" cy="256032"/>
          </a:xfrm>
          <a:prstGeom prst="rect">
            <a:avLst/>
          </a:prstGeom>
          <a:noFill/>
        </p:spPr>
        <p:txBody>
          <a:bodyPr wrap="square" lIns="45720" rIns="45720" tIns="18288" bIns="18288" anchor="ctr"/>
          <a:lstStyle/>
          <a:p>
            <a:pPr algn="l"/>
            <a:r>
              <a:rPr sz="1050" b="1" i="0">
                <a:solidFill>
                  <a:srgbClr val="E46C0A"/>
                </a:solidFill>
                <a:latin typeface="Arial"/>
              </a:rPr>
              <a:t>Simulated (no public API yet): </a:t>
            </a:r>
            <a:r>
              <a:rPr sz="1050" b="0" i="0">
                <a:solidFill>
                  <a:srgbClr val="1A1A1A"/>
                </a:solidFill>
                <a:latin typeface="Arial"/>
              </a:rPr>
              <a:t>APAAR lookup, DigiLocker, portal sign-in</a:t>
            </a:r>
          </a:p>
        </p:txBody>
      </p:sp>
      <p:sp>
        <p:nvSpPr>
          <p:cNvPr id="17472" name="TextBox 17471"/>
          <p:cNvSpPr txBox="1"/>
          <p:nvPr/>
        </p:nvSpPr>
        <p:spPr>
          <a:xfrm>
            <a:off x="6675120" y="5326913"/>
            <a:ext cx="5138928" cy="256032"/>
          </a:xfrm>
          <a:prstGeom prst="rect">
            <a:avLst/>
          </a:prstGeom>
          <a:noFill/>
        </p:spPr>
        <p:txBody>
          <a:bodyPr wrap="square" lIns="45720" rIns="45720" tIns="18288" bIns="18288" anchor="ctr"/>
          <a:lstStyle/>
          <a:p>
            <a:pPr algn="l"/>
            <a:r>
              <a:rPr sz="1050" b="1" i="0">
                <a:solidFill>
                  <a:srgbClr val="0070C0"/>
                </a:solidFill>
                <a:latin typeface="Arial"/>
              </a:rPr>
              <a:t>Planned: </a:t>
            </a:r>
            <a:r>
              <a:rPr sz="1050" b="0" i="0">
                <a:solidFill>
                  <a:srgbClr val="1A1A1A"/>
                </a:solidFill>
                <a:latin typeface="Arial"/>
              </a:rPr>
              <a:t>API Setu / DigiLocker partner access, govt SSO, STQC audit</a:t>
            </a:r>
          </a:p>
        </p:txBody>
      </p:sp>
      <p:sp>
        <p:nvSpPr>
          <p:cNvPr id="17473" name="Rounded Rectangle 17472"/>
          <p:cNvSpPr/>
          <p:nvPr/>
        </p:nvSpPr>
        <p:spPr>
          <a:xfrm>
            <a:off x="6601968" y="5674385"/>
            <a:ext cx="5266944" cy="589254"/>
          </a:xfrm>
          <a:prstGeom prst="roundRect">
            <a:avLst>
              <a:gd name="adj" fmla="val 18621"/>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qr_live.png"/>
          <p:cNvPicPr>
            <a:picLocks noChangeAspect="1"/>
          </p:cNvPicPr>
          <p:nvPr/>
        </p:nvPicPr>
        <p:blipFill>
          <a:blip r:embed="rId11"/>
          <a:stretch>
            <a:fillRect/>
          </a:stretch>
        </p:blipFill>
        <p:spPr>
          <a:xfrm>
            <a:off x="6693408" y="5729249"/>
            <a:ext cx="479526" cy="479526"/>
          </a:xfrm>
          <a:prstGeom prst="rect">
            <a:avLst/>
          </a:prstGeom>
        </p:spPr>
      </p:pic>
      <p:sp>
        <p:nvSpPr>
          <p:cNvPr id="17475" name="TextBox 17474"/>
          <p:cNvSpPr txBox="1"/>
          <p:nvPr/>
        </p:nvSpPr>
        <p:spPr>
          <a:xfrm>
            <a:off x="7282662" y="5701817"/>
            <a:ext cx="4389120" cy="534390"/>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hlinkClick r:id="rId12"/>
              </a:rPr>
              <a:t>https://vidya-pramaan-sih26263.onrender.com</a:t>
            </a:r>
          </a:p>
          <a:p>
            <a:pPr algn="l"/>
            <a:r>
              <a:rPr sz="1050" b="0" i="0">
                <a:solidFill>
                  <a:srgbClr val="595959"/>
                </a:solidFill>
                <a:latin typeface="Arial"/>
              </a:rPr>
              <a:t>Demo video (5 min): </a:t>
            </a:r>
            <a:r>
              <a:rPr sz="1050" b="0" i="0">
                <a:solidFill>
                  <a:srgbClr val="0070C0"/>
                </a:solidFill>
                <a:latin typeface="Arial"/>
                <a:hlinkClick r:id="rId13"/>
              </a:rPr>
              <a:t>youtu.be/eBwySqMs63Q</a:t>
            </a:r>
            <a:r>
              <a:rPr sz="1050" b="0" i="0">
                <a:solidFill>
                  <a:srgbClr val="595959"/>
                </a:solidFill>
                <a:latin typeface="Arial"/>
              </a:rPr>
              <a:t> · 7 roles · synthetic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41690" y="1657258"/>
            <a:ext cx="215066" cy="215066"/>
          </a:xfrm>
          <a:prstGeom prst="rect">
            <a:avLst/>
          </a:prstGeom>
        </p:spPr>
      </p:pic>
      <p:sp>
        <p:nvSpPr>
          <p:cNvPr id="17414" name="TextBox 17413"/>
          <p:cNvSpPr txBox="1"/>
          <p:nvPr/>
        </p:nvSpPr>
        <p:spPr>
          <a:xfrm>
            <a:off x="88696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0.79 / 0.92</a:t>
            </a:r>
          </a:p>
        </p:txBody>
      </p:sp>
      <p:sp>
        <p:nvSpPr>
          <p:cNvPr id="17415" name="TextBox 17414"/>
          <p:cNvSpPr txBox="1"/>
          <p:nvPr/>
        </p:nvSpPr>
        <p:spPr>
          <a:xfrm>
            <a:off x="457200" y="2029968"/>
            <a:ext cx="1696212" cy="530352"/>
          </a:xfrm>
          <a:prstGeom prst="rect">
            <a:avLst/>
          </a:prstGeom>
          <a:noFill/>
        </p:spPr>
        <p:txBody>
          <a:bodyPr wrap="square" lIns="45720" rIns="45720" tIns="18288" bIns="18288" anchor="t"/>
          <a:lstStyle/>
          <a:p>
            <a:pPr algn="l"/>
            <a:r>
              <a:rPr sz="1100" b="0" i="0">
                <a:solidFill>
                  <a:srgbClr val="1A1A1A"/>
                </a:solidFill>
                <a:latin typeface="Arial"/>
              </a:rPr>
              <a:t>held-out precision / recall
(old matcher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6502" y="1657258"/>
            <a:ext cx="215066" cy="215066"/>
          </a:xfrm>
          <a:prstGeom prst="rect">
            <a:avLst/>
          </a:prstGeom>
        </p:spPr>
      </p:pic>
      <p:sp>
        <p:nvSpPr>
          <p:cNvPr id="17419" name="TextBox 17418"/>
          <p:cNvSpPr txBox="1"/>
          <p:nvPr/>
        </p:nvSpPr>
        <p:spPr>
          <a:xfrm>
            <a:off x="2811780"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0/80 · 2/12</a:t>
            </a:r>
          </a:p>
        </p:txBody>
      </p:sp>
      <p:sp>
        <p:nvSpPr>
          <p:cNvPr id="17420" name="TextBox 17419"/>
          <p:cNvSpPr txBox="1"/>
          <p:nvPr/>
        </p:nvSpPr>
        <p:spPr>
          <a:xfrm>
            <a:off x="2382012" y="2029968"/>
            <a:ext cx="1696212" cy="530352"/>
          </a:xfrm>
          <a:prstGeom prst="rect">
            <a:avLst/>
          </a:prstGeom>
          <a:noFill/>
        </p:spPr>
        <p:txBody>
          <a:bodyPr wrap="square" lIns="45720" rIns="45720" tIns="18288" bIns="18288" anchor="t"/>
          <a:lstStyle/>
          <a:p>
            <a:pPr algn="l"/>
            <a:r>
              <a:rPr sz="1100" b="0" i="0">
                <a:solidFill>
                  <a:srgbClr val="1A1A1A"/>
                </a:solidFill>
                <a:latin typeface="Arial"/>
              </a:rPr>
              <a:t>twins flagged:
seeded · held-out</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91314" y="1657258"/>
            <a:ext cx="215066" cy="215066"/>
          </a:xfrm>
          <a:prstGeom prst="rect">
            <a:avLst/>
          </a:prstGeom>
        </p:spPr>
      </p:pic>
      <p:sp>
        <p:nvSpPr>
          <p:cNvPr id="17424" name="TextBox 17423"/>
          <p:cNvSpPr txBox="1"/>
          <p:nvPr/>
        </p:nvSpPr>
        <p:spPr>
          <a:xfrm>
            <a:off x="4736592"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17/17</a:t>
            </a:r>
          </a:p>
        </p:txBody>
      </p:sp>
      <p:sp>
        <p:nvSpPr>
          <p:cNvPr id="17425" name="TextBox 17424"/>
          <p:cNvSpPr txBox="1"/>
          <p:nvPr/>
        </p:nvSpPr>
        <p:spPr>
          <a:xfrm>
            <a:off x="4306824" y="2029968"/>
            <a:ext cx="1696212" cy="530352"/>
          </a:xfrm>
          <a:prstGeom prst="rect">
            <a:avLst/>
          </a:prstGeom>
          <a:noFill/>
        </p:spPr>
        <p:txBody>
          <a:bodyPr wrap="square" lIns="45720" rIns="45720" tIns="18288" bIns="18288" anchor="t"/>
          <a:lstStyle/>
          <a:p>
            <a:pPr algn="l"/>
            <a:r>
              <a:rPr sz="1100" b="0" i="0">
                <a:solidFill>
                  <a:srgbClr val="1A1A1A"/>
                </a:solidFill>
                <a:latin typeface="Arial"/>
              </a:rPr>
              <a:t>error types caught;
0 false flags (56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6126" y="1657258"/>
            <a:ext cx="215066" cy="215066"/>
          </a:xfrm>
          <a:prstGeom prst="rect">
            <a:avLst/>
          </a:prstGeom>
        </p:spPr>
      </p:pic>
      <p:sp>
        <p:nvSpPr>
          <p:cNvPr id="17429" name="TextBox 17428"/>
          <p:cNvSpPr txBox="1"/>
          <p:nvPr/>
        </p:nvSpPr>
        <p:spPr>
          <a:xfrm>
            <a:off x="6661403"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164 · 57 · 4</a:t>
            </a:r>
          </a:p>
        </p:txBody>
      </p:sp>
      <p:sp>
        <p:nvSpPr>
          <p:cNvPr id="17430" name="TextBox 17429"/>
          <p:cNvSpPr txBox="1"/>
          <p:nvPr/>
        </p:nvSpPr>
        <p:spPr>
          <a:xfrm>
            <a:off x="6231636" y="2029968"/>
            <a:ext cx="1696212" cy="530352"/>
          </a:xfrm>
          <a:prstGeom prst="rect">
            <a:avLst/>
          </a:prstGeom>
          <a:noFill/>
        </p:spPr>
        <p:txBody>
          <a:bodyPr wrap="square" lIns="45720" rIns="45720" tIns="18288" bIns="18288" anchor="t"/>
          <a:lstStyle/>
          <a:p>
            <a:pPr algn="l"/>
            <a:r>
              <a:rPr sz="1100" b="0" i="0">
                <a:solidFill>
                  <a:srgbClr val="1A1A1A"/>
                </a:solidFill>
                <a:latin typeface="Arial"/>
              </a:rPr>
              <a:t>dual enrolments · ID
dupes ·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40938" y="1657258"/>
            <a:ext cx="215066" cy="215066"/>
          </a:xfrm>
          <a:prstGeom prst="rect">
            <a:avLst/>
          </a:prstGeom>
        </p:spPr>
      </p:pic>
      <p:sp>
        <p:nvSpPr>
          <p:cNvPr id="17434" name="TextBox 17433"/>
          <p:cNvSpPr txBox="1"/>
          <p:nvPr/>
        </p:nvSpPr>
        <p:spPr>
          <a:xfrm>
            <a:off x="8586215"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42/46</a:t>
            </a:r>
          </a:p>
        </p:txBody>
      </p:sp>
      <p:sp>
        <p:nvSpPr>
          <p:cNvPr id="17435" name="TextBox 17434"/>
          <p:cNvSpPr txBox="1"/>
          <p:nvPr/>
        </p:nvSpPr>
        <p:spPr>
          <a:xfrm>
            <a:off x="8156448" y="2029968"/>
            <a:ext cx="1696212" cy="530352"/>
          </a:xfrm>
          <a:prstGeom prst="rect">
            <a:avLst/>
          </a:prstGeom>
          <a:noFill/>
        </p:spPr>
        <p:txBody>
          <a:bodyPr wrap="square" lIns="45720" rIns="45720" tIns="18288" bIns="18288" anchor="t"/>
          <a:lstStyle/>
          <a:p>
            <a:pPr algn="l"/>
            <a:r>
              <a:rPr sz="1100" b="0" i="0">
                <a:solidFill>
                  <a:srgbClr val="1A1A1A"/>
                </a:solidFill>
                <a:latin typeface="Arial"/>
              </a:rPr>
              <a:t>top-ranked colleges
were planted ones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5750" y="1657258"/>
            <a:ext cx="215066" cy="215066"/>
          </a:xfrm>
          <a:prstGeom prst="rect">
            <a:avLst/>
          </a:prstGeom>
        </p:spPr>
      </p:pic>
      <p:sp>
        <p:nvSpPr>
          <p:cNvPr id="17439" name="TextBox 17438"/>
          <p:cNvSpPr txBox="1"/>
          <p:nvPr/>
        </p:nvSpPr>
        <p:spPr>
          <a:xfrm>
            <a:off x="1051102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65 tests</a:t>
            </a:r>
          </a:p>
        </p:txBody>
      </p:sp>
      <p:sp>
        <p:nvSpPr>
          <p:cNvPr id="17440" name="TextBox 17439"/>
          <p:cNvSpPr txBox="1"/>
          <p:nvPr/>
        </p:nvSpPr>
        <p:spPr>
          <a:xfrm>
            <a:off x="10081260" y="2029968"/>
            <a:ext cx="1696212" cy="530352"/>
          </a:xfrm>
          <a:prstGeom prst="rect">
            <a:avLst/>
          </a:prstGeom>
          <a:noFill/>
        </p:spPr>
        <p:txBody>
          <a:bodyPr wrap="square" lIns="45720" rIns="45720" tIns="18288" bIns="18288" anchor="t"/>
          <a:lstStyle/>
          <a:p>
            <a:pPr algn="l"/>
            <a:r>
              <a:rPr sz="1100" b="0" i="0">
                <a:solidFill>
                  <a:srgbClr val="1A1A1A"/>
                </a:solidFill>
                <a:latin typeface="Arial"/>
              </a:rPr>
              <a:t>93% coverage;
security + WCAG in CI</a:t>
            </a:r>
          </a:p>
        </p:txBody>
      </p:sp>
      <p:sp>
        <p:nvSpPr>
          <p:cNvPr id="17441" name="Rounded Rectangle 17440"/>
          <p:cNvSpPr/>
          <p:nvPr/>
        </p:nvSpPr>
        <p:spPr>
          <a:xfrm>
            <a:off x="320040" y="2624328"/>
            <a:ext cx="11548872" cy="292608"/>
          </a:xfrm>
          <a:prstGeom prst="roundRect">
            <a:avLst>
              <a:gd name="adj" fmla="val 1875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All synthetic data: </a:t>
            </a:r>
            <a:r>
              <a:rPr sz="1200" b="0" i="0">
                <a:solidFill>
                  <a:srgbClr val="1A1A1A"/>
                </a:solidFill>
                <a:latin typeface="Arial"/>
              </a:rPr>
              <a:t>regression checks, not real-world accuracy (the pilot measures that). An officer decides every flag.</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20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Adapter: mock now → DigiLocker / API Setu</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20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Provisional ID; never rejected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200" b="1" i="0">
                <a:solidFill>
                  <a:srgbClr val="1A1A1A"/>
                </a:solidFill>
                <a:latin typeface="Arial"/>
              </a:rPr>
              <a:t>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Field-level consent; contacts encrypted; no Aadhaar</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200" b="1" i="0">
                <a:solidFill>
                  <a:srgbClr val="1A1A1A"/>
                </a:solidFill>
                <a:latin typeface="Arial"/>
              </a:rPr>
              <a:t>Wrong flags: twins, spellings, bad data</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Reasons shown; officer decides; decision kept</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200" b="1" i="0">
                <a:solidFill>
                  <a:srgbClr val="1A1A1A"/>
                </a:solidFill>
                <a:latin typeface="Arial"/>
              </a:rPr>
              <a:t>Rules change; some values unconfirmed</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Rules file per year; unconfirmed values only warn</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200" b="1" i="0">
                <a:solidFill>
                  <a:srgbClr val="1A1A1A"/>
                </a:solidFill>
                <a:latin typeface="Arial"/>
              </a:rPr>
              <a:t>Varied 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Headers auto-mapped; Excel template; Hindi; phone</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100" b="1" i="0">
                <a:solidFill>
                  <a:srgbClr val="E46C0A"/>
                </a:solidFill>
                <a:latin typeface="Arial"/>
              </a:rPr>
              <a:t>Roadmap  </a:t>
            </a:r>
            <a:r>
              <a:rPr sz="1100" b="0" i="0">
                <a:solidFill>
                  <a:srgbClr val="1A1A1A"/>
                </a:solidFill>
                <a:latin typeface="Arial"/>
              </a:rPr>
              <a:t>M1–3 pilot: 1 state, 50 colleges, measure hours saved → M4–6 API Setu, SSO, STQC → M7–12 national   </a:t>
            </a:r>
            <a:r>
              <a:rPr sz="1100" b="1" i="0">
                <a:solidFill>
                  <a:srgbClr val="E46C0A"/>
                </a:solidFill>
                <a:latin typeface="Arial"/>
              </a:rPr>
              <a:t>Cost  </a:t>
            </a:r>
            <a:r>
              <a:rPr sz="1100" b="0" i="0">
                <a:solidFill>
                  <a:srgbClr val="1A1A1A"/>
                </a:solidFill>
                <a:latin typeface="Arial"/>
              </a:rPr>
              <a:t>no licence fees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excess and dual
enrolment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one upload;
errors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APAAR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QR check;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100" b="0" i="0">
                <a:solidFill>
                  <a:srgbClr val="1A1A1A"/>
                </a:solidFill>
                <a:latin typeface="Arial"/>
              </a:rPr>
              <a:t>control who
sees their record</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200" b="1" i="0">
                <a:solidFill>
                  <a:srgbClr val="B42B2B"/>
                </a:solidFill>
                <a:latin typeface="Arial"/>
              </a:rPr>
              <a:t>Today</a:t>
            </a:r>
          </a:p>
        </p:txBody>
      </p:sp>
      <p:sp>
        <p:nvSpPr>
          <p:cNvPr id="17446" name="TextBox 17445"/>
          <p:cNvSpPr txBox="1"/>
          <p:nvPr/>
        </p:nvSpPr>
        <p:spPr>
          <a:xfrm>
            <a:off x="393192" y="4736592"/>
            <a:ext cx="1865376" cy="1426464"/>
          </a:xfrm>
          <a:prstGeom prst="rect">
            <a:avLst/>
          </a:prstGeom>
          <a:noFill/>
        </p:spPr>
        <p:txBody>
          <a:bodyPr wrap="square" lIns="45720" rIns="45720" tIns="18288" bIns="18288" anchor="t"/>
          <a:lstStyle/>
          <a:p>
            <a:pPr algn="l">
              <a:spcAft>
                <a:spcPts val="400"/>
              </a:spcAft>
            </a:pPr>
            <a:r>
              <a:rPr sz="1100" b="1" i="0">
                <a:solidFill>
                  <a:srgbClr val="B42B2B"/>
                </a:solidFill>
                <a:latin typeface="Arial"/>
              </a:rPr>
              <a:t>✖ </a:t>
            </a:r>
            <a:r>
              <a:rPr sz="1100" b="0" i="0">
                <a:solidFill>
                  <a:srgbClr val="1A1A1A"/>
                </a:solidFill>
                <a:latin typeface="Arial"/>
              </a:rPr>
              <a:t>₹23.1 cr fine: 42 seats × ₹11 lakh × 5 (SC, 2019)</a:t>
            </a:r>
          </a:p>
          <a:p>
            <a:pPr algn="l">
              <a:spcAft>
                <a:spcPts val="400"/>
              </a:spcAft>
            </a:pPr>
            <a:r>
              <a:rPr sz="1100" b="1" i="0">
                <a:solidFill>
                  <a:srgbClr val="B42B2B"/>
                </a:solidFill>
                <a:latin typeface="Arial"/>
              </a:rPr>
              <a:t>✖ </a:t>
            </a:r>
            <a:r>
              <a:rPr sz="1100" b="0" i="0">
                <a:solidFill>
                  <a:srgbClr val="1A1A1A"/>
                </a:solidFill>
                <a:latin typeface="Arial"/>
              </a:rPr>
              <a:t>AISHE 2022-23 data out in 2026</a:t>
            </a:r>
          </a:p>
          <a:p>
            <a:pPr algn="l">
              <a:spcAft>
                <a:spcPts val="400"/>
              </a:spcAft>
            </a:pPr>
            <a:r>
              <a:rPr sz="1100" b="1" i="0">
                <a:solidFill>
                  <a:srgbClr val="B42B2B"/>
                </a:solidFill>
                <a:latin typeface="Arial"/>
              </a:rPr>
              <a:t>✖ </a:t>
            </a:r>
            <a:r>
              <a:rPr sz="1100" b="0" i="0">
                <a:solidFill>
                  <a:srgbClr val="1A1A1A"/>
                </a:solidFill>
                <a:latin typeface="Arial"/>
              </a:rPr>
              <a:t>APAAR–Aadhaar mismatches (CU Srinagar, 2026)</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200" b="1" i="0">
                <a:solidFill>
                  <a:srgbClr val="1E7B3E"/>
                </a:solidFill>
                <a:latin typeface="Arial"/>
              </a:rPr>
              <a:t>With Vidya Pramaan</a:t>
            </a:r>
          </a:p>
        </p:txBody>
      </p:sp>
      <p:sp>
        <p:nvSpPr>
          <p:cNvPr id="17449" name="TextBox 17448"/>
          <p:cNvSpPr txBox="1"/>
          <p:nvPr/>
        </p:nvSpPr>
        <p:spPr>
          <a:xfrm>
            <a:off x="4389120" y="4736592"/>
            <a:ext cx="1892807" cy="1426464"/>
          </a:xfrm>
          <a:prstGeom prst="rect">
            <a:avLst/>
          </a:prstGeom>
          <a:noFill/>
        </p:spPr>
        <p:txBody>
          <a:bodyPr wrap="square" lIns="45720" rIns="45720" tIns="18288" bIns="18288" anchor="t"/>
          <a:lstStyle/>
          <a:p>
            <a:pPr algn="l">
              <a:spcAft>
                <a:spcPts val="400"/>
              </a:spcAft>
            </a:pPr>
            <a:r>
              <a:rPr sz="1100" b="1" i="0">
                <a:solidFill>
                  <a:srgbClr val="1E7B3E"/>
                </a:solidFill>
                <a:latin typeface="Arial"/>
              </a:rPr>
              <a:t>✔ </a:t>
            </a:r>
            <a:r>
              <a:rPr sz="1100" b="0" i="0">
                <a:solidFill>
                  <a:srgbClr val="1A1A1A"/>
                </a:solidFill>
                <a:latin typeface="Arial"/>
              </a:rPr>
              <a:t>Seat #61 of 60 refused at upload</a:t>
            </a:r>
          </a:p>
          <a:p>
            <a:pPr algn="l">
              <a:spcAft>
                <a:spcPts val="400"/>
              </a:spcAft>
            </a:pPr>
            <a:r>
              <a:rPr sz="1100" b="1" i="0">
                <a:solidFill>
                  <a:srgbClr val="1E7B3E"/>
                </a:solidFill>
                <a:latin typeface="Arial"/>
              </a:rPr>
              <a:t>✔ </a:t>
            </a:r>
            <a:r>
              <a:rPr sz="1100" b="0" i="0">
                <a:solidFill>
                  <a:srgbClr val="1A1A1A"/>
                </a:solidFill>
                <a:latin typeface="Arial"/>
              </a:rPr>
              <a:t>National view after each submission</a:t>
            </a:r>
          </a:p>
          <a:p>
            <a:pPr algn="l">
              <a:spcAft>
                <a:spcPts val="400"/>
              </a:spcAft>
            </a:pPr>
            <a:r>
              <a:rPr sz="1100" b="1" i="0">
                <a:solidFill>
                  <a:srgbClr val="1E7B3E"/>
                </a:solidFill>
                <a:latin typeface="Arial"/>
              </a:rPr>
              <a:t>✔ </a:t>
            </a:r>
            <a:r>
              <a:rPr sz="1100" b="0" i="0">
                <a:solidFill>
                  <a:srgbClr val="1A1A1A"/>
                </a:solidFill>
                <a:latin typeface="Arial"/>
              </a:rPr>
              <a:t>Mismatch returned with its reason</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57276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673352"/>
            <a:ext cx="256032" cy="256032"/>
          </a:xfrm>
          <a:prstGeom prst="rect">
            <a:avLst/>
          </a:prstGeom>
        </p:spPr>
      </p:pic>
      <p:sp>
        <p:nvSpPr>
          <p:cNvPr id="17454" name="TextBox 17453"/>
          <p:cNvSpPr txBox="1"/>
          <p:nvPr/>
        </p:nvSpPr>
        <p:spPr>
          <a:xfrm>
            <a:off x="724204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APAAR opt-outs never
refused (SC, 2026)</a:t>
            </a:r>
          </a:p>
        </p:txBody>
      </p:sp>
      <p:sp>
        <p:nvSpPr>
          <p:cNvPr id="17456" name="Rounded Rectangle 17455"/>
          <p:cNvSpPr/>
          <p:nvPr/>
        </p:nvSpPr>
        <p:spPr>
          <a:xfrm>
            <a:off x="928116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57276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673352"/>
            <a:ext cx="256032" cy="256032"/>
          </a:xfrm>
          <a:prstGeom prst="rect">
            <a:avLst/>
          </a:prstGeom>
        </p:spPr>
      </p:pic>
      <p:sp>
        <p:nvSpPr>
          <p:cNvPr id="17459" name="TextBox 17458"/>
          <p:cNvSpPr txBox="1"/>
          <p:nvPr/>
        </p:nvSpPr>
        <p:spPr>
          <a:xfrm>
            <a:off x="993952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no licence fees; one upload
serves AICTE + university</a:t>
            </a:r>
          </a:p>
        </p:txBody>
      </p:sp>
      <p:sp>
        <p:nvSpPr>
          <p:cNvPr id="17461" name="Rounded Rectangle 17460"/>
          <p:cNvSpPr/>
          <p:nvPr/>
        </p:nvSpPr>
        <p:spPr>
          <a:xfrm>
            <a:off x="658368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83464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2935224"/>
            <a:ext cx="256032" cy="256032"/>
          </a:xfrm>
          <a:prstGeom prst="rect">
            <a:avLst/>
          </a:prstGeom>
        </p:spPr>
      </p:pic>
      <p:sp>
        <p:nvSpPr>
          <p:cNvPr id="17464" name="TextBox 17463"/>
          <p:cNvSpPr txBox="1"/>
          <p:nvPr/>
        </p:nvSpPr>
        <p:spPr>
          <a:xfrm>
            <a:off x="724204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fewer paper returns
and letters</a:t>
            </a:r>
          </a:p>
        </p:txBody>
      </p:sp>
      <p:sp>
        <p:nvSpPr>
          <p:cNvPr id="17466" name="Rounded Rectangle 17465"/>
          <p:cNvSpPr/>
          <p:nvPr/>
        </p:nvSpPr>
        <p:spPr>
          <a:xfrm>
            <a:off x="928116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83464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2935224"/>
            <a:ext cx="256032" cy="256032"/>
          </a:xfrm>
          <a:prstGeom prst="rect">
            <a:avLst/>
          </a:prstGeom>
        </p:spPr>
      </p:pic>
      <p:sp>
        <p:nvSpPr>
          <p:cNvPr id="17469" name="TextBox 17468"/>
          <p:cNvSpPr txBox="1"/>
          <p:nvPr/>
        </p:nvSpPr>
        <p:spPr>
          <a:xfrm>
            <a:off x="993952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audited evidence
pack for show-cause</a:t>
            </a:r>
          </a:p>
        </p:txBody>
      </p:sp>
      <p:sp>
        <p:nvSpPr>
          <p:cNvPr id="17471" name="TextBox 17470"/>
          <p:cNvSpPr txBox="1"/>
          <p:nvPr/>
        </p:nvSpPr>
        <p:spPr>
          <a:xfrm>
            <a:off x="6583680" y="3931920"/>
            <a:ext cx="5285232" cy="237744"/>
          </a:xfrm>
          <a:prstGeom prst="rect">
            <a:avLst/>
          </a:prstGeom>
          <a:noFill/>
        </p:spPr>
        <p:txBody>
          <a:bodyPr wrap="square" lIns="45720" rIns="45720" tIns="18288" bIns="18288" anchor="ctr"/>
          <a:lstStyle/>
          <a:p>
            <a:pPr algn="ctr"/>
            <a:r>
              <a:rPr sz="1100" b="0" i="0">
                <a:solidFill>
                  <a:srgbClr val="595959"/>
                </a:solidFill>
                <a:latin typeface="Arial"/>
              </a:rPr>
              <a:t>Expected benefits; the pilot measures them.</a:t>
            </a:r>
          </a:p>
        </p:txBody>
      </p:sp>
      <p:sp>
        <p:nvSpPr>
          <p:cNvPr id="17472" name="Rounded Rectangle 17471"/>
          <p:cNvSpPr/>
          <p:nvPr/>
        </p:nvSpPr>
        <p:spPr>
          <a:xfrm>
            <a:off x="6601968" y="4306824"/>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3" name="Picture 17472" descr="25_certificate.png"/>
          <p:cNvPicPr>
            <a:picLocks noChangeAspect="1"/>
          </p:cNvPicPr>
          <p:nvPr/>
        </p:nvPicPr>
        <p:blipFill>
          <a:blip r:embed="rId13"/>
          <a:srcRect/>
          <a:stretch>
            <a:fillRect/>
          </a:stretch>
        </p:blipFill>
        <p:spPr>
          <a:xfrm>
            <a:off x="6629400" y="4334256"/>
            <a:ext cx="2286000" cy="1616363"/>
          </a:xfrm>
          <a:prstGeom prst="rect">
            <a:avLst/>
          </a:prstGeom>
        </p:spPr>
      </p:pic>
      <p:sp>
        <p:nvSpPr>
          <p:cNvPr id="17474" name="Rounded Rectangle 17473"/>
          <p:cNvSpPr/>
          <p:nvPr/>
        </p:nvSpPr>
        <p:spPr>
          <a:xfrm>
            <a:off x="9235440" y="4306824"/>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5" name="Picture 17474" descr="23_public_qr_verified.png"/>
          <p:cNvPicPr>
            <a:picLocks noChangeAspect="1"/>
          </p:cNvPicPr>
          <p:nvPr/>
        </p:nvPicPr>
        <p:blipFill>
          <a:blip r:embed="rId14"/>
          <a:srcRect l="17000" t="46000" r="51000" b="29000"/>
          <a:stretch>
            <a:fillRect/>
          </a:stretch>
        </p:blipFill>
        <p:spPr>
          <a:xfrm>
            <a:off x="9262872" y="4334256"/>
            <a:ext cx="2578608" cy="1259085"/>
          </a:xfrm>
          <a:prstGeom prst="rect">
            <a:avLst/>
          </a:prstGeom>
        </p:spPr>
      </p:pic>
      <p:sp>
        <p:nvSpPr>
          <p:cNvPr id="17476" name="TextBox 17475"/>
          <p:cNvSpPr txBox="1"/>
          <p:nvPr/>
        </p:nvSpPr>
        <p:spPr>
          <a:xfrm>
            <a:off x="6583680" y="5996339"/>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7" name="TextBox 17476"/>
          <p:cNvSpPr txBox="1"/>
          <p:nvPr/>
        </p:nvSpPr>
        <p:spPr>
          <a:xfrm>
            <a:off x="9235440" y="5639061"/>
            <a:ext cx="2633472" cy="237744"/>
          </a:xfrm>
          <a:prstGeom prst="rect">
            <a:avLst/>
          </a:prstGeom>
          <a:noFill/>
        </p:spPr>
        <p:txBody>
          <a:bodyPr wrap="square" lIns="45720" rIns="45720" tIns="18288" bIns="18288" anchor="ctr"/>
          <a:lstStyle/>
          <a:p>
            <a:pPr algn="ctr"/>
            <a:r>
              <a:rPr sz="1050" b="0" i="0">
                <a:solidFill>
                  <a:srgbClr val="595959"/>
                </a:solidFill>
                <a:latin typeface="Arial"/>
              </a:rPr>
              <a:t>QR: on-device check + revocation list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50" b="0" i="0">
                <a:solidFill>
                  <a:srgbClr val="595959"/>
                </a:solidFill>
                <a:latin typeface="Arial"/>
              </a:rPr>
              <a:t>totals, 2–3 yrs late</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950" b="1" i="0">
                <a:solidFill>
                  <a:srgbClr val="1E7B3E"/>
                </a:solidFill>
                <a:latin typeface="Arial"/>
              </a:rPr>
              <a:t>✔ per upload</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5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5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5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566928"/>
          </a:xfrm>
          <a:prstGeom prst="rect">
            <a:avLst/>
          </a:prstGeom>
          <a:noFill/>
        </p:spPr>
        <p:txBody>
          <a:bodyPr wrap="square" lIns="45720" rIns="45720" tIns="18288" bIns="18288" anchor="t"/>
          <a:lstStyle/>
          <a:p>
            <a:pPr algn="l"/>
            <a:r>
              <a:rPr sz="1100" b="1" i="0">
                <a:solidFill>
                  <a:srgbClr val="1F3864"/>
                </a:solidFill>
                <a:latin typeface="Arial"/>
              </a:rPr>
              <a:t>✔ = built and tested (docs/CLAIMS.md). </a:t>
            </a:r>
            <a:r>
              <a:rPr sz="1100" b="0" i="0">
                <a:solidFill>
                  <a:srgbClr val="595959"/>
                </a:solidFill>
                <a:latin typeface="Arial"/>
              </a:rPr>
              <a:t>Reuses APAAR; no new ID.</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2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2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2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2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2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200"/>
              </a:spcAft>
            </a:pPr>
            <a:r>
              <a:rPr sz="1000" b="0" i="0">
                <a:solidFill>
                  <a:srgbClr val="1A1A1A"/>
                </a:solidFill>
                <a:latin typeface="Arial"/>
              </a:rPr>
              <a:t>6. APAAR opt-out: Orissa HC, Rohit Anand Das (Dec 2025); Supreme Court direction (Jul 2026)  </a:t>
            </a:r>
            <a:r>
              <a:rPr sz="950" b="0" i="0">
                <a:solidFill>
                  <a:srgbClr val="0070C0"/>
                </a:solidFill>
                <a:latin typeface="Arial"/>
              </a:rPr>
              <a:t>scconline.com · livelaw.in</a:t>
            </a:r>
          </a:p>
          <a:p>
            <a:pPr algn="l">
              <a:spcAft>
                <a:spcPts val="200"/>
              </a:spcAft>
            </a:pPr>
            <a:r>
              <a:rPr sz="1000" b="0" i="0">
                <a:solidFill>
                  <a:srgbClr val="1A1A1A"/>
                </a:solidFill>
                <a:latin typeface="Arial"/>
              </a:rPr>
              <a:t>7. Parliament replies: AICTE enrolment 2025-26 (Lok Sabha); APAAR IDs at 30 Mar 2026 (Rajya Sabha)  </a:t>
            </a:r>
            <a:r>
              <a:rPr sz="950" b="0" i="0">
                <a:solidFill>
                  <a:srgbClr val="0070C0"/>
                </a:solidFill>
                <a:latin typeface="Arial"/>
              </a:rPr>
              <a:t>sansad.in</a:t>
            </a:r>
          </a:p>
          <a:p>
            <a:pPr algn="l">
              <a:spcAft>
                <a:spcPts val="200"/>
              </a:spcAft>
            </a:pPr>
            <a:r>
              <a:rPr sz="1000" b="0" i="0">
                <a:solidFill>
                  <a:srgbClr val="1A1A1A"/>
                </a:solidFill>
                <a:latin typeface="Arial"/>
              </a:rPr>
              <a:t>8. Digital Personal Data Protection Act 2023; DPDP Rules 2025  </a:t>
            </a:r>
            <a:r>
              <a:rPr sz="950" b="0" i="0">
                <a:solidFill>
                  <a:srgbClr val="0070C0"/>
                </a:solidFill>
                <a:latin typeface="Arial"/>
              </a:rPr>
              <a:t>meity.gov.in</a:t>
            </a:r>
          </a:p>
          <a:p>
            <a:pPr algn="l">
              <a:spcAft>
                <a:spcPts val="200"/>
              </a:spcAft>
            </a:pPr>
            <a:r>
              <a:rPr sz="1000" b="0" i="0">
                <a:solidFill>
                  <a:srgbClr val="1A1A1A"/>
                </a:solidFill>
                <a:latin typeface="Arial"/>
              </a:rPr>
              <a:t>9. W3C Verifiable Credentials and did:web; RFC 8032 (Ed25519)  </a:t>
            </a:r>
            <a:r>
              <a:rPr sz="950" b="0" i="0">
                <a:solidFill>
                  <a:srgbClr val="0070C0"/>
                </a:solidFill>
                <a:latin typeface="Arial"/>
              </a:rPr>
              <a:t>w3.org · rfc-editor.org</a:t>
            </a:r>
          </a:p>
          <a:p>
            <a:pPr algn="l">
              <a:spcAft>
                <a:spcPts val="200"/>
              </a:spcAft>
            </a:pPr>
            <a:r>
              <a:rPr sz="1000" b="0" i="0">
                <a:solidFill>
                  <a:srgbClr val="1A1A1A"/>
                </a:solidFill>
                <a:latin typeface="Arial"/>
              </a:rPr>
              <a:t>10. Liu, Ting &amp; Zhou (2008) Isolation Forest; IDinsight on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video.png"/>
          <p:cNvPicPr>
            <a:picLocks noChangeAspect="1"/>
          </p:cNvPicPr>
          <p:nvPr/>
        </p:nvPicPr>
        <p:blipFill>
          <a:blip r:embed="rId4"/>
          <a:stretch>
            <a:fillRect/>
          </a:stretch>
        </p:blipFill>
        <p:spPr>
          <a:xfrm>
            <a:off x="429768" y="5093208"/>
            <a:ext cx="1042415" cy="1042415"/>
          </a:xfrm>
          <a:prstGeom prst="rect">
            <a:avLst/>
          </a:prstGeom>
        </p:spPr>
      </p:pic>
      <p:sp>
        <p:nvSpPr>
          <p:cNvPr id="17451" name="TextBox 17450"/>
          <p:cNvSpPr txBox="1"/>
          <p:nvPr/>
        </p:nvSpPr>
        <p:spPr>
          <a:xfrm>
            <a:off x="1563624"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Demo video, 5 min</a:t>
            </a:r>
          </a:p>
          <a:p>
            <a:pPr algn="l"/>
            <a:r>
              <a:rPr sz="1050" b="0" i="0">
                <a:solidFill>
                  <a:srgbClr val="0070C0"/>
                </a:solidFill>
                <a:latin typeface="Arial"/>
                <a:hlinkClick r:id="rId5"/>
              </a:rPr>
              <a:t>youtu.be/eBwySqMs63Q</a:t>
            </a:r>
          </a:p>
          <a:p>
            <a:pPr algn="l"/>
            <a:r>
              <a:rPr sz="1050" b="0" i="0">
                <a:solidFill>
                  <a:srgbClr val="595959"/>
                </a:solidFill>
                <a:latin typeface="Arial"/>
              </a:rPr>
              <a:t>every role, narrated, captioned</a:t>
            </a:r>
          </a:p>
        </p:txBody>
      </p:sp>
      <p:pic>
        <p:nvPicPr>
          <p:cNvPr id="17452" name="Picture 17451" descr="qr_live.png"/>
          <p:cNvPicPr>
            <a:picLocks noChangeAspect="1"/>
          </p:cNvPicPr>
          <p:nvPr/>
        </p:nvPicPr>
        <p:blipFill>
          <a:blip r:embed="rId6"/>
          <a:stretch>
            <a:fillRect/>
          </a:stretch>
        </p:blipFill>
        <p:spPr>
          <a:xfrm>
            <a:off x="4279392" y="5093208"/>
            <a:ext cx="1042415" cy="1042415"/>
          </a:xfrm>
          <a:prstGeom prst="rect">
            <a:avLst/>
          </a:prstGeom>
        </p:spPr>
      </p:pic>
      <p:sp>
        <p:nvSpPr>
          <p:cNvPr id="17453" name="TextBox 17452"/>
          <p:cNvSpPr txBox="1"/>
          <p:nvPr/>
        </p:nvSpPr>
        <p:spPr>
          <a:xfrm>
            <a:off x="5413248"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050" b="0" i="0">
                <a:solidFill>
                  <a:srgbClr val="0070C0"/>
                </a:solidFill>
                <a:latin typeface="Arial"/>
                <a:hlinkClick r:id="rId7"/>
              </a:rPr>
              <a:t>vidya-pramaan-sih26263.onrender.com</a:t>
            </a:r>
          </a:p>
          <a:p>
            <a:pPr algn="l"/>
            <a:r>
              <a:rPr sz="1050" b="0" i="0">
                <a:solidFill>
                  <a:srgbClr val="595959"/>
                </a:solidFill>
                <a:latin typeface="Arial"/>
              </a:rPr>
              <a:t>7 demo roles · synthetic data</a:t>
            </a:r>
          </a:p>
        </p:txBody>
      </p:sp>
      <p:pic>
        <p:nvPicPr>
          <p:cNvPr id="17454" name="Picture 17453" descr="qr_repo.png"/>
          <p:cNvPicPr>
            <a:picLocks noChangeAspect="1"/>
          </p:cNvPicPr>
          <p:nvPr/>
        </p:nvPicPr>
        <p:blipFill>
          <a:blip r:embed="rId8"/>
          <a:stretch>
            <a:fillRect/>
          </a:stretch>
        </p:blipFill>
        <p:spPr>
          <a:xfrm>
            <a:off x="8129015" y="5093208"/>
            <a:ext cx="1042415" cy="1042415"/>
          </a:xfrm>
          <a:prstGeom prst="rect">
            <a:avLst/>
          </a:prstGeom>
        </p:spPr>
      </p:pic>
      <p:sp>
        <p:nvSpPr>
          <p:cNvPr id="17455" name="TextBox 17454"/>
          <p:cNvSpPr txBox="1"/>
          <p:nvPr/>
        </p:nvSpPr>
        <p:spPr>
          <a:xfrm>
            <a:off x="9262872"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050" b="0" i="0">
                <a:solidFill>
                  <a:srgbClr val="0070C0"/>
                </a:solidFill>
                <a:latin typeface="Arial"/>
                <a:hlinkClick r:id="rId9"/>
              </a:rPr>
              <a:t>github.com/Pulkitkh/VidyaPramaan</a:t>
            </a:r>
          </a:p>
          <a:p>
            <a:pPr algn="l"/>
            <a:r>
              <a:rPr sz="1050" b="0" i="0">
                <a:solidFill>
                  <a:srgbClr val="595959"/>
                </a:solidFill>
                <a:latin typeface="Arial"/>
              </a:rPr>
              <a:t>65 tests · 93% coverage · MIT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