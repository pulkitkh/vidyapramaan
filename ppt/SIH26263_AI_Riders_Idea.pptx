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17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17.png"/><Relationship Id="rId7" Type="http://schemas.openxmlformats.org/officeDocument/2006/relationships/image" Target="../media/image6.png"/><Relationship Id="rId8" Type="http://schemas.openxmlformats.org/officeDocument/2006/relationships/image" Target="../media/image9.png"/><Relationship Id="rId9" Type="http://schemas.openxmlformats.org/officeDocument/2006/relationships/image" Target="../media/image19.png"/><Relationship Id="rId10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240280"/>
            <a:ext cx="566928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1700" b="0">
                <a:solidFill>
                  <a:srgbClr val="0070C0"/>
                </a:solidFill>
                <a:latin typeface="Arial"/>
              </a:rPr>
              <a:t> SIH26263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1500" b="0">
                <a:solidFill>
                  <a:srgbClr val="0070C0"/>
                </a:solidFill>
                <a:latin typeface="Arial"/>
              </a:rPr>
              <a:t> Development of an APAAR ID-Based Student Data Management and Verification Platform for AICTE-Approved Institutions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1700" b="0">
                <a:solidFill>
                  <a:srgbClr val="0070C0"/>
                </a:solidFill>
                <a:latin typeface="Arial"/>
              </a:rPr>
              <a:t> Smart Automation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sz="1700" b="0">
                <a:solidFill>
                  <a:srgbClr val="0070C0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sz="1700" b="0">
                <a:solidFill>
                  <a:srgbClr val="0070C0"/>
                </a:solidFill>
                <a:latin typeface="Arial"/>
              </a:rPr>
              <a:t> 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1700" b="0">
                <a:solidFill>
                  <a:srgbClr val="0070C0"/>
                </a:solidFill>
                <a:latin typeface="Arial"/>
              </a:rPr>
              <a:t> AI Riders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274320"/>
            <a:ext cx="10972800" cy="502920"/>
          </a:xfrm>
        </p:spPr>
        <p:txBody>
          <a:bodyPr anchor="ctr" tIns="0" bIns="0"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VIDYA PRAMAAN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AI Riders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926080" y="731520"/>
            <a:ext cx="6309360" cy="31089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APAAR-linked student data, validation &amp; verification platform for AICTE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74320" y="1097280"/>
            <a:ext cx="11612880" cy="34747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700" b="1" i="0">
                <a:solidFill>
                  <a:srgbClr val="0070C0"/>
                </a:solidFill>
                <a:latin typeface="Arial"/>
              </a:rPr>
              <a:t>❖ </a:t>
            </a:r>
            <a:r>
              <a:rPr sz="1700" b="1" i="0">
                <a:solidFill>
                  <a:srgbClr val="1F3864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20040" y="1517904"/>
            <a:ext cx="4206240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1058417" y="1920240"/>
            <a:ext cx="603504" cy="603504"/>
          </a:xfrm>
          <a:prstGeom prst="ellipse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67" name="Picture 15366" descr="LuUploa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188" y="2053010"/>
            <a:ext cx="337962" cy="337962"/>
          </a:xfrm>
          <a:prstGeom prst="rect">
            <a:avLst/>
          </a:prstGeom>
        </p:spPr>
      </p:pic>
      <p:cxnSp>
        <p:nvCxnSpPr>
          <p:cNvPr id="15368" name="Connector 15367"/>
          <p:cNvCxnSpPr/>
          <p:nvPr/>
        </p:nvCxnSpPr>
        <p:spPr>
          <a:xfrm>
            <a:off x="1744217" y="2221992"/>
            <a:ext cx="1129284" cy="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9" name="TextBox 15368"/>
          <p:cNvSpPr txBox="1"/>
          <p:nvPr/>
        </p:nvSpPr>
        <p:spPr>
          <a:xfrm>
            <a:off x="411479" y="2560320"/>
            <a:ext cx="1897379" cy="2560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Institution upload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11479" y="2798064"/>
            <a:ext cx="1897379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Excel · CSV · API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2955798" y="1920240"/>
            <a:ext cx="603504" cy="60350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2" name="Picture 15371" descr="LuFingerpr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568" y="2053010"/>
            <a:ext cx="337962" cy="337962"/>
          </a:xfrm>
          <a:prstGeom prst="rect">
            <a:avLst/>
          </a:prstGeom>
        </p:spPr>
      </p:pic>
      <p:cxnSp>
        <p:nvCxnSpPr>
          <p:cNvPr id="15373" name="Connector 15372"/>
          <p:cNvCxnSpPr/>
          <p:nvPr/>
        </p:nvCxnSpPr>
        <p:spPr>
          <a:xfrm>
            <a:off x="3641598" y="2221992"/>
            <a:ext cx="1129283" cy="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TextBox 15373"/>
          <p:cNvSpPr txBox="1"/>
          <p:nvPr/>
        </p:nvSpPr>
        <p:spPr>
          <a:xfrm>
            <a:off x="2308860" y="2560320"/>
            <a:ext cx="1897379" cy="2560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APAAR validation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2308860" y="2798064"/>
            <a:ext cx="1897379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registry check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4853177" y="1920240"/>
            <a:ext cx="603504" cy="60350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7" name="Picture 15376" descr="LuListCheck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5948" y="2053010"/>
            <a:ext cx="337962" cy="337962"/>
          </a:xfrm>
          <a:prstGeom prst="rect">
            <a:avLst/>
          </a:prstGeom>
        </p:spPr>
      </p:pic>
      <p:cxnSp>
        <p:nvCxnSpPr>
          <p:cNvPr id="15378" name="Connector 15377"/>
          <p:cNvCxnSpPr/>
          <p:nvPr/>
        </p:nvCxnSpPr>
        <p:spPr>
          <a:xfrm>
            <a:off x="5538977" y="2221992"/>
            <a:ext cx="1129284" cy="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9" name="TextBox 15378"/>
          <p:cNvSpPr txBox="1"/>
          <p:nvPr/>
        </p:nvSpPr>
        <p:spPr>
          <a:xfrm>
            <a:off x="4206240" y="2560320"/>
            <a:ext cx="1897379" cy="2560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Data verification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4206240" y="2798064"/>
            <a:ext cx="1897379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25 explained rules</a:t>
            </a:r>
          </a:p>
        </p:txBody>
      </p:sp>
      <p:sp>
        <p:nvSpPr>
          <p:cNvPr id="15381" name="Oval 15380"/>
          <p:cNvSpPr/>
          <p:nvPr/>
        </p:nvSpPr>
        <p:spPr>
          <a:xfrm>
            <a:off x="6750557" y="1920240"/>
            <a:ext cx="603504" cy="60350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2" name="Picture 15381" descr="Lu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328" y="2053010"/>
            <a:ext cx="337962" cy="337962"/>
          </a:xfrm>
          <a:prstGeom prst="rect">
            <a:avLst/>
          </a:prstGeom>
        </p:spPr>
      </p:pic>
      <p:cxnSp>
        <p:nvCxnSpPr>
          <p:cNvPr id="15383" name="Connector 15382"/>
          <p:cNvCxnSpPr/>
          <p:nvPr/>
        </p:nvCxnSpPr>
        <p:spPr>
          <a:xfrm>
            <a:off x="7436358" y="2221992"/>
            <a:ext cx="1129284" cy="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4" name="TextBox 15383"/>
          <p:cNvSpPr txBox="1"/>
          <p:nvPr/>
        </p:nvSpPr>
        <p:spPr>
          <a:xfrm>
            <a:off x="6103620" y="2560320"/>
            <a:ext cx="1897379" cy="2560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Central repository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6103620" y="2798064"/>
            <a:ext cx="1897379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one record per student</a:t>
            </a:r>
          </a:p>
        </p:txBody>
      </p:sp>
      <p:sp>
        <p:nvSpPr>
          <p:cNvPr id="15386" name="Oval 15385"/>
          <p:cNvSpPr/>
          <p:nvPr/>
        </p:nvSpPr>
        <p:spPr>
          <a:xfrm>
            <a:off x="8647937" y="1920240"/>
            <a:ext cx="603504" cy="60350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7" name="Picture 15386" descr="LuActivit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0708" y="2053010"/>
            <a:ext cx="337962" cy="337962"/>
          </a:xfrm>
          <a:prstGeom prst="rect">
            <a:avLst/>
          </a:prstGeom>
        </p:spPr>
      </p:pic>
      <p:cxnSp>
        <p:nvCxnSpPr>
          <p:cNvPr id="15388" name="Connector 15387"/>
          <p:cNvCxnSpPr/>
          <p:nvPr/>
        </p:nvCxnSpPr>
        <p:spPr>
          <a:xfrm>
            <a:off x="9333737" y="2221992"/>
            <a:ext cx="1129284" cy="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9" name="TextBox 15388"/>
          <p:cNvSpPr txBox="1"/>
          <p:nvPr/>
        </p:nvSpPr>
        <p:spPr>
          <a:xfrm>
            <a:off x="8000999" y="2560320"/>
            <a:ext cx="1897379" cy="2560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Analytics &amp; monitoring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8000999" y="2798064"/>
            <a:ext cx="1897379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live risk map</a:t>
            </a:r>
          </a:p>
        </p:txBody>
      </p:sp>
      <p:sp>
        <p:nvSpPr>
          <p:cNvPr id="15391" name="Oval 15390"/>
          <p:cNvSpPr/>
          <p:nvPr/>
        </p:nvSpPr>
        <p:spPr>
          <a:xfrm>
            <a:off x="10545317" y="1920240"/>
            <a:ext cx="603504" cy="603504"/>
          </a:xfrm>
          <a:prstGeom prst="ellipse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2" name="Picture 15391" descr="LuQrCod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8088" y="2053010"/>
            <a:ext cx="337962" cy="337962"/>
          </a:xfrm>
          <a:prstGeom prst="rect">
            <a:avLst/>
          </a:prstGeom>
        </p:spPr>
      </p:pic>
      <p:sp>
        <p:nvSpPr>
          <p:cNvPr id="15393" name="TextBox 15392"/>
          <p:cNvSpPr txBox="1"/>
          <p:nvPr/>
        </p:nvSpPr>
        <p:spPr>
          <a:xfrm>
            <a:off x="9898379" y="2560320"/>
            <a:ext cx="1897379" cy="2560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Authorised verification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9898379" y="2798064"/>
            <a:ext cx="1897379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consent + signed QR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320040" y="3200400"/>
            <a:ext cx="5669280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320040" y="3639312"/>
            <a:ext cx="2514600" cy="548640"/>
          </a:xfrm>
          <a:prstGeom prst="roundRect">
            <a:avLst>
              <a:gd name="adj" fmla="val 16666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B42B2B"/>
                </a:solidFill>
                <a:latin typeface="Arial"/>
              </a:rPr>
              <a:t>✖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Only totals reported (except PGDM)</a:t>
            </a:r>
          </a:p>
        </p:txBody>
      </p:sp>
      <p:cxnSp>
        <p:nvCxnSpPr>
          <p:cNvPr id="15397" name="Connector 15396"/>
          <p:cNvCxnSpPr/>
          <p:nvPr/>
        </p:nvCxnSpPr>
        <p:spPr>
          <a:xfrm>
            <a:off x="2880360" y="3913632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8" name="Rounded Rectangle 15397"/>
          <p:cNvSpPr/>
          <p:nvPr/>
        </p:nvSpPr>
        <p:spPr>
          <a:xfrm>
            <a:off x="3383280" y="3639312"/>
            <a:ext cx="2606040" cy="548640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Student-level records keyed on APAAR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320040" y="4297680"/>
            <a:ext cx="2514600" cy="548640"/>
          </a:xfrm>
          <a:prstGeom prst="roundRect">
            <a:avLst>
              <a:gd name="adj" fmla="val 16666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B42B2B"/>
                </a:solidFill>
                <a:latin typeface="Arial"/>
              </a:rPr>
              <a:t>✖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Excess admissions found late</a:t>
            </a:r>
          </a:p>
        </p:txBody>
      </p:sp>
      <p:cxnSp>
        <p:nvCxnSpPr>
          <p:cNvPr id="15400" name="Connector 15399"/>
          <p:cNvCxnSpPr/>
          <p:nvPr/>
        </p:nvCxnSpPr>
        <p:spPr>
          <a:xfrm>
            <a:off x="2880360" y="4572000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1" name="Rounded Rectangle 15400"/>
          <p:cNvSpPr/>
          <p:nvPr/>
        </p:nvSpPr>
        <p:spPr>
          <a:xfrm>
            <a:off x="3383280" y="4297680"/>
            <a:ext cx="2606040" cy="548640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Seat #61 in a 60-seat course blocked at upload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320040" y="4956048"/>
            <a:ext cx="2514600" cy="548640"/>
          </a:xfrm>
          <a:prstGeom prst="roundRect">
            <a:avLst>
              <a:gd name="adj" fmla="val 16666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B42B2B"/>
                </a:solidFill>
                <a:latin typeface="Arial"/>
              </a:rPr>
              <a:t>✖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Same student at 2 colleges unnoticed</a:t>
            </a:r>
          </a:p>
        </p:txBody>
      </p:sp>
      <p:cxnSp>
        <p:nvCxnSpPr>
          <p:cNvPr id="15403" name="Connector 15402"/>
          <p:cNvCxnSpPr/>
          <p:nvPr/>
        </p:nvCxnSpPr>
        <p:spPr>
          <a:xfrm>
            <a:off x="2880360" y="5230368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4" name="Rounded Rectangle 15403"/>
          <p:cNvSpPr/>
          <p:nvPr/>
        </p:nvSpPr>
        <p:spPr>
          <a:xfrm>
            <a:off x="3383280" y="4956048"/>
            <a:ext cx="2606040" cy="548640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Cross-college match: exact + fuzzy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320040" y="5614416"/>
            <a:ext cx="2514600" cy="548640"/>
          </a:xfrm>
          <a:prstGeom prst="roundRect">
            <a:avLst>
              <a:gd name="adj" fmla="val 16666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B42B2B"/>
                </a:solidFill>
                <a:latin typeface="Arial"/>
              </a:rPr>
              <a:t>✖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Records can't be verified at source</a:t>
            </a:r>
          </a:p>
        </p:txBody>
      </p:sp>
      <p:cxnSp>
        <p:nvCxnSpPr>
          <p:cNvPr id="15406" name="Connector 15405"/>
          <p:cNvCxnSpPr/>
          <p:nvPr/>
        </p:nvCxnSpPr>
        <p:spPr>
          <a:xfrm>
            <a:off x="2880360" y="5888736"/>
            <a:ext cx="4572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7" name="Rounded Rectangle 15406"/>
          <p:cNvSpPr/>
          <p:nvPr/>
        </p:nvSpPr>
        <p:spPr>
          <a:xfrm>
            <a:off x="3383280" y="5614416"/>
            <a:ext cx="2606040" cy="548640"/>
          </a:xfrm>
          <a:prstGeom prst="roundRect">
            <a:avLst>
              <a:gd name="adj" fmla="val 16666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Signed QR + consent-based check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6217920" y="3200400"/>
            <a:ext cx="5650992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409" name="Rounded Rectangle 15408"/>
          <p:cNvSpPr/>
          <p:nvPr/>
        </p:nvSpPr>
        <p:spPr>
          <a:xfrm>
            <a:off x="6217920" y="3639312"/>
            <a:ext cx="1810512" cy="1243584"/>
          </a:xfrm>
          <a:prstGeom prst="roundRect">
            <a:avLst>
              <a:gd name="adj" fmla="val 8823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0" name="Oval 15409"/>
          <p:cNvSpPr/>
          <p:nvPr/>
        </p:nvSpPr>
        <p:spPr>
          <a:xfrm>
            <a:off x="6876288" y="3730752"/>
            <a:ext cx="493776" cy="49377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1" name="Picture 15410" descr="LuListCheck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4918" y="3839382"/>
            <a:ext cx="276514" cy="276514"/>
          </a:xfrm>
          <a:prstGeom prst="rect">
            <a:avLst/>
          </a:prstGeom>
        </p:spPr>
      </p:pic>
      <p:sp>
        <p:nvSpPr>
          <p:cNvPr id="15412" name="TextBox 15411"/>
          <p:cNvSpPr txBox="1"/>
          <p:nvPr/>
        </p:nvSpPr>
        <p:spPr>
          <a:xfrm>
            <a:off x="6263640" y="4261104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Explainable flags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6263640" y="4526280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rule code + evidence</a:t>
            </a:r>
          </a:p>
        </p:txBody>
      </p:sp>
      <p:sp>
        <p:nvSpPr>
          <p:cNvPr id="15414" name="Rounded Rectangle 15413"/>
          <p:cNvSpPr/>
          <p:nvPr/>
        </p:nvSpPr>
        <p:spPr>
          <a:xfrm>
            <a:off x="8138160" y="3639312"/>
            <a:ext cx="1810512" cy="1243584"/>
          </a:xfrm>
          <a:prstGeom prst="roundRect">
            <a:avLst>
              <a:gd name="adj" fmla="val 8823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5" name="Oval 15414"/>
          <p:cNvSpPr/>
          <p:nvPr/>
        </p:nvSpPr>
        <p:spPr>
          <a:xfrm>
            <a:off x="8796528" y="3730752"/>
            <a:ext cx="493776" cy="49377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6" name="Picture 15415" descr="LuGaug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5158" y="3839382"/>
            <a:ext cx="276514" cy="276514"/>
          </a:xfrm>
          <a:prstGeom prst="rect">
            <a:avLst/>
          </a:prstGeom>
        </p:spPr>
      </p:pic>
      <p:sp>
        <p:nvSpPr>
          <p:cNvPr id="15417" name="TextBox 15416"/>
          <p:cNvSpPr txBox="1"/>
          <p:nvPr/>
        </p:nvSpPr>
        <p:spPr>
          <a:xfrm>
            <a:off x="8183880" y="4261104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Live seat ledger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8183880" y="4526280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intake &amp; quota caps</a:t>
            </a:r>
          </a:p>
        </p:txBody>
      </p:sp>
      <p:sp>
        <p:nvSpPr>
          <p:cNvPr id="15419" name="Rounded Rectangle 15418"/>
          <p:cNvSpPr/>
          <p:nvPr/>
        </p:nvSpPr>
        <p:spPr>
          <a:xfrm>
            <a:off x="10058400" y="3639312"/>
            <a:ext cx="1810512" cy="1243584"/>
          </a:xfrm>
          <a:prstGeom prst="roundRect">
            <a:avLst>
              <a:gd name="adj" fmla="val 8823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0" name="Oval 15419"/>
          <p:cNvSpPr/>
          <p:nvPr/>
        </p:nvSpPr>
        <p:spPr>
          <a:xfrm>
            <a:off x="10716768" y="3730752"/>
            <a:ext cx="493776" cy="49377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1" name="Picture 15420" descr="LuUsers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5398" y="3839382"/>
            <a:ext cx="276514" cy="276514"/>
          </a:xfrm>
          <a:prstGeom prst="rect">
            <a:avLst/>
          </a:prstGeom>
        </p:spPr>
      </p:pic>
      <p:sp>
        <p:nvSpPr>
          <p:cNvPr id="15422" name="TextBox 15421"/>
          <p:cNvSpPr txBox="1"/>
          <p:nvPr/>
        </p:nvSpPr>
        <p:spPr>
          <a:xfrm>
            <a:off x="10104120" y="4261104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Fuzzy identity match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10104120" y="4526280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same person, new APAAR</a:t>
            </a:r>
          </a:p>
        </p:txBody>
      </p:sp>
      <p:sp>
        <p:nvSpPr>
          <p:cNvPr id="15424" name="Rounded Rectangle 15423"/>
          <p:cNvSpPr/>
          <p:nvPr/>
        </p:nvSpPr>
        <p:spPr>
          <a:xfrm>
            <a:off x="6217920" y="4992624"/>
            <a:ext cx="1810512" cy="1243584"/>
          </a:xfrm>
          <a:prstGeom prst="roundRect">
            <a:avLst>
              <a:gd name="adj" fmla="val 8823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5" name="Oval 15424"/>
          <p:cNvSpPr/>
          <p:nvPr/>
        </p:nvSpPr>
        <p:spPr>
          <a:xfrm>
            <a:off x="6876288" y="5084064"/>
            <a:ext cx="493776" cy="49377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6" name="Picture 15425" descr="LuBrainCircuit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84918" y="5192694"/>
            <a:ext cx="276514" cy="276514"/>
          </a:xfrm>
          <a:prstGeom prst="rect">
            <a:avLst/>
          </a:prstGeom>
        </p:spPr>
      </p:pic>
      <p:sp>
        <p:nvSpPr>
          <p:cNvPr id="15427" name="TextBox 15426"/>
          <p:cNvSpPr txBox="1"/>
          <p:nvPr/>
        </p:nvSpPr>
        <p:spPr>
          <a:xfrm>
            <a:off x="6263640" y="5614416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ML risk score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6263640" y="5879592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with plain reasons</a:t>
            </a:r>
          </a:p>
        </p:txBody>
      </p:sp>
      <p:sp>
        <p:nvSpPr>
          <p:cNvPr id="15429" name="Rounded Rectangle 15428"/>
          <p:cNvSpPr/>
          <p:nvPr/>
        </p:nvSpPr>
        <p:spPr>
          <a:xfrm>
            <a:off x="8138160" y="4992624"/>
            <a:ext cx="1810512" cy="1243584"/>
          </a:xfrm>
          <a:prstGeom prst="roundRect">
            <a:avLst>
              <a:gd name="adj" fmla="val 8823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0" name="Oval 15429"/>
          <p:cNvSpPr/>
          <p:nvPr/>
        </p:nvSpPr>
        <p:spPr>
          <a:xfrm>
            <a:off x="8796528" y="5084064"/>
            <a:ext cx="493776" cy="49377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31" name="Picture 15430" descr="LuKeyRound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5158" y="5192694"/>
            <a:ext cx="276514" cy="276514"/>
          </a:xfrm>
          <a:prstGeom prst="rect">
            <a:avLst/>
          </a:prstGeom>
        </p:spPr>
      </p:pic>
      <p:sp>
        <p:nvSpPr>
          <p:cNvPr id="15432" name="TextBox 15431"/>
          <p:cNvSpPr txBox="1"/>
          <p:nvPr/>
        </p:nvSpPr>
        <p:spPr>
          <a:xfrm>
            <a:off x="8183880" y="5614416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Consent-first sharing</a:t>
            </a:r>
          </a:p>
        </p:txBody>
      </p:sp>
      <p:sp>
        <p:nvSpPr>
          <p:cNvPr id="15433" name="TextBox 15432"/>
          <p:cNvSpPr txBox="1"/>
          <p:nvPr/>
        </p:nvSpPr>
        <p:spPr>
          <a:xfrm>
            <a:off x="8183880" y="5879592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student approves by OTP</a:t>
            </a:r>
          </a:p>
        </p:txBody>
      </p:sp>
      <p:sp>
        <p:nvSpPr>
          <p:cNvPr id="15434" name="Rounded Rectangle 15433"/>
          <p:cNvSpPr/>
          <p:nvPr/>
        </p:nvSpPr>
        <p:spPr>
          <a:xfrm>
            <a:off x="10058400" y="4992624"/>
            <a:ext cx="1810512" cy="1243584"/>
          </a:xfrm>
          <a:prstGeom prst="roundRect">
            <a:avLst>
              <a:gd name="adj" fmla="val 8823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35" name="Oval 15434"/>
          <p:cNvSpPr/>
          <p:nvPr/>
        </p:nvSpPr>
        <p:spPr>
          <a:xfrm>
            <a:off x="10716768" y="5084064"/>
            <a:ext cx="493776" cy="49377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36" name="Picture 15435" descr="LuLink2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25398" y="5192694"/>
            <a:ext cx="276514" cy="276514"/>
          </a:xfrm>
          <a:prstGeom prst="rect">
            <a:avLst/>
          </a:prstGeom>
        </p:spPr>
      </p:pic>
      <p:sp>
        <p:nvSpPr>
          <p:cNvPr id="15437" name="TextBox 15436"/>
          <p:cNvSpPr txBox="1"/>
          <p:nvPr/>
        </p:nvSpPr>
        <p:spPr>
          <a:xfrm>
            <a:off x="10104120" y="5614416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Tamper-evident audit</a:t>
            </a:r>
          </a:p>
        </p:txBody>
      </p:sp>
      <p:sp>
        <p:nvSpPr>
          <p:cNvPr id="15438" name="TextBox 15437"/>
          <p:cNvSpPr txBox="1"/>
          <p:nvPr/>
        </p:nvSpPr>
        <p:spPr>
          <a:xfrm>
            <a:off x="10104120" y="5879592"/>
            <a:ext cx="1719072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hash-chained 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AI Riders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97280"/>
            <a:ext cx="11548872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56615" y="1508760"/>
            <a:ext cx="1851660" cy="713232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429768" y="166420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Lu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81" y="1752721"/>
            <a:ext cx="225308" cy="22530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868680" y="1572768"/>
            <a:ext cx="1321307" cy="31089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Python · FastAPI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68680" y="1865376"/>
            <a:ext cx="1321307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REST + OpenAPI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81428" y="1508760"/>
            <a:ext cx="1851660" cy="713232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2354580" y="166420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LuAto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093" y="1752721"/>
            <a:ext cx="225308" cy="225308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793492" y="1572768"/>
            <a:ext cx="1321307" cy="31089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React · TypeScript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793492" y="1865376"/>
            <a:ext cx="1321307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Tailwind · Recharts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06240" y="1508760"/>
            <a:ext cx="1851660" cy="713232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4279392" y="166420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Lu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905" y="1752721"/>
            <a:ext cx="225308" cy="225308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4718303" y="1572768"/>
            <a:ext cx="1321307" cy="31089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SQLite → Postgres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718303" y="1865376"/>
            <a:ext cx="1321307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demo → production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31051" y="1508760"/>
            <a:ext cx="1851660" cy="713232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6204203" y="166420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LuBrainCircu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2717" y="1752721"/>
            <a:ext cx="225308" cy="225308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6643115" y="1572768"/>
            <a:ext cx="1321307" cy="31089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scikit-learn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643115" y="1865376"/>
            <a:ext cx="1321307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Isolation Forest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055863" y="1508760"/>
            <a:ext cx="1851660" cy="713232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8129015" y="166420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LuSear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7529" y="1752721"/>
            <a:ext cx="225308" cy="225308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8567928" y="1572768"/>
            <a:ext cx="1321307" cy="31089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RapidFuzz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567928" y="1865376"/>
            <a:ext cx="1321307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fuzzy matching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9980676" y="1508760"/>
            <a:ext cx="1851660" cy="713232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10053828" y="1664208"/>
            <a:ext cx="402336" cy="402336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Lu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2341" y="1752721"/>
            <a:ext cx="225308" cy="225308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10492740" y="1572768"/>
            <a:ext cx="1321307" cy="31089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1F3864"/>
                </a:solidFill>
                <a:latin typeface="Arial"/>
              </a:rPr>
              <a:t>Ed25519 · W3C VC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0492740" y="1865376"/>
            <a:ext cx="1321307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signed QR records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20040" y="2377440"/>
            <a:ext cx="11548872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20040" y="283464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1  Upload
Excel / CSV / API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1920240" y="3118104"/>
            <a:ext cx="228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2148840" y="2834640"/>
            <a:ext cx="1783080" cy="566928"/>
          </a:xfrm>
          <a:prstGeom prst="roundRect">
            <a:avLst>
              <a:gd name="adj" fmla="val 16129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2  Check 25 rules
+ APAAR registry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3931920" y="3118104"/>
            <a:ext cx="13716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Diamond 17445"/>
          <p:cNvSpPr/>
          <p:nvPr/>
        </p:nvSpPr>
        <p:spPr>
          <a:xfrm>
            <a:off x="4069080" y="2724912"/>
            <a:ext cx="1280160" cy="786384"/>
          </a:xfrm>
          <a:prstGeom prst="diamond">
            <a:avLst/>
          </a:prstGeom>
          <a:solidFill>
            <a:srgbClr val="FDF1E6"/>
          </a:solidFill>
          <a:ln w="9525">
            <a:solidFill>
              <a:srgbClr val="E4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/>
            <a:r>
              <a:rPr sz="1100" b="1" i="0">
                <a:solidFill>
                  <a:srgbClr val="E46C0A"/>
                </a:solidFill>
                <a:latin typeface="Arial"/>
              </a:rPr>
              <a:t>Errors?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5349240" y="3118104"/>
            <a:ext cx="91440" cy="0"/>
          </a:xfrm>
          <a:prstGeom prst="line">
            <a:avLst/>
          </a:prstGeom>
          <a:ln w="19050">
            <a:solidFill>
              <a:srgbClr val="1E7B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TextBox 17447"/>
          <p:cNvSpPr txBox="1"/>
          <p:nvPr/>
        </p:nvSpPr>
        <p:spPr>
          <a:xfrm>
            <a:off x="5102352" y="2816352"/>
            <a:ext cx="329184" cy="201168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1E7B3E"/>
                </a:solidFill>
                <a:latin typeface="Arial"/>
              </a:rPr>
              <a:t>no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5440680" y="2834640"/>
            <a:ext cx="914400" cy="566928"/>
          </a:xfrm>
          <a:prstGeom prst="roundRect">
            <a:avLst>
              <a:gd name="adj" fmla="val 16129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E7B3E"/>
                </a:solidFill>
                <a:latin typeface="Arial"/>
              </a:rPr>
              <a:t>3  Commit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4709160" y="3511296"/>
            <a:ext cx="0" cy="256032"/>
          </a:xfrm>
          <a:prstGeom prst="line">
            <a:avLst/>
          </a:prstGeom>
          <a:ln w="19050">
            <a:solidFill>
              <a:srgbClr val="B4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TextBox 17450"/>
          <p:cNvSpPr txBox="1"/>
          <p:nvPr/>
        </p:nvSpPr>
        <p:spPr>
          <a:xfrm>
            <a:off x="4754880" y="3511296"/>
            <a:ext cx="365760" cy="201168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1" i="0">
                <a:solidFill>
                  <a:srgbClr val="B42B2B"/>
                </a:solidFill>
                <a:latin typeface="Arial"/>
              </a:rPr>
              <a:t>yes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657600" y="37673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B42B2B"/>
                </a:solidFill>
                <a:latin typeface="Arial"/>
              </a:rPr>
              <a:t>Row returned with reason</a:t>
            </a:r>
          </a:p>
        </p:txBody>
      </p:sp>
      <p:cxnSp>
        <p:nvCxnSpPr>
          <p:cNvPr id="17453" name="Connector 17452"/>
          <p:cNvCxnSpPr/>
          <p:nvPr/>
        </p:nvCxnSpPr>
        <p:spPr>
          <a:xfrm flipH="1">
            <a:off x="1115568" y="3995928"/>
            <a:ext cx="2542032" cy="0"/>
          </a:xfrm>
          <a:prstGeom prst="line">
            <a:avLst/>
          </a:prstGeom>
          <a:ln w="19050">
            <a:solidFill>
              <a:srgbClr val="B4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4" name="Connector 17453"/>
          <p:cNvCxnSpPr/>
          <p:nvPr/>
        </p:nvCxnSpPr>
        <p:spPr>
          <a:xfrm flipV="1">
            <a:off x="1115568" y="3401568"/>
            <a:ext cx="0" cy="594360"/>
          </a:xfrm>
          <a:prstGeom prst="line">
            <a:avLst/>
          </a:prstGeom>
          <a:ln w="19050">
            <a:solidFill>
              <a:srgbClr val="B42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5" name="TextBox 17454"/>
          <p:cNvSpPr txBox="1"/>
          <p:nvPr/>
        </p:nvSpPr>
        <p:spPr>
          <a:xfrm>
            <a:off x="1188720" y="3611880"/>
            <a:ext cx="1828800" cy="201168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B42B2B"/>
                </a:solidFill>
                <a:latin typeface="Arial"/>
              </a:rPr>
              <a:t>fix &amp; re-upload</a:t>
            </a:r>
          </a:p>
        </p:txBody>
      </p:sp>
      <p:cxnSp>
        <p:nvCxnSpPr>
          <p:cNvPr id="17456" name="Connector 17455"/>
          <p:cNvCxnSpPr/>
          <p:nvPr/>
        </p:nvCxnSpPr>
        <p:spPr>
          <a:xfrm>
            <a:off x="5897880" y="3401568"/>
            <a:ext cx="0" cy="103327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7" name="Rounded Rectangle 17456"/>
          <p:cNvSpPr/>
          <p:nvPr/>
        </p:nvSpPr>
        <p:spPr>
          <a:xfrm>
            <a:off x="4526280" y="4434840"/>
            <a:ext cx="1828800" cy="603504"/>
          </a:xfrm>
          <a:prstGeom prst="roundRect">
            <a:avLst>
              <a:gd name="adj" fmla="val 15151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4  National scan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duplicates · intake</a:t>
            </a:r>
          </a:p>
        </p:txBody>
      </p:sp>
      <p:cxnSp>
        <p:nvCxnSpPr>
          <p:cNvPr id="17458" name="Connector 17457"/>
          <p:cNvCxnSpPr/>
          <p:nvPr/>
        </p:nvCxnSpPr>
        <p:spPr>
          <a:xfrm flipH="1">
            <a:off x="4251960" y="4736592"/>
            <a:ext cx="2743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2423160" y="4434840"/>
            <a:ext cx="1828800" cy="603504"/>
          </a:xfrm>
          <a:prstGeom prst="roundRect">
            <a:avLst>
              <a:gd name="adj" fmla="val 15151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5  ML risk score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with reasons</a:t>
            </a:r>
          </a:p>
        </p:txBody>
      </p:sp>
      <p:cxnSp>
        <p:nvCxnSpPr>
          <p:cNvPr id="17460" name="Connector 17459"/>
          <p:cNvCxnSpPr/>
          <p:nvPr/>
        </p:nvCxnSpPr>
        <p:spPr>
          <a:xfrm flipH="1">
            <a:off x="2148840" y="4736592"/>
            <a:ext cx="2743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Rounded Rectangle 17460"/>
          <p:cNvSpPr/>
          <p:nvPr/>
        </p:nvSpPr>
        <p:spPr>
          <a:xfrm>
            <a:off x="320040" y="4434840"/>
            <a:ext cx="1828800" cy="603504"/>
          </a:xfrm>
          <a:prstGeom prst="roundRect">
            <a:avLst>
              <a:gd name="adj" fmla="val 15151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Arial"/>
              </a:rPr>
              <a:t>6  Live dashboard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AICTE review queue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320040" y="5349240"/>
            <a:ext cx="2880360" cy="603504"/>
          </a:xfrm>
          <a:prstGeom prst="roundRect">
            <a:avLst>
              <a:gd name="adj" fmla="val 15151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E7B3E"/>
                </a:solidFill>
                <a:latin typeface="Arial"/>
              </a:rPr>
              <a:t>7  Student consent (OTP)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verifier sees only approved fields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3429000" y="5349240"/>
            <a:ext cx="2926080" cy="603504"/>
          </a:xfrm>
          <a:prstGeom prst="roundRect">
            <a:avLst>
              <a:gd name="adj" fmla="val 15151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1E7B3E"/>
                </a:solidFill>
                <a:latin typeface="Arial"/>
              </a:rPr>
              <a:t>8  Signed QR on certificate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anyone verifies; forgery fails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1234440" y="5038344"/>
            <a:ext cx="0" cy="310896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5" name="Connector 17464"/>
          <p:cNvCxnSpPr/>
          <p:nvPr/>
        </p:nvCxnSpPr>
        <p:spPr>
          <a:xfrm>
            <a:off x="4892040" y="5038344"/>
            <a:ext cx="0" cy="310896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Rounded Rectangle 17465"/>
          <p:cNvSpPr/>
          <p:nvPr/>
        </p:nvSpPr>
        <p:spPr>
          <a:xfrm>
            <a:off x="6601968" y="2825496"/>
            <a:ext cx="5266944" cy="2361304"/>
          </a:xfrm>
          <a:prstGeom prst="roundRect">
            <a:avLst>
              <a:gd name="adj" fmla="val 1548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7" name="Picture 17466" descr="03_upload_validation.png"/>
          <p:cNvPicPr>
            <a:picLocks noChangeAspect="1"/>
          </p:cNvPicPr>
          <p:nvPr/>
        </p:nvPicPr>
        <p:blipFill>
          <a:blip r:embed="rId10"/>
          <a:srcRect l="17800" t="5800" b="36000"/>
          <a:stretch>
            <a:fillRect/>
          </a:stretch>
        </p:blipFill>
        <p:spPr>
          <a:xfrm>
            <a:off x="6629400" y="2852928"/>
            <a:ext cx="5212080" cy="2306440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6629400" y="5214232"/>
            <a:ext cx="5212080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Working prototype: 77-row upload → 65 accepted, 12 returned with rule codes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601968" y="5506840"/>
            <a:ext cx="5266944" cy="756799"/>
          </a:xfrm>
          <a:prstGeom prst="roundRect">
            <a:avLst>
              <a:gd name="adj" fmla="val 14498"/>
            </a:avLst>
          </a:prstGeom>
          <a:solidFill>
            <a:srgbClr val="FDF1E6"/>
          </a:solidFill>
          <a:ln w="9525">
            <a:solidFill>
              <a:srgbClr val="E4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0" name="Picture 17469" descr="qr_liv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3408" y="5570848"/>
            <a:ext cx="628783" cy="628783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7431919" y="5552560"/>
            <a:ext cx="4206240" cy="665359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Try it live: </a:t>
            </a:r>
            <a:r>
              <a:rPr sz="1200" b="0" i="0">
                <a:solidFill>
                  <a:srgbClr val="0070C0"/>
                </a:solidFill>
                <a:latin typeface="Arial"/>
              </a:rPr>
              <a:t>https://vidya-pramaan-sih26263.onrender.com</a:t>
            </a:r>
          </a:p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Demo users for every role · synthetic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AI Riders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97280"/>
            <a:ext cx="11548872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59" y="1508760"/>
            <a:ext cx="1833372" cy="1188720"/>
          </a:xfrm>
          <a:prstGeom prst="roundRect">
            <a:avLst>
              <a:gd name="adj" fmla="val 9230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Oval 17411"/>
          <p:cNvSpPr/>
          <p:nvPr/>
        </p:nvSpPr>
        <p:spPr>
          <a:xfrm>
            <a:off x="475488" y="161848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3" name="Picture 17412" descr="LuShield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25" y="1711025"/>
            <a:ext cx="235549" cy="235549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41832" y="1572768"/>
            <a:ext cx="1229868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16/16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2157984"/>
            <a:ext cx="1650492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planted error types
caught at upload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90572" y="1508760"/>
            <a:ext cx="1833372" cy="1188720"/>
          </a:xfrm>
          <a:prstGeom prst="roundRect">
            <a:avLst>
              <a:gd name="adj" fmla="val 9230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2400300" y="161848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8" name="Picture 17417" descr="LuBuilding2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837" y="1711025"/>
            <a:ext cx="235549" cy="235549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866644" y="1572768"/>
            <a:ext cx="1229868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181/181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400300" y="2157984"/>
            <a:ext cx="1650492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dual enrolments
found across colleges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15383" y="1508760"/>
            <a:ext cx="1833372" cy="1188720"/>
          </a:xfrm>
          <a:prstGeom prst="roundRect">
            <a:avLst>
              <a:gd name="adj" fmla="val 9230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4325112" y="161848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3" name="Picture 17422" descr="Lu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649" y="1711025"/>
            <a:ext cx="235549" cy="235549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4791455" y="1572768"/>
            <a:ext cx="1229868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60/60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325112" y="2157984"/>
            <a:ext cx="1650492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same person, different
APAAR found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40195" y="1508760"/>
            <a:ext cx="1833372" cy="1188720"/>
          </a:xfrm>
          <a:prstGeom prst="roundRect">
            <a:avLst>
              <a:gd name="adj" fmla="val 9230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6249923" y="161848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LuBrainCircu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461" y="1711025"/>
            <a:ext cx="235549" cy="235549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6716267" y="1572768"/>
            <a:ext cx="1229868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41/42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249923" y="2157984"/>
            <a:ext cx="1650492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top-ranked colleges
truly anomalous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065008" y="1508760"/>
            <a:ext cx="1833372" cy="1188720"/>
          </a:xfrm>
          <a:prstGeom prst="roundRect">
            <a:avLst>
              <a:gd name="adj" fmla="val 9230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8174736" y="161848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LuBadge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273" y="1711025"/>
            <a:ext cx="235549" cy="235549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8641080" y="1572768"/>
            <a:ext cx="1229868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0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174736" y="2157984"/>
            <a:ext cx="1650492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false flags on
56 clean rows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9989820" y="1508760"/>
            <a:ext cx="1833372" cy="1188720"/>
          </a:xfrm>
          <a:prstGeom prst="roundRect">
            <a:avLst>
              <a:gd name="adj" fmla="val 9230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10099548" y="161848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LuTim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2085" y="1711025"/>
            <a:ext cx="235549" cy="235549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10565892" y="1572768"/>
            <a:ext cx="1229868" cy="5029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2200" b="1" i="0">
                <a:solidFill>
                  <a:srgbClr val="1F3864"/>
                </a:solidFill>
                <a:latin typeface="Arial"/>
              </a:rPr>
              <a:t>~1 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0099548" y="2157984"/>
            <a:ext cx="1650492" cy="5029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national scan of
48,053 enrolments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320040" y="2788920"/>
            <a:ext cx="11548872" cy="25603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0" i="0">
                <a:solidFill>
                  <a:srgbClr val="595959"/>
                </a:solidFill>
                <a:latin typeface="Arial"/>
              </a:rPr>
              <a:t>Measured by scripts/benchmark.py on 48,053 synthetic enrolments with planted anomalies · 25 automated API tests (SQLite + PostgreSQL) · browser walkthrough of all 5 roles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20040" y="3310128"/>
            <a:ext cx="5486400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382512" y="3310128"/>
            <a:ext cx="5486400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320040" y="3712463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Oval 17444"/>
          <p:cNvSpPr/>
          <p:nvPr/>
        </p:nvSpPr>
        <p:spPr>
          <a:xfrm>
            <a:off x="384048" y="3758183"/>
            <a:ext cx="347472" cy="347472"/>
          </a:xfrm>
          <a:prstGeom prst="ellipse">
            <a:avLst/>
          </a:prstGeom>
          <a:solidFill>
            <a:srgbClr val="B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LuPlugZa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491" y="3834627"/>
            <a:ext cx="194584" cy="194584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822960" y="3712463"/>
            <a:ext cx="4937760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No public APAAR API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5852160" y="3931920"/>
            <a:ext cx="484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Rounded Rectangle 17448"/>
          <p:cNvSpPr/>
          <p:nvPr/>
        </p:nvSpPr>
        <p:spPr>
          <a:xfrm>
            <a:off x="6382512" y="3712463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6446520" y="3712463"/>
            <a:ext cx="5376672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Registry adapter: mock today → DigiLocker / API Setu after partner onboarding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320040" y="4224527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Oval 17451"/>
          <p:cNvSpPr/>
          <p:nvPr/>
        </p:nvSpPr>
        <p:spPr>
          <a:xfrm>
            <a:off x="384048" y="4270247"/>
            <a:ext cx="347472" cy="347472"/>
          </a:xfrm>
          <a:prstGeom prst="ellipse">
            <a:avLst/>
          </a:prstGeom>
          <a:solidFill>
            <a:srgbClr val="B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3" name="Picture 17452" descr="LuUserX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491" y="4346691"/>
            <a:ext cx="194584" cy="194584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822960" y="4224527"/>
            <a:ext cx="4937760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Students without APAAR (opt-out, FN / OCI)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5852160" y="4443983"/>
            <a:ext cx="484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6382512" y="4224527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6446520" y="4224527"/>
            <a:ext cx="5376672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Provisional ID: noted, never rejected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20040" y="4736592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9" name="Oval 17458"/>
          <p:cNvSpPr/>
          <p:nvPr/>
        </p:nvSpPr>
        <p:spPr>
          <a:xfrm>
            <a:off x="384048" y="4782312"/>
            <a:ext cx="347472" cy="347472"/>
          </a:xfrm>
          <a:prstGeom prst="ellipse">
            <a:avLst/>
          </a:prstGeom>
          <a:solidFill>
            <a:srgbClr val="B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0" name="Picture 17459" descr="LuLock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0491" y="4858755"/>
            <a:ext cx="194584" cy="194584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822960" y="4736592"/>
            <a:ext cx="4937760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Student privacy (DPDP Act 2023)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5852160" y="4956048"/>
            <a:ext cx="484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Rounded Rectangle 17462"/>
          <p:cNvSpPr/>
          <p:nvPr/>
        </p:nvSpPr>
        <p:spPr>
          <a:xfrm>
            <a:off x="6382512" y="4736592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6446520" y="4736592"/>
            <a:ext cx="5376672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Consent per request, masked IDs, access log for the student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320040" y="5248656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Oval 17465"/>
          <p:cNvSpPr/>
          <p:nvPr/>
        </p:nvSpPr>
        <p:spPr>
          <a:xfrm>
            <a:off x="384048" y="5294376"/>
            <a:ext cx="347472" cy="347472"/>
          </a:xfrm>
          <a:prstGeom prst="ellipse">
            <a:avLst/>
          </a:prstGeom>
          <a:solidFill>
            <a:srgbClr val="B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7" name="Picture 17466" descr="LuScale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491" y="5370819"/>
            <a:ext cx="194584" cy="194584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822960" y="5248656"/>
            <a:ext cx="4937760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Wrong flags could hurt colleges</a:t>
            </a:r>
          </a:p>
        </p:txBody>
      </p:sp>
      <p:cxnSp>
        <p:nvCxnSpPr>
          <p:cNvPr id="17469" name="Connector 17468"/>
          <p:cNvCxnSpPr/>
          <p:nvPr/>
        </p:nvCxnSpPr>
        <p:spPr>
          <a:xfrm>
            <a:off x="5852160" y="5468112"/>
            <a:ext cx="484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Rounded Rectangle 17469"/>
          <p:cNvSpPr/>
          <p:nvPr/>
        </p:nvSpPr>
        <p:spPr>
          <a:xfrm>
            <a:off x="6382512" y="5248656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1" name="TextBox 17470"/>
          <p:cNvSpPr txBox="1"/>
          <p:nvPr/>
        </p:nvSpPr>
        <p:spPr>
          <a:xfrm>
            <a:off x="6446520" y="5248656"/>
            <a:ext cx="5376672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Flags are review items; an officer decides; every action audited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320040" y="5760720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FCECEA"/>
          </a:solidFill>
          <a:ln w="9525">
            <a:solidFill>
              <a:srgbClr val="F0C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Oval 17472"/>
          <p:cNvSpPr/>
          <p:nvPr/>
        </p:nvSpPr>
        <p:spPr>
          <a:xfrm>
            <a:off x="384048" y="5806440"/>
            <a:ext cx="347472" cy="347472"/>
          </a:xfrm>
          <a:prstGeom prst="ellipse">
            <a:avLst/>
          </a:prstGeom>
          <a:solidFill>
            <a:srgbClr val="B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4" name="Picture 17473" descr="LuSmartphone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491" y="5882883"/>
            <a:ext cx="194584" cy="194584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822960" y="5760720"/>
            <a:ext cx="4937760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Low digital readiness of small colleges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5852160" y="5980176"/>
            <a:ext cx="484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6382512" y="5760720"/>
            <a:ext cx="5486400" cy="438912"/>
          </a:xfrm>
          <a:prstGeom prst="roundRect">
            <a:avLst>
              <a:gd name="adj" fmla="val 25000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6446520" y="5760720"/>
            <a:ext cx="5376672" cy="438912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E7B3E"/>
                </a:solidFill>
                <a:latin typeface="Arial"/>
              </a:rPr>
              <a:t>✔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Excel template with drop-downs, plain errors, Hindi toggle, mobile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AI Riders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97280"/>
            <a:ext cx="6035040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Potential impact on the target audience</a:t>
            </a:r>
          </a:p>
        </p:txBody>
      </p:sp>
      <p:cxnSp>
        <p:nvCxnSpPr>
          <p:cNvPr id="17411" name="Connector 17410"/>
          <p:cNvCxnSpPr/>
          <p:nvPr/>
        </p:nvCxnSpPr>
        <p:spPr>
          <a:xfrm flipH="1" flipV="1">
            <a:off x="1216152" y="2039112"/>
            <a:ext cx="2121408" cy="1618488"/>
          </a:xfrm>
          <a:prstGeom prst="line">
            <a:avLst/>
          </a:prstGeom>
          <a:ln w="31750">
            <a:solidFill>
              <a:srgbClr val="C9D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 flipV="1">
            <a:off x="3337560" y="2039112"/>
            <a:ext cx="2084832" cy="1618488"/>
          </a:xfrm>
          <a:prstGeom prst="line">
            <a:avLst/>
          </a:prstGeom>
          <a:ln w="31750">
            <a:solidFill>
              <a:srgbClr val="C9D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 flipH="1">
            <a:off x="1216152" y="3657600"/>
            <a:ext cx="2121408" cy="0"/>
          </a:xfrm>
          <a:prstGeom prst="line">
            <a:avLst/>
          </a:prstGeom>
          <a:ln w="31750">
            <a:solidFill>
              <a:srgbClr val="C9D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3337560" y="3657600"/>
            <a:ext cx="2084832" cy="0"/>
          </a:xfrm>
          <a:prstGeom prst="line">
            <a:avLst/>
          </a:prstGeom>
          <a:ln w="31750">
            <a:solidFill>
              <a:srgbClr val="C9D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3337560" y="3657600"/>
            <a:ext cx="9144" cy="2011680"/>
          </a:xfrm>
          <a:prstGeom prst="line">
            <a:avLst/>
          </a:prstGeom>
          <a:ln w="31750">
            <a:solidFill>
              <a:srgbClr val="C9D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2167128" y="2852928"/>
            <a:ext cx="2340864" cy="1483614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7" name="Picture 17416" descr="10_aicte_dashboard.png"/>
          <p:cNvPicPr>
            <a:picLocks noChangeAspect="1"/>
          </p:cNvPicPr>
          <p:nvPr/>
        </p:nvPicPr>
        <p:blipFill>
          <a:blip r:embed="rId4"/>
          <a:srcRect l="17800" t="5800" b="12000"/>
          <a:stretch>
            <a:fillRect/>
          </a:stretch>
        </p:blipFill>
        <p:spPr>
          <a:xfrm>
            <a:off x="2194560" y="2880360"/>
            <a:ext cx="2286000" cy="142875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2194560" y="4345686"/>
            <a:ext cx="2286000" cy="219456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One national view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0040" y="1536192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Oval 17419"/>
          <p:cNvSpPr/>
          <p:nvPr/>
        </p:nvSpPr>
        <p:spPr>
          <a:xfrm>
            <a:off x="393192" y="1627632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1" name="Picture 17420" descr="LuLandma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29" y="1720169"/>
            <a:ext cx="235549" cy="235549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868680" y="1609344"/>
            <a:ext cx="121615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AICTE &amp; regulators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93192" y="2084831"/>
            <a:ext cx="169164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excess &amp; dual enrolment
caught at submission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26280" y="1536192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Oval 17424"/>
          <p:cNvSpPr/>
          <p:nvPr/>
        </p:nvSpPr>
        <p:spPr>
          <a:xfrm>
            <a:off x="4599432" y="1627632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6" name="Picture 17425" descr="LuBuilding2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969" y="1720169"/>
            <a:ext cx="235549" cy="235549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5074920" y="1609344"/>
            <a:ext cx="121615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Institutions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599432" y="2084831"/>
            <a:ext cx="169164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one upload, errors
explained row by row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20040" y="315468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Oval 17429"/>
          <p:cNvSpPr/>
          <p:nvPr/>
        </p:nvSpPr>
        <p:spPr>
          <a:xfrm>
            <a:off x="393192" y="3246120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LuLine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29" y="3338657"/>
            <a:ext cx="235549" cy="235549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868680" y="3227832"/>
            <a:ext cx="121615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Policy makers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93192" y="3703320"/>
            <a:ext cx="169164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state / gender / category
analytics &amp; reports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26280" y="315468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Oval 17434"/>
          <p:cNvSpPr/>
          <p:nvPr/>
        </p:nvSpPr>
        <p:spPr>
          <a:xfrm>
            <a:off x="4599432" y="3246120"/>
            <a:ext cx="420624" cy="420624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LuBriefcas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1969" y="3338657"/>
            <a:ext cx="235549" cy="235549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5074920" y="3227832"/>
            <a:ext cx="121615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Employers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599432" y="3703320"/>
            <a:ext cx="169164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instant QR check,
consent-based facts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450592" y="5166360"/>
            <a:ext cx="1783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Oval 17439"/>
          <p:cNvSpPr/>
          <p:nvPr/>
        </p:nvSpPr>
        <p:spPr>
          <a:xfrm>
            <a:off x="2523744" y="5257800"/>
            <a:ext cx="420624" cy="420624"/>
          </a:xfrm>
          <a:prstGeom prst="ellipse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LuGraduationCap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6281" y="5350337"/>
            <a:ext cx="235549" cy="235549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2999232" y="5239512"/>
            <a:ext cx="121615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Students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2523744" y="5715000"/>
            <a:ext cx="1691640" cy="43891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lifelong record + control
over who sees it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583680" y="1097280"/>
            <a:ext cx="5285232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583680" y="1508760"/>
            <a:ext cx="2587752" cy="1261872"/>
          </a:xfrm>
          <a:prstGeom prst="roundRect">
            <a:avLst>
              <a:gd name="adj" fmla="val 8695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6693408" y="1618488"/>
            <a:ext cx="457200" cy="457200"/>
          </a:xfrm>
          <a:prstGeom prst="ellipse">
            <a:avLst/>
          </a:prstGeom>
          <a:solidFill>
            <a:srgbClr val="1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7" name="Picture 17446" descr="LuHeartHandshak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3992" y="1719072"/>
            <a:ext cx="256032" cy="256032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7242048" y="1618488"/>
            <a:ext cx="185623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Social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693408" y="2148839"/>
            <a:ext cx="2404872" cy="56692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fair admissions; students own
and control their record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9281160" y="1508760"/>
            <a:ext cx="2587752" cy="1261872"/>
          </a:xfrm>
          <a:prstGeom prst="roundRect">
            <a:avLst>
              <a:gd name="adj" fmla="val 8695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Oval 17450"/>
          <p:cNvSpPr/>
          <p:nvPr/>
        </p:nvSpPr>
        <p:spPr>
          <a:xfrm>
            <a:off x="9390888" y="1618488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2" name="Picture 17451" descr="LuIndianRupe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91472" y="1719072"/>
            <a:ext cx="256032" cy="256032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9939528" y="1618488"/>
            <a:ext cx="185623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Economic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9390888" y="2148839"/>
            <a:ext cx="2404872" cy="56692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open-source, no licence cost;
less manual scrutiny &amp; fraud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6583680" y="2862072"/>
            <a:ext cx="2587752" cy="1261872"/>
          </a:xfrm>
          <a:prstGeom prst="roundRect">
            <a:avLst>
              <a:gd name="adj" fmla="val 8695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6693408" y="2971800"/>
            <a:ext cx="457200" cy="457200"/>
          </a:xfrm>
          <a:prstGeom prst="ellipse">
            <a:avLst/>
          </a:prstGeom>
          <a:solidFill>
            <a:srgbClr val="1E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7" name="Picture 17456" descr="LuLeaf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3992" y="3072384"/>
            <a:ext cx="256032" cy="256032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7242048" y="2971800"/>
            <a:ext cx="185623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Environmental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693408" y="3502152"/>
            <a:ext cx="2404872" cy="56692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paperless returns and
verification; no courier checks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9281160" y="2862072"/>
            <a:ext cx="2587752" cy="1261872"/>
          </a:xfrm>
          <a:prstGeom prst="roundRect">
            <a:avLst>
              <a:gd name="adj" fmla="val 8695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Oval 17460"/>
          <p:cNvSpPr/>
          <p:nvPr/>
        </p:nvSpPr>
        <p:spPr>
          <a:xfrm>
            <a:off x="9390888" y="29718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2" name="Picture 17461" descr="LuLandma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3072384"/>
            <a:ext cx="256032" cy="256032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9939528" y="2971800"/>
            <a:ext cx="1856232" cy="45720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Governance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9390888" y="3502152"/>
            <a:ext cx="2404872" cy="56692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real-time evidence for
approvals &amp; show-cause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6601968" y="4288536"/>
            <a:ext cx="2340864" cy="1671227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6" name="Picture 17465" descr="25_certificate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629400" y="4315968"/>
            <a:ext cx="2286000" cy="1616363"/>
          </a:xfrm>
          <a:prstGeom prst="rect">
            <a:avLst/>
          </a:prstGeom>
        </p:spPr>
      </p:pic>
      <p:sp>
        <p:nvSpPr>
          <p:cNvPr id="17467" name="Rounded Rectangle 17466"/>
          <p:cNvSpPr/>
          <p:nvPr/>
        </p:nvSpPr>
        <p:spPr>
          <a:xfrm>
            <a:off x="9235440" y="4288536"/>
            <a:ext cx="2633472" cy="1439858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8" name="Picture 17467" descr="23_public_qr_verified.png"/>
          <p:cNvPicPr>
            <a:picLocks noChangeAspect="1"/>
          </p:cNvPicPr>
          <p:nvPr/>
        </p:nvPicPr>
        <p:blipFill>
          <a:blip r:embed="rId14"/>
          <a:srcRect l="17000" t="47000" r="51000" b="25500"/>
          <a:stretch>
            <a:fillRect/>
          </a:stretch>
        </p:blipFill>
        <p:spPr>
          <a:xfrm>
            <a:off x="9262872" y="4315968"/>
            <a:ext cx="2578608" cy="1384994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6583680" y="5978051"/>
            <a:ext cx="2468880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050" b="0" i="0">
                <a:solidFill>
                  <a:srgbClr val="595959"/>
                </a:solidFill>
                <a:latin typeface="Arial"/>
              </a:rPr>
              <a:t>Certificate: APAAR ID + student ID + QR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9235440" y="5746682"/>
            <a:ext cx="2633472" cy="23774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ctr"/>
            <a:r>
              <a:rPr sz="1050" b="0" i="0">
                <a:solidFill>
                  <a:srgbClr val="595959"/>
                </a:solidFill>
                <a:latin typeface="Arial"/>
              </a:rPr>
              <a:t>QR scan: signature verified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AI Riders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97280"/>
            <a:ext cx="11548872" cy="310896"/>
          </a:xfrm>
          <a:prstGeom prst="roundRect">
            <a:avLst>
              <a:gd name="adj" fmla="val 23529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1" i="0">
                <a:solidFill>
                  <a:srgbClr val="E46C0A"/>
                </a:solidFill>
                <a:latin typeface="Arial"/>
              </a:rPr>
              <a:t>❖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481328"/>
            <a:ext cx="6217920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What our research changed in the design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828800"/>
            <a:ext cx="3246120" cy="512064"/>
          </a:xfrm>
          <a:prstGeom prst="roundRect">
            <a:avLst>
              <a:gd name="adj" fmla="val 21428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Oval 17412"/>
          <p:cNvSpPr/>
          <p:nvPr/>
        </p:nvSpPr>
        <p:spPr>
          <a:xfrm>
            <a:off x="384048" y="1892807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4" name="Picture 17413" descr="LuFingerpr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38" y="1977298"/>
            <a:ext cx="215066" cy="215066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841248" y="1828800"/>
            <a:ext cx="269748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APAAR is created through Aadhaar-based verification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3611880" y="2084832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3931920" y="1828800"/>
            <a:ext cx="2606040" cy="512064"/>
          </a:xfrm>
          <a:prstGeom prst="roundRect">
            <a:avLst>
              <a:gd name="adj" fmla="val 21428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3995928" y="1828800"/>
            <a:ext cx="251460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FN / OCI students get a provisional ID (APR-007)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0040" y="2432304"/>
            <a:ext cx="3246120" cy="512064"/>
          </a:xfrm>
          <a:prstGeom prst="roundRect">
            <a:avLst>
              <a:gd name="adj" fmla="val 21428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Oval 17419"/>
          <p:cNvSpPr/>
          <p:nvPr/>
        </p:nvSpPr>
        <p:spPr>
          <a:xfrm>
            <a:off x="384048" y="2496312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1" name="Picture 17420" descr="LuShield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" y="2580802"/>
            <a:ext cx="215066" cy="215066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841248" y="2432304"/>
            <a:ext cx="269748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APAAR consent is voluntary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3611880" y="2688336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3931920" y="2432304"/>
            <a:ext cx="2606040" cy="512064"/>
          </a:xfrm>
          <a:prstGeom prst="roundRect">
            <a:avLst>
              <a:gd name="adj" fmla="val 21428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3995928" y="2432304"/>
            <a:ext cx="251460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Opt-out recorded, never rejected (APR-005)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0040" y="3035808"/>
            <a:ext cx="3246120" cy="512064"/>
          </a:xfrm>
          <a:prstGeom prst="roundRect">
            <a:avLst>
              <a:gd name="adj" fmla="val 21428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Oval 17426"/>
          <p:cNvSpPr/>
          <p:nvPr/>
        </p:nvSpPr>
        <p:spPr>
          <a:xfrm>
            <a:off x="384048" y="3099816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8" name="Picture 17427" descr="Lu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538" y="3184306"/>
            <a:ext cx="215066" cy="215066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841248" y="3035808"/>
            <a:ext cx="269748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DPDP Rules 2025 phase in to 2027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3611880" y="3291840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3931920" y="3035808"/>
            <a:ext cx="2606040" cy="512064"/>
          </a:xfrm>
          <a:prstGeom prst="roundRect">
            <a:avLst>
              <a:gd name="adj" fmla="val 21428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3995928" y="3035808"/>
            <a:ext cx="251460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Consent, purpose limits, student access log built in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0040" y="3639312"/>
            <a:ext cx="3246120" cy="512064"/>
          </a:xfrm>
          <a:prstGeom prst="roundRect">
            <a:avLst>
              <a:gd name="adj" fmla="val 21428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Oval 17433"/>
          <p:cNvSpPr/>
          <p:nvPr/>
        </p:nvSpPr>
        <p:spPr>
          <a:xfrm>
            <a:off x="384048" y="3703320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Lu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538" y="3787810"/>
            <a:ext cx="215066" cy="215066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841248" y="3639312"/>
            <a:ext cx="269748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AICTE asks for APAAR-linked records on NAD / ABC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3611880" y="3895344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3931920" y="3639312"/>
            <a:ext cx="2606040" cy="512064"/>
          </a:xfrm>
          <a:prstGeom prst="roundRect">
            <a:avLst>
              <a:gd name="adj" fmla="val 21428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3995928" y="3639312"/>
            <a:ext cx="251460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Feed NAD / ABC, not a parallel silo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20040" y="4242816"/>
            <a:ext cx="3246120" cy="512064"/>
          </a:xfrm>
          <a:prstGeom prst="roundRect">
            <a:avLst>
              <a:gd name="adj" fmla="val 21428"/>
            </a:avLst>
          </a:prstGeom>
          <a:solidFill>
            <a:srgbClr val="EEF3FA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Oval 17440"/>
          <p:cNvSpPr/>
          <p:nvPr/>
        </p:nvSpPr>
        <p:spPr>
          <a:xfrm>
            <a:off x="384048" y="4306824"/>
            <a:ext cx="384048" cy="384048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2" name="Picture 17441" descr="LuGaug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538" y="4391314"/>
            <a:ext cx="215066" cy="215066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841248" y="4242816"/>
            <a:ext cx="269748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APH sets supernumerary quotas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3611880" y="449884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3931920" y="4242816"/>
            <a:ext cx="2606040" cy="512064"/>
          </a:xfrm>
          <a:prstGeom prst="roundRect">
            <a:avLst>
              <a:gd name="adj" fmla="val 21428"/>
            </a:avLst>
          </a:prstGeom>
          <a:solidFill>
            <a:srgbClr val="E8F5EC"/>
          </a:solidFill>
          <a:ln w="9525">
            <a:solidFill>
              <a:srgbClr val="BFE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3995928" y="4242816"/>
            <a:ext cx="2514600" cy="512064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Quota caps are configuration, versioned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812280" y="1481328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1F3864"/>
                </a:solidFill>
                <a:latin typeface="Arial"/>
              </a:rPr>
              <a:t>References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812280" y="1783080"/>
            <a:ext cx="5056632" cy="3017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1. AICTE PS SIH26263, SIH 2026 portal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sih.gov.in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2. AICTE Approval Process Handbook 2024-27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aicte.gov.in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3. APAAR / Academic Bank of Credits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abc.gov.in · digilocker.gov.in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4. DigiLocker Requester &amp; Issuer APIs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apisetu.gov.in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5. Digital Personal Data Protection Act 2023; DPDP Rules 2025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meity.gov.in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6. W3C Verifiable Credentials Data Model; RFC 8032 (Ed25519)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w3.org/TR/vc-data-model · rfc-editor.org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7. Liu, Ting &amp; Zhou (2008) Isolation Forest, IEEE ICDM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doi.org/10.1109/ICDM.2008.17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8. Fellegi &amp; Sunter (1969) A Theory for Record Linkage, JASA 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doi.org/10.1080/01621459.1969.10501049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320040" y="4983480"/>
            <a:ext cx="11548872" cy="1261872"/>
          </a:xfrm>
          <a:prstGeom prst="roundRect">
            <a:avLst>
              <a:gd name="adj" fmla="val 8695"/>
            </a:avLst>
          </a:prstGeom>
          <a:solidFill>
            <a:srgbClr val="FDF1E6"/>
          </a:solidFill>
          <a:ln w="9525">
            <a:solidFill>
              <a:srgbClr val="E4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0" name="Picture 17449" descr="qr_li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074920"/>
            <a:ext cx="1078992" cy="1078992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1664208" y="5093208"/>
            <a:ext cx="4389120" cy="1042415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E46C0A"/>
                </a:solidFill>
                <a:latin typeface="Arial"/>
              </a:rPr>
              <a:t>Live prototype</a:t>
            </a:r>
          </a:p>
          <a:p>
            <a:pPr algn="l"/>
            <a:r>
              <a:rPr sz="1200" b="0" i="0">
                <a:solidFill>
                  <a:srgbClr val="0070C0"/>
                </a:solidFill>
                <a:latin typeface="Arial"/>
              </a:rPr>
              <a:t>https://vidya-pramaan-sih26263.onrender.com</a:t>
            </a:r>
          </a:p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Synthetic data only · demo users for every role</a:t>
            </a:r>
          </a:p>
        </p:txBody>
      </p:sp>
      <p:pic>
        <p:nvPicPr>
          <p:cNvPr id="17452" name="Picture 17451" descr="qr_rep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5074920"/>
            <a:ext cx="1078992" cy="1078992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7424927" y="5093208"/>
            <a:ext cx="4389120" cy="1042415"/>
          </a:xfrm>
          <a:prstGeom prst="rect">
            <a:avLst/>
          </a:prstGeom>
          <a:noFill/>
        </p:spPr>
        <p:txBody>
          <a:bodyPr wrap="square" lIns="45720" rIns="45720" tIns="18288" bIns="18288" anchor="ctr"/>
          <a:lstStyle/>
          <a:p>
            <a:pPr algn="l"/>
            <a:r>
              <a:rPr sz="1300" b="1" i="0">
                <a:solidFill>
                  <a:srgbClr val="E46C0A"/>
                </a:solidFill>
                <a:latin typeface="Arial"/>
              </a:rPr>
              <a:t>Source code &amp; tests</a:t>
            </a:r>
          </a:p>
          <a:p>
            <a:pPr algn="l"/>
            <a:r>
              <a:rPr sz="1200" b="0" i="0">
                <a:solidFill>
                  <a:srgbClr val="0070C0"/>
                </a:solidFill>
                <a:latin typeface="Arial"/>
              </a:rPr>
              <a:t>https://github.com/Pulkitkh/VidyaPramaan</a:t>
            </a:r>
          </a:p>
          <a:p>
            <a:pPr algn="l"/>
            <a:r>
              <a:rPr sz="1050" b="0" i="0">
                <a:solidFill>
                  <a:srgbClr val="595959"/>
                </a:solidFill>
                <a:latin typeface="Arial"/>
              </a:rPr>
              <a:t>25 API tests + browser walkthrough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