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6.png"/><Relationship Id="rId7" Type="http://schemas.openxmlformats.org/officeDocument/2006/relationships/image" Target="../media/image11.png"/><Relationship Id="rId8" Type="http://schemas.openxmlformats.org/officeDocument/2006/relationships/image" Target="../media/image16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24.png"/><Relationship Id="rId12" Type="http://schemas.openxmlformats.org/officeDocument/2006/relationships/image" Target="../media/image17.png"/><Relationship Id="rId13" Type="http://schemas.openxmlformats.org/officeDocument/2006/relationships/image" Target="../media/image25.png"/><Relationship Id="rId14" Type="http://schemas.openxmlformats.org/officeDocument/2006/relationships/image" Target="../media/image2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0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Relationship Id="rId9" Type="http://schemas.openxmlformats.org/officeDocument/2006/relationships/image" Target="../media/image31.png"/><Relationship Id="rId10" Type="http://schemas.openxmlformats.org/officeDocument/2006/relationships/image" Target="../media/image32.png"/><Relationship Id="rId11" Type="http://schemas.openxmlformats.org/officeDocument/2006/relationships/image" Target="../media/image33.png"/><Relationship Id="rId12" Type="http://schemas.openxmlformats.org/officeDocument/2006/relationships/image" Target="../media/image34.png"/><Relationship Id="rId13" Type="http://schemas.openxmlformats.org/officeDocument/2006/relationships/image" Target="../media/image35.png"/><Relationship Id="rId14" Type="http://schemas.openxmlformats.org/officeDocument/2006/relationships/image" Target="../media/image3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37.png"/><Relationship Id="rId6" Type="http://schemas.openxmlformats.org/officeDocument/2006/relationships/image" Target="../media/image17.png"/><Relationship Id="rId7" Type="http://schemas.openxmlformats.org/officeDocument/2006/relationships/image" Target="../media/image6.png"/><Relationship Id="rId8" Type="http://schemas.openxmlformats.org/officeDocument/2006/relationships/image" Target="../media/image9.png"/><Relationship Id="rId9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240280"/>
            <a:ext cx="566928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</a:t>
            </a:r>
            <a:r>
              <a:rPr sz="1700" b="0">
                <a:solidFill>
                  <a:srgbClr val="0070C0"/>
                </a:solidFill>
                <a:latin typeface="Arial"/>
              </a:rPr>
              <a:t> SIH26263</a:t>
            </a: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</a:t>
            </a:r>
            <a:r>
              <a:rPr sz="1500" b="0">
                <a:solidFill>
                  <a:srgbClr val="0070C0"/>
                </a:solidFill>
                <a:latin typeface="Arial"/>
              </a:rPr>
              <a:t> Development of an APAAR ID-Based Student Data Management and Verification Platform for AICTE-Approved Institutions</a:t>
            </a: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Theme-</a:t>
            </a:r>
            <a:r>
              <a:rPr sz="1700" b="0">
                <a:solidFill>
                  <a:srgbClr val="0070C0"/>
                </a:solidFill>
                <a:latin typeface="Arial"/>
              </a:rPr>
              <a:t> Smart Automation</a:t>
            </a: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PS Category- </a:t>
            </a:r>
            <a:r>
              <a:rPr sz="1700" b="0">
                <a:solidFill>
                  <a:srgbClr val="0070C0"/>
                </a:solidFill>
                <a:latin typeface="Arial"/>
              </a:rPr>
              <a:t>Software</a:t>
            </a: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Team ID-</a:t>
            </a:r>
            <a:r>
              <a:rPr sz="1700" b="0">
                <a:solidFill>
                  <a:srgbClr val="0070C0"/>
                </a:solidFill>
                <a:latin typeface="Arial"/>
              </a:rPr>
              <a:t> (as allotted on the SIH portal)</a:t>
            </a: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</a:t>
            </a:r>
            <a:r>
              <a:rPr sz="1700" b="0">
                <a:solidFill>
                  <a:srgbClr val="0070C0"/>
                </a:solidFill>
                <a:latin typeface="Arial"/>
              </a:rPr>
              <a:t> AI Riders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274320"/>
            <a:ext cx="10972800" cy="502920"/>
          </a:xfrm>
        </p:spPr>
        <p:txBody>
          <a:bodyPr anchor="ctr" tIns="0" bIns="0"/>
          <a:lstStyle/>
          <a:p>
            <a:pPr eaLnBrk="1" hangingPunct="1"/>
            <a:r>
              <a:rPr lang="en-US" sz="30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VIDYA PRAMAAN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200"/>
              <a:t>AI Riders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TextBox 15362"/>
          <p:cNvSpPr txBox="1"/>
          <p:nvPr/>
        </p:nvSpPr>
        <p:spPr>
          <a:xfrm>
            <a:off x="2926080" y="731520"/>
            <a:ext cx="6309360" cy="310896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400" b="0" i="0">
                <a:solidFill>
                  <a:srgbClr val="595959"/>
                </a:solidFill>
                <a:latin typeface="Arial"/>
              </a:rPr>
              <a:t>APAAR-linked student data, validation &amp; verification platform for AICTE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274320" y="1097280"/>
            <a:ext cx="11612880" cy="347472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700" b="1" i="0">
                <a:solidFill>
                  <a:srgbClr val="0070C0"/>
                </a:solidFill>
                <a:latin typeface="Arial"/>
              </a:rPr>
              <a:t>❖ </a:t>
            </a:r>
            <a:r>
              <a:rPr sz="1700" b="1" i="0">
                <a:solidFill>
                  <a:srgbClr val="1F3864"/>
                </a:solidFill>
                <a:latin typeface="Arial"/>
              </a:rPr>
              <a:t>Proposed Solution (Describe your Idea/Solution/Prototype)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320040" y="1517904"/>
            <a:ext cx="4206240" cy="310896"/>
          </a:xfrm>
          <a:prstGeom prst="roundRect">
            <a:avLst>
              <a:gd name="adj" fmla="val 23529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/>
            <a:r>
              <a:rPr sz="1200" b="1" i="0">
                <a:solidFill>
                  <a:srgbClr val="E46C0A"/>
                </a:solidFill>
                <a:latin typeface="Arial"/>
              </a:rPr>
              <a:t>❖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Detailed explanation of the proposed solution</a:t>
            </a:r>
          </a:p>
        </p:txBody>
      </p:sp>
      <p:sp>
        <p:nvSpPr>
          <p:cNvPr id="15366" name="Oval 15365"/>
          <p:cNvSpPr/>
          <p:nvPr/>
        </p:nvSpPr>
        <p:spPr>
          <a:xfrm>
            <a:off x="1058417" y="1920240"/>
            <a:ext cx="603504" cy="603504"/>
          </a:xfrm>
          <a:prstGeom prst="ellipse">
            <a:avLst/>
          </a:prstGeom>
          <a:solidFill>
            <a:srgbClr val="E4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67" name="Picture 15366" descr="LuUpload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1188" y="2053010"/>
            <a:ext cx="337962" cy="337962"/>
          </a:xfrm>
          <a:prstGeom prst="rect">
            <a:avLst/>
          </a:prstGeom>
        </p:spPr>
      </p:pic>
      <p:cxnSp>
        <p:nvCxnSpPr>
          <p:cNvPr id="15368" name="Connector 15367"/>
          <p:cNvCxnSpPr/>
          <p:nvPr/>
        </p:nvCxnSpPr>
        <p:spPr>
          <a:xfrm>
            <a:off x="1744217" y="2221992"/>
            <a:ext cx="1129284" cy="0"/>
          </a:xfrm>
          <a:prstGeom prst="line">
            <a:avLst/>
          </a:prstGeom>
          <a:ln w="25400">
            <a:solidFill>
              <a:srgbClr val="0070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69" name="TextBox 15368"/>
          <p:cNvSpPr txBox="1"/>
          <p:nvPr/>
        </p:nvSpPr>
        <p:spPr>
          <a:xfrm>
            <a:off x="411479" y="2560320"/>
            <a:ext cx="1897379" cy="256032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1" i="0">
                <a:solidFill>
                  <a:srgbClr val="1F3864"/>
                </a:solidFill>
                <a:latin typeface="Arial"/>
              </a:rPr>
              <a:t>Institution upload</a:t>
            </a:r>
          </a:p>
        </p:txBody>
      </p:sp>
      <p:sp>
        <p:nvSpPr>
          <p:cNvPr id="15370" name="TextBox 15369"/>
          <p:cNvSpPr txBox="1"/>
          <p:nvPr/>
        </p:nvSpPr>
        <p:spPr>
          <a:xfrm>
            <a:off x="411479" y="2798064"/>
            <a:ext cx="1897379" cy="237744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100" b="0" i="0">
                <a:solidFill>
                  <a:srgbClr val="595959"/>
                </a:solidFill>
                <a:latin typeface="Arial"/>
              </a:rPr>
              <a:t>Excel · CSV · API</a:t>
            </a:r>
          </a:p>
        </p:txBody>
      </p:sp>
      <p:sp>
        <p:nvSpPr>
          <p:cNvPr id="15371" name="Oval 15370"/>
          <p:cNvSpPr/>
          <p:nvPr/>
        </p:nvSpPr>
        <p:spPr>
          <a:xfrm>
            <a:off x="2955798" y="1920240"/>
            <a:ext cx="603504" cy="603504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72" name="Picture 15371" descr="LuFingerprint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88568" y="2053010"/>
            <a:ext cx="337962" cy="337962"/>
          </a:xfrm>
          <a:prstGeom prst="rect">
            <a:avLst/>
          </a:prstGeom>
        </p:spPr>
      </p:pic>
      <p:cxnSp>
        <p:nvCxnSpPr>
          <p:cNvPr id="15373" name="Connector 15372"/>
          <p:cNvCxnSpPr/>
          <p:nvPr/>
        </p:nvCxnSpPr>
        <p:spPr>
          <a:xfrm>
            <a:off x="3641598" y="2221992"/>
            <a:ext cx="1129283" cy="0"/>
          </a:xfrm>
          <a:prstGeom prst="line">
            <a:avLst/>
          </a:prstGeom>
          <a:ln w="25400">
            <a:solidFill>
              <a:srgbClr val="0070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4" name="TextBox 15373"/>
          <p:cNvSpPr txBox="1"/>
          <p:nvPr/>
        </p:nvSpPr>
        <p:spPr>
          <a:xfrm>
            <a:off x="2308860" y="2560320"/>
            <a:ext cx="1897379" cy="256032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1" i="0">
                <a:solidFill>
                  <a:srgbClr val="1F3864"/>
                </a:solidFill>
                <a:latin typeface="Arial"/>
              </a:rPr>
              <a:t>APAAR validation</a:t>
            </a:r>
          </a:p>
        </p:txBody>
      </p:sp>
      <p:sp>
        <p:nvSpPr>
          <p:cNvPr id="15375" name="TextBox 15374"/>
          <p:cNvSpPr txBox="1"/>
          <p:nvPr/>
        </p:nvSpPr>
        <p:spPr>
          <a:xfrm>
            <a:off x="2308860" y="2798064"/>
            <a:ext cx="1897379" cy="237744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100" b="0" i="0">
                <a:solidFill>
                  <a:srgbClr val="595959"/>
                </a:solidFill>
                <a:latin typeface="Arial"/>
              </a:rPr>
              <a:t>registry check</a:t>
            </a:r>
          </a:p>
        </p:txBody>
      </p:sp>
      <p:sp>
        <p:nvSpPr>
          <p:cNvPr id="15376" name="Oval 15375"/>
          <p:cNvSpPr/>
          <p:nvPr/>
        </p:nvSpPr>
        <p:spPr>
          <a:xfrm>
            <a:off x="4853177" y="1920240"/>
            <a:ext cx="603504" cy="603504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77" name="Picture 15376" descr="LuListCheck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5948" y="2053010"/>
            <a:ext cx="337962" cy="337962"/>
          </a:xfrm>
          <a:prstGeom prst="rect">
            <a:avLst/>
          </a:prstGeom>
        </p:spPr>
      </p:pic>
      <p:cxnSp>
        <p:nvCxnSpPr>
          <p:cNvPr id="15378" name="Connector 15377"/>
          <p:cNvCxnSpPr/>
          <p:nvPr/>
        </p:nvCxnSpPr>
        <p:spPr>
          <a:xfrm>
            <a:off x="5538977" y="2221992"/>
            <a:ext cx="1129284" cy="0"/>
          </a:xfrm>
          <a:prstGeom prst="line">
            <a:avLst/>
          </a:prstGeom>
          <a:ln w="25400">
            <a:solidFill>
              <a:srgbClr val="0070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9" name="TextBox 15378"/>
          <p:cNvSpPr txBox="1"/>
          <p:nvPr/>
        </p:nvSpPr>
        <p:spPr>
          <a:xfrm>
            <a:off x="4206240" y="2560320"/>
            <a:ext cx="1897379" cy="256032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1" i="0">
                <a:solidFill>
                  <a:srgbClr val="1F3864"/>
                </a:solidFill>
                <a:latin typeface="Arial"/>
              </a:rPr>
              <a:t>Data verification</a:t>
            </a:r>
          </a:p>
        </p:txBody>
      </p:sp>
      <p:sp>
        <p:nvSpPr>
          <p:cNvPr id="15380" name="TextBox 15379"/>
          <p:cNvSpPr txBox="1"/>
          <p:nvPr/>
        </p:nvSpPr>
        <p:spPr>
          <a:xfrm>
            <a:off x="4206240" y="2798064"/>
            <a:ext cx="1897379" cy="237744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100" b="0" i="0">
                <a:solidFill>
                  <a:srgbClr val="595959"/>
                </a:solidFill>
                <a:latin typeface="Arial"/>
              </a:rPr>
              <a:t>25 explained rules</a:t>
            </a:r>
          </a:p>
        </p:txBody>
      </p:sp>
      <p:sp>
        <p:nvSpPr>
          <p:cNvPr id="15381" name="Oval 15380"/>
          <p:cNvSpPr/>
          <p:nvPr/>
        </p:nvSpPr>
        <p:spPr>
          <a:xfrm>
            <a:off x="6750557" y="1920240"/>
            <a:ext cx="603504" cy="603504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82" name="Picture 15381" descr="LuDatabase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83328" y="2053010"/>
            <a:ext cx="337962" cy="337962"/>
          </a:xfrm>
          <a:prstGeom prst="rect">
            <a:avLst/>
          </a:prstGeom>
        </p:spPr>
      </p:pic>
      <p:cxnSp>
        <p:nvCxnSpPr>
          <p:cNvPr id="15383" name="Connector 15382"/>
          <p:cNvCxnSpPr/>
          <p:nvPr/>
        </p:nvCxnSpPr>
        <p:spPr>
          <a:xfrm>
            <a:off x="7436358" y="2221992"/>
            <a:ext cx="1129284" cy="0"/>
          </a:xfrm>
          <a:prstGeom prst="line">
            <a:avLst/>
          </a:prstGeom>
          <a:ln w="25400">
            <a:solidFill>
              <a:srgbClr val="0070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84" name="TextBox 15383"/>
          <p:cNvSpPr txBox="1"/>
          <p:nvPr/>
        </p:nvSpPr>
        <p:spPr>
          <a:xfrm>
            <a:off x="6103620" y="2560320"/>
            <a:ext cx="1897379" cy="256032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1" i="0">
                <a:solidFill>
                  <a:srgbClr val="1F3864"/>
                </a:solidFill>
                <a:latin typeface="Arial"/>
              </a:rPr>
              <a:t>Central repository</a:t>
            </a:r>
          </a:p>
        </p:txBody>
      </p:sp>
      <p:sp>
        <p:nvSpPr>
          <p:cNvPr id="15385" name="TextBox 15384"/>
          <p:cNvSpPr txBox="1"/>
          <p:nvPr/>
        </p:nvSpPr>
        <p:spPr>
          <a:xfrm>
            <a:off x="6103620" y="2798064"/>
            <a:ext cx="1897379" cy="237744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100" b="0" i="0">
                <a:solidFill>
                  <a:srgbClr val="595959"/>
                </a:solidFill>
                <a:latin typeface="Arial"/>
              </a:rPr>
              <a:t>one record per student</a:t>
            </a:r>
          </a:p>
        </p:txBody>
      </p:sp>
      <p:sp>
        <p:nvSpPr>
          <p:cNvPr id="15386" name="Oval 15385"/>
          <p:cNvSpPr/>
          <p:nvPr/>
        </p:nvSpPr>
        <p:spPr>
          <a:xfrm>
            <a:off x="8647937" y="1920240"/>
            <a:ext cx="603504" cy="603504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87" name="Picture 15386" descr="LuActivity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80708" y="2053010"/>
            <a:ext cx="337962" cy="337962"/>
          </a:xfrm>
          <a:prstGeom prst="rect">
            <a:avLst/>
          </a:prstGeom>
        </p:spPr>
      </p:pic>
      <p:cxnSp>
        <p:nvCxnSpPr>
          <p:cNvPr id="15388" name="Connector 15387"/>
          <p:cNvCxnSpPr/>
          <p:nvPr/>
        </p:nvCxnSpPr>
        <p:spPr>
          <a:xfrm>
            <a:off x="9333737" y="2221992"/>
            <a:ext cx="1129284" cy="0"/>
          </a:xfrm>
          <a:prstGeom prst="line">
            <a:avLst/>
          </a:prstGeom>
          <a:ln w="25400">
            <a:solidFill>
              <a:srgbClr val="0070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89" name="TextBox 15388"/>
          <p:cNvSpPr txBox="1"/>
          <p:nvPr/>
        </p:nvSpPr>
        <p:spPr>
          <a:xfrm>
            <a:off x="8000999" y="2560320"/>
            <a:ext cx="1897379" cy="256032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1" i="0">
                <a:solidFill>
                  <a:srgbClr val="1F3864"/>
                </a:solidFill>
                <a:latin typeface="Arial"/>
              </a:rPr>
              <a:t>Analytics &amp; monitoring</a:t>
            </a:r>
          </a:p>
        </p:txBody>
      </p:sp>
      <p:sp>
        <p:nvSpPr>
          <p:cNvPr id="15390" name="TextBox 15389"/>
          <p:cNvSpPr txBox="1"/>
          <p:nvPr/>
        </p:nvSpPr>
        <p:spPr>
          <a:xfrm>
            <a:off x="8000999" y="2798064"/>
            <a:ext cx="1897379" cy="237744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100" b="0" i="0">
                <a:solidFill>
                  <a:srgbClr val="595959"/>
                </a:solidFill>
                <a:latin typeface="Arial"/>
              </a:rPr>
              <a:t>live risk map</a:t>
            </a:r>
          </a:p>
        </p:txBody>
      </p:sp>
      <p:sp>
        <p:nvSpPr>
          <p:cNvPr id="15391" name="Oval 15390"/>
          <p:cNvSpPr/>
          <p:nvPr/>
        </p:nvSpPr>
        <p:spPr>
          <a:xfrm>
            <a:off x="10545317" y="1920240"/>
            <a:ext cx="603504" cy="603504"/>
          </a:xfrm>
          <a:prstGeom prst="ellipse">
            <a:avLst/>
          </a:prstGeom>
          <a:solidFill>
            <a:srgbClr val="E4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92" name="Picture 15391" descr="LuQrCode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78088" y="2053010"/>
            <a:ext cx="337962" cy="337962"/>
          </a:xfrm>
          <a:prstGeom prst="rect">
            <a:avLst/>
          </a:prstGeom>
        </p:spPr>
      </p:pic>
      <p:sp>
        <p:nvSpPr>
          <p:cNvPr id="15393" name="TextBox 15392"/>
          <p:cNvSpPr txBox="1"/>
          <p:nvPr/>
        </p:nvSpPr>
        <p:spPr>
          <a:xfrm>
            <a:off x="9898379" y="2560320"/>
            <a:ext cx="1897379" cy="256032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1" i="0">
                <a:solidFill>
                  <a:srgbClr val="1F3864"/>
                </a:solidFill>
                <a:latin typeface="Arial"/>
              </a:rPr>
              <a:t>Authorised verification</a:t>
            </a:r>
          </a:p>
        </p:txBody>
      </p:sp>
      <p:sp>
        <p:nvSpPr>
          <p:cNvPr id="15394" name="TextBox 15393"/>
          <p:cNvSpPr txBox="1"/>
          <p:nvPr/>
        </p:nvSpPr>
        <p:spPr>
          <a:xfrm>
            <a:off x="9898379" y="2798064"/>
            <a:ext cx="1897379" cy="237744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100" b="0" i="0">
                <a:solidFill>
                  <a:srgbClr val="595959"/>
                </a:solidFill>
                <a:latin typeface="Arial"/>
              </a:rPr>
              <a:t>consent + signed QR</a:t>
            </a:r>
          </a:p>
        </p:txBody>
      </p:sp>
      <p:sp>
        <p:nvSpPr>
          <p:cNvPr id="15395" name="Rounded Rectangle 15394"/>
          <p:cNvSpPr/>
          <p:nvPr/>
        </p:nvSpPr>
        <p:spPr>
          <a:xfrm>
            <a:off x="320040" y="3200400"/>
            <a:ext cx="5669280" cy="310896"/>
          </a:xfrm>
          <a:prstGeom prst="roundRect">
            <a:avLst>
              <a:gd name="adj" fmla="val 23529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/>
            <a:r>
              <a:rPr sz="1200" b="1" i="0">
                <a:solidFill>
                  <a:srgbClr val="E46C0A"/>
                </a:solidFill>
                <a:latin typeface="Arial"/>
              </a:rPr>
              <a:t>❖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How it addresses the problem</a:t>
            </a:r>
          </a:p>
        </p:txBody>
      </p:sp>
      <p:sp>
        <p:nvSpPr>
          <p:cNvPr id="15396" name="Rounded Rectangle 15395"/>
          <p:cNvSpPr/>
          <p:nvPr/>
        </p:nvSpPr>
        <p:spPr>
          <a:xfrm>
            <a:off x="320040" y="3639312"/>
            <a:ext cx="2514600" cy="548640"/>
          </a:xfrm>
          <a:prstGeom prst="roundRect">
            <a:avLst>
              <a:gd name="adj" fmla="val 16666"/>
            </a:avLst>
          </a:prstGeom>
          <a:solidFill>
            <a:srgbClr val="FCECEA"/>
          </a:solidFill>
          <a:ln w="9525">
            <a:solidFill>
              <a:srgbClr val="F0C4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/>
            <a:r>
              <a:rPr sz="1200" b="1" i="0">
                <a:solidFill>
                  <a:srgbClr val="B42B2B"/>
                </a:solidFill>
                <a:latin typeface="Arial"/>
              </a:rPr>
              <a:t>✖ 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Only totals reported (except PGDM)</a:t>
            </a:r>
          </a:p>
        </p:txBody>
      </p:sp>
      <p:cxnSp>
        <p:nvCxnSpPr>
          <p:cNvPr id="15397" name="Connector 15396"/>
          <p:cNvCxnSpPr/>
          <p:nvPr/>
        </p:nvCxnSpPr>
        <p:spPr>
          <a:xfrm>
            <a:off x="2880360" y="3913632"/>
            <a:ext cx="45720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98" name="Rounded Rectangle 15397"/>
          <p:cNvSpPr/>
          <p:nvPr/>
        </p:nvSpPr>
        <p:spPr>
          <a:xfrm>
            <a:off x="3383280" y="3639312"/>
            <a:ext cx="2606040" cy="548640"/>
          </a:xfrm>
          <a:prstGeom prst="roundRect">
            <a:avLst>
              <a:gd name="adj" fmla="val 16666"/>
            </a:avLst>
          </a:prstGeom>
          <a:solidFill>
            <a:srgbClr val="E8F5EC"/>
          </a:solidFill>
          <a:ln w="9525">
            <a:solidFill>
              <a:srgbClr val="BFE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/>
            <a:r>
              <a:rPr sz="1200" b="1" i="0">
                <a:solidFill>
                  <a:srgbClr val="1E7B3E"/>
                </a:solidFill>
                <a:latin typeface="Arial"/>
              </a:rPr>
              <a:t>✔ 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Student-level records keyed on APAAR</a:t>
            </a:r>
          </a:p>
        </p:txBody>
      </p:sp>
      <p:sp>
        <p:nvSpPr>
          <p:cNvPr id="15399" name="Rounded Rectangle 15398"/>
          <p:cNvSpPr/>
          <p:nvPr/>
        </p:nvSpPr>
        <p:spPr>
          <a:xfrm>
            <a:off x="320040" y="4297680"/>
            <a:ext cx="2514600" cy="548640"/>
          </a:xfrm>
          <a:prstGeom prst="roundRect">
            <a:avLst>
              <a:gd name="adj" fmla="val 16666"/>
            </a:avLst>
          </a:prstGeom>
          <a:solidFill>
            <a:srgbClr val="FCECEA"/>
          </a:solidFill>
          <a:ln w="9525">
            <a:solidFill>
              <a:srgbClr val="F0C4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/>
            <a:r>
              <a:rPr sz="1200" b="1" i="0">
                <a:solidFill>
                  <a:srgbClr val="B42B2B"/>
                </a:solidFill>
                <a:latin typeface="Arial"/>
              </a:rPr>
              <a:t>✖ 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Excess admissions found late</a:t>
            </a:r>
          </a:p>
        </p:txBody>
      </p:sp>
      <p:cxnSp>
        <p:nvCxnSpPr>
          <p:cNvPr id="15400" name="Connector 15399"/>
          <p:cNvCxnSpPr/>
          <p:nvPr/>
        </p:nvCxnSpPr>
        <p:spPr>
          <a:xfrm>
            <a:off x="2880360" y="4572000"/>
            <a:ext cx="45720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01" name="Rounded Rectangle 15400"/>
          <p:cNvSpPr/>
          <p:nvPr/>
        </p:nvSpPr>
        <p:spPr>
          <a:xfrm>
            <a:off x="3383280" y="4297680"/>
            <a:ext cx="2606040" cy="548640"/>
          </a:xfrm>
          <a:prstGeom prst="roundRect">
            <a:avLst>
              <a:gd name="adj" fmla="val 16666"/>
            </a:avLst>
          </a:prstGeom>
          <a:solidFill>
            <a:srgbClr val="E8F5EC"/>
          </a:solidFill>
          <a:ln w="9525">
            <a:solidFill>
              <a:srgbClr val="BFE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/>
            <a:r>
              <a:rPr sz="1200" b="1" i="0">
                <a:solidFill>
                  <a:srgbClr val="1E7B3E"/>
                </a:solidFill>
                <a:latin typeface="Arial"/>
              </a:rPr>
              <a:t>✔ 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Seat #61 in a 60-seat course blocked at upload</a:t>
            </a:r>
          </a:p>
        </p:txBody>
      </p:sp>
      <p:sp>
        <p:nvSpPr>
          <p:cNvPr id="15402" name="Rounded Rectangle 15401"/>
          <p:cNvSpPr/>
          <p:nvPr/>
        </p:nvSpPr>
        <p:spPr>
          <a:xfrm>
            <a:off x="320040" y="4956048"/>
            <a:ext cx="2514600" cy="548640"/>
          </a:xfrm>
          <a:prstGeom prst="roundRect">
            <a:avLst>
              <a:gd name="adj" fmla="val 16666"/>
            </a:avLst>
          </a:prstGeom>
          <a:solidFill>
            <a:srgbClr val="FCECEA"/>
          </a:solidFill>
          <a:ln w="9525">
            <a:solidFill>
              <a:srgbClr val="F0C4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/>
            <a:r>
              <a:rPr sz="1200" b="1" i="0">
                <a:solidFill>
                  <a:srgbClr val="B42B2B"/>
                </a:solidFill>
                <a:latin typeface="Arial"/>
              </a:rPr>
              <a:t>✖ 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Same student at 2 colleges unnoticed</a:t>
            </a:r>
          </a:p>
        </p:txBody>
      </p:sp>
      <p:cxnSp>
        <p:nvCxnSpPr>
          <p:cNvPr id="15403" name="Connector 15402"/>
          <p:cNvCxnSpPr/>
          <p:nvPr/>
        </p:nvCxnSpPr>
        <p:spPr>
          <a:xfrm>
            <a:off x="2880360" y="5230368"/>
            <a:ext cx="45720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04" name="Rounded Rectangle 15403"/>
          <p:cNvSpPr/>
          <p:nvPr/>
        </p:nvSpPr>
        <p:spPr>
          <a:xfrm>
            <a:off x="3383280" y="4956048"/>
            <a:ext cx="2606040" cy="548640"/>
          </a:xfrm>
          <a:prstGeom prst="roundRect">
            <a:avLst>
              <a:gd name="adj" fmla="val 16666"/>
            </a:avLst>
          </a:prstGeom>
          <a:solidFill>
            <a:srgbClr val="E8F5EC"/>
          </a:solidFill>
          <a:ln w="9525">
            <a:solidFill>
              <a:srgbClr val="BFE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/>
            <a:r>
              <a:rPr sz="1200" b="1" i="0">
                <a:solidFill>
                  <a:srgbClr val="1E7B3E"/>
                </a:solidFill>
                <a:latin typeface="Arial"/>
              </a:rPr>
              <a:t>✔ 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Cross-college match: exact + fuzzy</a:t>
            </a:r>
          </a:p>
        </p:txBody>
      </p:sp>
      <p:sp>
        <p:nvSpPr>
          <p:cNvPr id="15405" name="Rounded Rectangle 15404"/>
          <p:cNvSpPr/>
          <p:nvPr/>
        </p:nvSpPr>
        <p:spPr>
          <a:xfrm>
            <a:off x="320040" y="5614416"/>
            <a:ext cx="2514600" cy="548640"/>
          </a:xfrm>
          <a:prstGeom prst="roundRect">
            <a:avLst>
              <a:gd name="adj" fmla="val 16666"/>
            </a:avLst>
          </a:prstGeom>
          <a:solidFill>
            <a:srgbClr val="FCECEA"/>
          </a:solidFill>
          <a:ln w="9525">
            <a:solidFill>
              <a:srgbClr val="F0C4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/>
            <a:r>
              <a:rPr sz="1200" b="1" i="0">
                <a:solidFill>
                  <a:srgbClr val="B42B2B"/>
                </a:solidFill>
                <a:latin typeface="Arial"/>
              </a:rPr>
              <a:t>✖ 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Records can't be verified at source</a:t>
            </a:r>
          </a:p>
        </p:txBody>
      </p:sp>
      <p:cxnSp>
        <p:nvCxnSpPr>
          <p:cNvPr id="15406" name="Connector 15405"/>
          <p:cNvCxnSpPr/>
          <p:nvPr/>
        </p:nvCxnSpPr>
        <p:spPr>
          <a:xfrm>
            <a:off x="2880360" y="5888736"/>
            <a:ext cx="45720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07" name="Rounded Rectangle 15406"/>
          <p:cNvSpPr/>
          <p:nvPr/>
        </p:nvSpPr>
        <p:spPr>
          <a:xfrm>
            <a:off x="3383280" y="5614416"/>
            <a:ext cx="2606040" cy="548640"/>
          </a:xfrm>
          <a:prstGeom prst="roundRect">
            <a:avLst>
              <a:gd name="adj" fmla="val 16666"/>
            </a:avLst>
          </a:prstGeom>
          <a:solidFill>
            <a:srgbClr val="E8F5EC"/>
          </a:solidFill>
          <a:ln w="9525">
            <a:solidFill>
              <a:srgbClr val="BFE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/>
            <a:r>
              <a:rPr sz="1200" b="1" i="0">
                <a:solidFill>
                  <a:srgbClr val="1E7B3E"/>
                </a:solidFill>
                <a:latin typeface="Arial"/>
              </a:rPr>
              <a:t>✔ 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Signed QR + consent-based check</a:t>
            </a:r>
          </a:p>
        </p:txBody>
      </p:sp>
      <p:sp>
        <p:nvSpPr>
          <p:cNvPr id="15408" name="Rounded Rectangle 15407"/>
          <p:cNvSpPr/>
          <p:nvPr/>
        </p:nvSpPr>
        <p:spPr>
          <a:xfrm>
            <a:off x="6217920" y="3200400"/>
            <a:ext cx="5650992" cy="310896"/>
          </a:xfrm>
          <a:prstGeom prst="roundRect">
            <a:avLst>
              <a:gd name="adj" fmla="val 23529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/>
            <a:r>
              <a:rPr sz="1200" b="1" i="0">
                <a:solidFill>
                  <a:srgbClr val="E46C0A"/>
                </a:solidFill>
                <a:latin typeface="Arial"/>
              </a:rPr>
              <a:t>❖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Innovation and uniqueness of the solution</a:t>
            </a:r>
          </a:p>
        </p:txBody>
      </p:sp>
      <p:sp>
        <p:nvSpPr>
          <p:cNvPr id="15409" name="Rounded Rectangle 15408"/>
          <p:cNvSpPr/>
          <p:nvPr/>
        </p:nvSpPr>
        <p:spPr>
          <a:xfrm>
            <a:off x="6217920" y="3639312"/>
            <a:ext cx="1810512" cy="1243584"/>
          </a:xfrm>
          <a:prstGeom prst="roundRect">
            <a:avLst>
              <a:gd name="adj" fmla="val 8823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10" name="Oval 15409"/>
          <p:cNvSpPr/>
          <p:nvPr/>
        </p:nvSpPr>
        <p:spPr>
          <a:xfrm>
            <a:off x="6876288" y="3730752"/>
            <a:ext cx="493776" cy="49377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11" name="Picture 15410" descr="LuListCheck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4918" y="3839382"/>
            <a:ext cx="276514" cy="276514"/>
          </a:xfrm>
          <a:prstGeom prst="rect">
            <a:avLst/>
          </a:prstGeom>
        </p:spPr>
      </p:pic>
      <p:sp>
        <p:nvSpPr>
          <p:cNvPr id="15412" name="TextBox 15411"/>
          <p:cNvSpPr txBox="1"/>
          <p:nvPr/>
        </p:nvSpPr>
        <p:spPr>
          <a:xfrm>
            <a:off x="6263640" y="4261104"/>
            <a:ext cx="1719072" cy="2743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1" i="0">
                <a:solidFill>
                  <a:srgbClr val="1F3864"/>
                </a:solidFill>
                <a:latin typeface="Arial"/>
              </a:rPr>
              <a:t>Explainable flags</a:t>
            </a:r>
          </a:p>
        </p:txBody>
      </p:sp>
      <p:sp>
        <p:nvSpPr>
          <p:cNvPr id="15413" name="TextBox 15412"/>
          <p:cNvSpPr txBox="1"/>
          <p:nvPr/>
        </p:nvSpPr>
        <p:spPr>
          <a:xfrm>
            <a:off x="6263640" y="4526280"/>
            <a:ext cx="1719072" cy="2743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100" b="0" i="0">
                <a:solidFill>
                  <a:srgbClr val="595959"/>
                </a:solidFill>
                <a:latin typeface="Arial"/>
              </a:rPr>
              <a:t>rule code + evidence</a:t>
            </a:r>
          </a:p>
        </p:txBody>
      </p:sp>
      <p:sp>
        <p:nvSpPr>
          <p:cNvPr id="15414" name="Rounded Rectangle 15413"/>
          <p:cNvSpPr/>
          <p:nvPr/>
        </p:nvSpPr>
        <p:spPr>
          <a:xfrm>
            <a:off x="8138160" y="3639312"/>
            <a:ext cx="1810512" cy="1243584"/>
          </a:xfrm>
          <a:prstGeom prst="roundRect">
            <a:avLst>
              <a:gd name="adj" fmla="val 8823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15" name="Oval 15414"/>
          <p:cNvSpPr/>
          <p:nvPr/>
        </p:nvSpPr>
        <p:spPr>
          <a:xfrm>
            <a:off x="8796528" y="3730752"/>
            <a:ext cx="493776" cy="49377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16" name="Picture 15415" descr="LuGauge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05158" y="3839382"/>
            <a:ext cx="276514" cy="276514"/>
          </a:xfrm>
          <a:prstGeom prst="rect">
            <a:avLst/>
          </a:prstGeom>
        </p:spPr>
      </p:pic>
      <p:sp>
        <p:nvSpPr>
          <p:cNvPr id="15417" name="TextBox 15416"/>
          <p:cNvSpPr txBox="1"/>
          <p:nvPr/>
        </p:nvSpPr>
        <p:spPr>
          <a:xfrm>
            <a:off x="8183880" y="4261104"/>
            <a:ext cx="1719072" cy="2743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1" i="0">
                <a:solidFill>
                  <a:srgbClr val="1F3864"/>
                </a:solidFill>
                <a:latin typeface="Arial"/>
              </a:rPr>
              <a:t>Live seat ledger</a:t>
            </a:r>
          </a:p>
        </p:txBody>
      </p:sp>
      <p:sp>
        <p:nvSpPr>
          <p:cNvPr id="15418" name="TextBox 15417"/>
          <p:cNvSpPr txBox="1"/>
          <p:nvPr/>
        </p:nvSpPr>
        <p:spPr>
          <a:xfrm>
            <a:off x="8183880" y="4526280"/>
            <a:ext cx="1719072" cy="2743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100" b="0" i="0">
                <a:solidFill>
                  <a:srgbClr val="595959"/>
                </a:solidFill>
                <a:latin typeface="Arial"/>
              </a:rPr>
              <a:t>intake &amp; quota caps</a:t>
            </a:r>
          </a:p>
        </p:txBody>
      </p:sp>
      <p:sp>
        <p:nvSpPr>
          <p:cNvPr id="15419" name="Rounded Rectangle 15418"/>
          <p:cNvSpPr/>
          <p:nvPr/>
        </p:nvSpPr>
        <p:spPr>
          <a:xfrm>
            <a:off x="10058400" y="3639312"/>
            <a:ext cx="1810512" cy="1243584"/>
          </a:xfrm>
          <a:prstGeom prst="roundRect">
            <a:avLst>
              <a:gd name="adj" fmla="val 8823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20" name="Oval 15419"/>
          <p:cNvSpPr/>
          <p:nvPr/>
        </p:nvSpPr>
        <p:spPr>
          <a:xfrm>
            <a:off x="10716768" y="3730752"/>
            <a:ext cx="493776" cy="49377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21" name="Picture 15420" descr="LuUsers_whi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5398" y="3839382"/>
            <a:ext cx="276514" cy="276514"/>
          </a:xfrm>
          <a:prstGeom prst="rect">
            <a:avLst/>
          </a:prstGeom>
        </p:spPr>
      </p:pic>
      <p:sp>
        <p:nvSpPr>
          <p:cNvPr id="15422" name="TextBox 15421"/>
          <p:cNvSpPr txBox="1"/>
          <p:nvPr/>
        </p:nvSpPr>
        <p:spPr>
          <a:xfrm>
            <a:off x="10104120" y="4261104"/>
            <a:ext cx="1719072" cy="2743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1" i="0">
                <a:solidFill>
                  <a:srgbClr val="1F3864"/>
                </a:solidFill>
                <a:latin typeface="Arial"/>
              </a:rPr>
              <a:t>Fuzzy identity match</a:t>
            </a:r>
          </a:p>
        </p:txBody>
      </p:sp>
      <p:sp>
        <p:nvSpPr>
          <p:cNvPr id="15423" name="TextBox 15422"/>
          <p:cNvSpPr txBox="1"/>
          <p:nvPr/>
        </p:nvSpPr>
        <p:spPr>
          <a:xfrm>
            <a:off x="10104120" y="4526280"/>
            <a:ext cx="1719072" cy="2743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100" b="0" i="0">
                <a:solidFill>
                  <a:srgbClr val="595959"/>
                </a:solidFill>
                <a:latin typeface="Arial"/>
              </a:rPr>
              <a:t>same person, new APAAR</a:t>
            </a:r>
          </a:p>
        </p:txBody>
      </p:sp>
      <p:sp>
        <p:nvSpPr>
          <p:cNvPr id="15424" name="Rounded Rectangle 15423"/>
          <p:cNvSpPr/>
          <p:nvPr/>
        </p:nvSpPr>
        <p:spPr>
          <a:xfrm>
            <a:off x="6217920" y="4992624"/>
            <a:ext cx="1810512" cy="1243584"/>
          </a:xfrm>
          <a:prstGeom prst="roundRect">
            <a:avLst>
              <a:gd name="adj" fmla="val 8823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25" name="Oval 15424"/>
          <p:cNvSpPr/>
          <p:nvPr/>
        </p:nvSpPr>
        <p:spPr>
          <a:xfrm>
            <a:off x="6876288" y="5084064"/>
            <a:ext cx="493776" cy="49377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26" name="Picture 15425" descr="LuBrainCircuit_whit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84918" y="5192694"/>
            <a:ext cx="276514" cy="276514"/>
          </a:xfrm>
          <a:prstGeom prst="rect">
            <a:avLst/>
          </a:prstGeom>
        </p:spPr>
      </p:pic>
      <p:sp>
        <p:nvSpPr>
          <p:cNvPr id="15427" name="TextBox 15426"/>
          <p:cNvSpPr txBox="1"/>
          <p:nvPr/>
        </p:nvSpPr>
        <p:spPr>
          <a:xfrm>
            <a:off x="6263640" y="5614416"/>
            <a:ext cx="1719072" cy="2743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1" i="0">
                <a:solidFill>
                  <a:srgbClr val="1F3864"/>
                </a:solidFill>
                <a:latin typeface="Arial"/>
              </a:rPr>
              <a:t>ML risk score</a:t>
            </a:r>
          </a:p>
        </p:txBody>
      </p:sp>
      <p:sp>
        <p:nvSpPr>
          <p:cNvPr id="15428" name="TextBox 15427"/>
          <p:cNvSpPr txBox="1"/>
          <p:nvPr/>
        </p:nvSpPr>
        <p:spPr>
          <a:xfrm>
            <a:off x="6263640" y="5879592"/>
            <a:ext cx="1719072" cy="2743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100" b="0" i="0">
                <a:solidFill>
                  <a:srgbClr val="595959"/>
                </a:solidFill>
                <a:latin typeface="Arial"/>
              </a:rPr>
              <a:t>with plain reasons</a:t>
            </a:r>
          </a:p>
        </p:txBody>
      </p:sp>
      <p:sp>
        <p:nvSpPr>
          <p:cNvPr id="15429" name="Rounded Rectangle 15428"/>
          <p:cNvSpPr/>
          <p:nvPr/>
        </p:nvSpPr>
        <p:spPr>
          <a:xfrm>
            <a:off x="8138160" y="4992624"/>
            <a:ext cx="1810512" cy="1243584"/>
          </a:xfrm>
          <a:prstGeom prst="roundRect">
            <a:avLst>
              <a:gd name="adj" fmla="val 8823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30" name="Oval 15429"/>
          <p:cNvSpPr/>
          <p:nvPr/>
        </p:nvSpPr>
        <p:spPr>
          <a:xfrm>
            <a:off x="8796528" y="5084064"/>
            <a:ext cx="493776" cy="49377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31" name="Picture 15430" descr="LuKeyRound_whit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905158" y="5192694"/>
            <a:ext cx="276514" cy="276514"/>
          </a:xfrm>
          <a:prstGeom prst="rect">
            <a:avLst/>
          </a:prstGeom>
        </p:spPr>
      </p:pic>
      <p:sp>
        <p:nvSpPr>
          <p:cNvPr id="15432" name="TextBox 15431"/>
          <p:cNvSpPr txBox="1"/>
          <p:nvPr/>
        </p:nvSpPr>
        <p:spPr>
          <a:xfrm>
            <a:off x="8183880" y="5614416"/>
            <a:ext cx="1719072" cy="2743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1" i="0">
                <a:solidFill>
                  <a:srgbClr val="1F3864"/>
                </a:solidFill>
                <a:latin typeface="Arial"/>
              </a:rPr>
              <a:t>Consent-first sharing</a:t>
            </a:r>
          </a:p>
        </p:txBody>
      </p:sp>
      <p:sp>
        <p:nvSpPr>
          <p:cNvPr id="15433" name="TextBox 15432"/>
          <p:cNvSpPr txBox="1"/>
          <p:nvPr/>
        </p:nvSpPr>
        <p:spPr>
          <a:xfrm>
            <a:off x="8183880" y="5879592"/>
            <a:ext cx="1719072" cy="2743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100" b="0" i="0">
                <a:solidFill>
                  <a:srgbClr val="595959"/>
                </a:solidFill>
                <a:latin typeface="Arial"/>
              </a:rPr>
              <a:t>student approves by OTP</a:t>
            </a:r>
          </a:p>
        </p:txBody>
      </p:sp>
      <p:sp>
        <p:nvSpPr>
          <p:cNvPr id="15434" name="Rounded Rectangle 15433"/>
          <p:cNvSpPr/>
          <p:nvPr/>
        </p:nvSpPr>
        <p:spPr>
          <a:xfrm>
            <a:off x="10058400" y="4992624"/>
            <a:ext cx="1810512" cy="1243584"/>
          </a:xfrm>
          <a:prstGeom prst="roundRect">
            <a:avLst>
              <a:gd name="adj" fmla="val 8823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35" name="Oval 15434"/>
          <p:cNvSpPr/>
          <p:nvPr/>
        </p:nvSpPr>
        <p:spPr>
          <a:xfrm>
            <a:off x="10716768" y="5084064"/>
            <a:ext cx="493776" cy="49377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36" name="Picture 15435" descr="LuLink2_whit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825398" y="5192694"/>
            <a:ext cx="276514" cy="276514"/>
          </a:xfrm>
          <a:prstGeom prst="rect">
            <a:avLst/>
          </a:prstGeom>
        </p:spPr>
      </p:pic>
      <p:sp>
        <p:nvSpPr>
          <p:cNvPr id="15437" name="TextBox 15436"/>
          <p:cNvSpPr txBox="1"/>
          <p:nvPr/>
        </p:nvSpPr>
        <p:spPr>
          <a:xfrm>
            <a:off x="10104120" y="5614416"/>
            <a:ext cx="1719072" cy="2743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1" i="0">
                <a:solidFill>
                  <a:srgbClr val="1F3864"/>
                </a:solidFill>
                <a:latin typeface="Arial"/>
              </a:rPr>
              <a:t>Tamper-evident audit</a:t>
            </a:r>
          </a:p>
        </p:txBody>
      </p:sp>
      <p:sp>
        <p:nvSpPr>
          <p:cNvPr id="15438" name="TextBox 15437"/>
          <p:cNvSpPr txBox="1"/>
          <p:nvPr/>
        </p:nvSpPr>
        <p:spPr>
          <a:xfrm>
            <a:off x="10104120" y="5879592"/>
            <a:ext cx="1719072" cy="2743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100" b="0" i="0">
                <a:solidFill>
                  <a:srgbClr val="595959"/>
                </a:solidFill>
                <a:latin typeface="Arial"/>
              </a:rPr>
              <a:t>hash-chained log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200"/>
              <a:t>AI Riders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20040" y="1097280"/>
            <a:ext cx="11548872" cy="310896"/>
          </a:xfrm>
          <a:prstGeom prst="roundRect">
            <a:avLst>
              <a:gd name="adj" fmla="val 23529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/>
            <a:r>
              <a:rPr sz="1200" b="1" i="0">
                <a:solidFill>
                  <a:srgbClr val="E46C0A"/>
                </a:solidFill>
                <a:latin typeface="Arial"/>
              </a:rPr>
              <a:t>❖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Technologies to be used (e.g. programming languages, frameworks, hardware)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56615" y="1508760"/>
            <a:ext cx="1851660" cy="713232"/>
          </a:xfrm>
          <a:prstGeom prst="roundRect">
            <a:avLst>
              <a:gd name="adj" fmla="val 15384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Oval 17411"/>
          <p:cNvSpPr/>
          <p:nvPr/>
        </p:nvSpPr>
        <p:spPr>
          <a:xfrm>
            <a:off x="429768" y="1664208"/>
            <a:ext cx="402336" cy="40233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3" name="Picture 17412" descr="LuServ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281" y="1752721"/>
            <a:ext cx="225308" cy="225308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868680" y="1572768"/>
            <a:ext cx="1321307" cy="310896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100" b="1" i="0">
                <a:solidFill>
                  <a:srgbClr val="1F3864"/>
                </a:solidFill>
                <a:latin typeface="Arial"/>
              </a:rPr>
              <a:t>Python · FastAPI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868680" y="1865376"/>
            <a:ext cx="1321307" cy="2743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050" b="0" i="0">
                <a:solidFill>
                  <a:srgbClr val="595959"/>
                </a:solidFill>
                <a:latin typeface="Arial"/>
              </a:rPr>
              <a:t>REST + OpenAPI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2281428" y="1508760"/>
            <a:ext cx="1851660" cy="713232"/>
          </a:xfrm>
          <a:prstGeom prst="roundRect">
            <a:avLst>
              <a:gd name="adj" fmla="val 15384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7" name="Oval 17416"/>
          <p:cNvSpPr/>
          <p:nvPr/>
        </p:nvSpPr>
        <p:spPr>
          <a:xfrm>
            <a:off x="2354580" y="1664208"/>
            <a:ext cx="402336" cy="40233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8" name="Picture 17417" descr="LuAtom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43093" y="1752721"/>
            <a:ext cx="225308" cy="225308"/>
          </a:xfrm>
          <a:prstGeom prst="rect">
            <a:avLst/>
          </a:prstGeom>
        </p:spPr>
      </p:pic>
      <p:sp>
        <p:nvSpPr>
          <p:cNvPr id="17419" name="TextBox 17418"/>
          <p:cNvSpPr txBox="1"/>
          <p:nvPr/>
        </p:nvSpPr>
        <p:spPr>
          <a:xfrm>
            <a:off x="2793492" y="1572768"/>
            <a:ext cx="1321307" cy="310896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100" b="1" i="0">
                <a:solidFill>
                  <a:srgbClr val="1F3864"/>
                </a:solidFill>
                <a:latin typeface="Arial"/>
              </a:rPr>
              <a:t>React · TypeScript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2793492" y="1865376"/>
            <a:ext cx="1321307" cy="2743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050" b="0" i="0">
                <a:solidFill>
                  <a:srgbClr val="595959"/>
                </a:solidFill>
                <a:latin typeface="Arial"/>
              </a:rPr>
              <a:t>Tailwind · Recharts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4206240" y="1508760"/>
            <a:ext cx="1851660" cy="713232"/>
          </a:xfrm>
          <a:prstGeom prst="roundRect">
            <a:avLst>
              <a:gd name="adj" fmla="val 15384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2" name="Oval 17421"/>
          <p:cNvSpPr/>
          <p:nvPr/>
        </p:nvSpPr>
        <p:spPr>
          <a:xfrm>
            <a:off x="4279392" y="1664208"/>
            <a:ext cx="402336" cy="40233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3" name="Picture 17422" descr="LuDatabas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67905" y="1752721"/>
            <a:ext cx="225308" cy="225308"/>
          </a:xfrm>
          <a:prstGeom prst="rect">
            <a:avLst/>
          </a:prstGeom>
        </p:spPr>
      </p:pic>
      <p:sp>
        <p:nvSpPr>
          <p:cNvPr id="17424" name="TextBox 17423"/>
          <p:cNvSpPr txBox="1"/>
          <p:nvPr/>
        </p:nvSpPr>
        <p:spPr>
          <a:xfrm>
            <a:off x="4718303" y="1572768"/>
            <a:ext cx="1321307" cy="310896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100" b="1" i="0">
                <a:solidFill>
                  <a:srgbClr val="1F3864"/>
                </a:solidFill>
                <a:latin typeface="Arial"/>
              </a:rPr>
              <a:t>SQLite → Postgres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4718303" y="1865376"/>
            <a:ext cx="1321307" cy="2743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050" b="0" i="0">
                <a:solidFill>
                  <a:srgbClr val="595959"/>
                </a:solidFill>
                <a:latin typeface="Arial"/>
              </a:rPr>
              <a:t>demo → production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6131051" y="1508760"/>
            <a:ext cx="1851660" cy="713232"/>
          </a:xfrm>
          <a:prstGeom prst="roundRect">
            <a:avLst>
              <a:gd name="adj" fmla="val 15384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7" name="Oval 17426"/>
          <p:cNvSpPr/>
          <p:nvPr/>
        </p:nvSpPr>
        <p:spPr>
          <a:xfrm>
            <a:off x="6204203" y="1664208"/>
            <a:ext cx="402336" cy="40233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8" name="Picture 17427" descr="LuBrainCircuit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92717" y="1752721"/>
            <a:ext cx="225308" cy="225308"/>
          </a:xfrm>
          <a:prstGeom prst="rect">
            <a:avLst/>
          </a:prstGeom>
        </p:spPr>
      </p:pic>
      <p:sp>
        <p:nvSpPr>
          <p:cNvPr id="17429" name="TextBox 17428"/>
          <p:cNvSpPr txBox="1"/>
          <p:nvPr/>
        </p:nvSpPr>
        <p:spPr>
          <a:xfrm>
            <a:off x="6643115" y="1572768"/>
            <a:ext cx="1321307" cy="310896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100" b="1" i="0">
                <a:solidFill>
                  <a:srgbClr val="1F3864"/>
                </a:solidFill>
                <a:latin typeface="Arial"/>
              </a:rPr>
              <a:t>scikit-learn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6643115" y="1865376"/>
            <a:ext cx="1321307" cy="2743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050" b="0" i="0">
                <a:solidFill>
                  <a:srgbClr val="595959"/>
                </a:solidFill>
                <a:latin typeface="Arial"/>
              </a:rPr>
              <a:t>Isolation Forest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8055863" y="1508760"/>
            <a:ext cx="1851660" cy="713232"/>
          </a:xfrm>
          <a:prstGeom prst="roundRect">
            <a:avLst>
              <a:gd name="adj" fmla="val 15384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2" name="Oval 17431"/>
          <p:cNvSpPr/>
          <p:nvPr/>
        </p:nvSpPr>
        <p:spPr>
          <a:xfrm>
            <a:off x="8129015" y="1664208"/>
            <a:ext cx="402336" cy="40233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3" name="Picture 17432" descr="LuSearch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17529" y="1752721"/>
            <a:ext cx="225308" cy="225308"/>
          </a:xfrm>
          <a:prstGeom prst="rect">
            <a:avLst/>
          </a:prstGeom>
        </p:spPr>
      </p:pic>
      <p:sp>
        <p:nvSpPr>
          <p:cNvPr id="17434" name="TextBox 17433"/>
          <p:cNvSpPr txBox="1"/>
          <p:nvPr/>
        </p:nvSpPr>
        <p:spPr>
          <a:xfrm>
            <a:off x="8567928" y="1572768"/>
            <a:ext cx="1321307" cy="310896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100" b="1" i="0">
                <a:solidFill>
                  <a:srgbClr val="1F3864"/>
                </a:solidFill>
                <a:latin typeface="Arial"/>
              </a:rPr>
              <a:t>RapidFuzz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8567928" y="1865376"/>
            <a:ext cx="1321307" cy="2743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050" b="0" i="0">
                <a:solidFill>
                  <a:srgbClr val="595959"/>
                </a:solidFill>
                <a:latin typeface="Arial"/>
              </a:rPr>
              <a:t>fuzzy matching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9980676" y="1508760"/>
            <a:ext cx="1851660" cy="713232"/>
          </a:xfrm>
          <a:prstGeom prst="roundRect">
            <a:avLst>
              <a:gd name="adj" fmla="val 15384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7" name="Oval 17436"/>
          <p:cNvSpPr/>
          <p:nvPr/>
        </p:nvSpPr>
        <p:spPr>
          <a:xfrm>
            <a:off x="10053828" y="1664208"/>
            <a:ext cx="402336" cy="40233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8" name="Picture 17437" descr="LuLock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2341" y="1752721"/>
            <a:ext cx="225308" cy="225308"/>
          </a:xfrm>
          <a:prstGeom prst="rect">
            <a:avLst/>
          </a:prstGeom>
        </p:spPr>
      </p:pic>
      <p:sp>
        <p:nvSpPr>
          <p:cNvPr id="17439" name="TextBox 17438"/>
          <p:cNvSpPr txBox="1"/>
          <p:nvPr/>
        </p:nvSpPr>
        <p:spPr>
          <a:xfrm>
            <a:off x="10492740" y="1572768"/>
            <a:ext cx="1321307" cy="310896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100" b="1" i="0">
                <a:solidFill>
                  <a:srgbClr val="1F3864"/>
                </a:solidFill>
                <a:latin typeface="Arial"/>
              </a:rPr>
              <a:t>Ed25519 · W3C VC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10492740" y="1865376"/>
            <a:ext cx="1321307" cy="2743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050" b="0" i="0">
                <a:solidFill>
                  <a:srgbClr val="595959"/>
                </a:solidFill>
                <a:latin typeface="Arial"/>
              </a:rPr>
              <a:t>signed QR records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320040" y="2377440"/>
            <a:ext cx="11548872" cy="310896"/>
          </a:xfrm>
          <a:prstGeom prst="roundRect">
            <a:avLst>
              <a:gd name="adj" fmla="val 23529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/>
            <a:r>
              <a:rPr sz="1200" b="1" i="0">
                <a:solidFill>
                  <a:srgbClr val="E46C0A"/>
                </a:solidFill>
                <a:latin typeface="Arial"/>
              </a:rPr>
              <a:t>❖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Methodology and process for implementation (Flow Charts/Images/ working prototype)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320040" y="2834640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 i="0">
                <a:solidFill>
                  <a:srgbClr val="1F3864"/>
                </a:solidFill>
                <a:latin typeface="Arial"/>
              </a:rPr>
              <a:t>1  Upload
Excel / CSV / API</a:t>
            </a:r>
          </a:p>
        </p:txBody>
      </p:sp>
      <p:cxnSp>
        <p:nvCxnSpPr>
          <p:cNvPr id="17443" name="Connector 17442"/>
          <p:cNvCxnSpPr/>
          <p:nvPr/>
        </p:nvCxnSpPr>
        <p:spPr>
          <a:xfrm>
            <a:off x="1920240" y="3118104"/>
            <a:ext cx="22860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4" name="Rounded Rectangle 17443"/>
          <p:cNvSpPr/>
          <p:nvPr/>
        </p:nvSpPr>
        <p:spPr>
          <a:xfrm>
            <a:off x="2148840" y="2834640"/>
            <a:ext cx="1783080" cy="566928"/>
          </a:xfrm>
          <a:prstGeom prst="roundRect">
            <a:avLst>
              <a:gd name="adj" fmla="val 16129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 i="0">
                <a:solidFill>
                  <a:srgbClr val="1F3864"/>
                </a:solidFill>
                <a:latin typeface="Arial"/>
              </a:rPr>
              <a:t>2  Check 25 rules
+ APAAR registry</a:t>
            </a:r>
          </a:p>
        </p:txBody>
      </p:sp>
      <p:cxnSp>
        <p:nvCxnSpPr>
          <p:cNvPr id="17445" name="Connector 17444"/>
          <p:cNvCxnSpPr/>
          <p:nvPr/>
        </p:nvCxnSpPr>
        <p:spPr>
          <a:xfrm>
            <a:off x="3931920" y="3118104"/>
            <a:ext cx="13716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6" name="Diamond 17445"/>
          <p:cNvSpPr/>
          <p:nvPr/>
        </p:nvSpPr>
        <p:spPr>
          <a:xfrm>
            <a:off x="4069080" y="2724912"/>
            <a:ext cx="1280160" cy="786384"/>
          </a:xfrm>
          <a:prstGeom prst="diamond">
            <a:avLst/>
          </a:prstGeom>
          <a:solidFill>
            <a:srgbClr val="FDF1E6"/>
          </a:solidFill>
          <a:ln w="9525">
            <a:solidFill>
              <a:srgbClr val="E46C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ctr"/>
            <a:r>
              <a:rPr sz="1100" b="1" i="0">
                <a:solidFill>
                  <a:srgbClr val="E46C0A"/>
                </a:solidFill>
                <a:latin typeface="Arial"/>
              </a:rPr>
              <a:t>Errors?</a:t>
            </a:r>
          </a:p>
        </p:txBody>
      </p:sp>
      <p:cxnSp>
        <p:nvCxnSpPr>
          <p:cNvPr id="17447" name="Connector 17446"/>
          <p:cNvCxnSpPr/>
          <p:nvPr/>
        </p:nvCxnSpPr>
        <p:spPr>
          <a:xfrm>
            <a:off x="5349240" y="3118104"/>
            <a:ext cx="91440" cy="0"/>
          </a:xfrm>
          <a:prstGeom prst="line">
            <a:avLst/>
          </a:prstGeom>
          <a:ln w="19050">
            <a:solidFill>
              <a:srgbClr val="1E7B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8" name="TextBox 17447"/>
          <p:cNvSpPr txBox="1"/>
          <p:nvPr/>
        </p:nvSpPr>
        <p:spPr>
          <a:xfrm>
            <a:off x="5102352" y="2816352"/>
            <a:ext cx="329184" cy="201168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100" b="1" i="0">
                <a:solidFill>
                  <a:srgbClr val="1E7B3E"/>
                </a:solidFill>
                <a:latin typeface="Arial"/>
              </a:rPr>
              <a:t>no</a:t>
            </a:r>
          </a:p>
        </p:txBody>
      </p:sp>
      <p:sp>
        <p:nvSpPr>
          <p:cNvPr id="17449" name="Rounded Rectangle 17448"/>
          <p:cNvSpPr/>
          <p:nvPr/>
        </p:nvSpPr>
        <p:spPr>
          <a:xfrm>
            <a:off x="5440680" y="2834640"/>
            <a:ext cx="914400" cy="566928"/>
          </a:xfrm>
          <a:prstGeom prst="roundRect">
            <a:avLst>
              <a:gd name="adj" fmla="val 16129"/>
            </a:avLst>
          </a:prstGeom>
          <a:solidFill>
            <a:srgbClr val="E8F5EC"/>
          </a:solidFill>
          <a:ln w="9525">
            <a:solidFill>
              <a:srgbClr val="BFE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 i="0">
                <a:solidFill>
                  <a:srgbClr val="1E7B3E"/>
                </a:solidFill>
                <a:latin typeface="Arial"/>
              </a:rPr>
              <a:t>3  Commit</a:t>
            </a:r>
          </a:p>
        </p:txBody>
      </p:sp>
      <p:cxnSp>
        <p:nvCxnSpPr>
          <p:cNvPr id="17450" name="Connector 17449"/>
          <p:cNvCxnSpPr/>
          <p:nvPr/>
        </p:nvCxnSpPr>
        <p:spPr>
          <a:xfrm>
            <a:off x="4709160" y="3511296"/>
            <a:ext cx="0" cy="256032"/>
          </a:xfrm>
          <a:prstGeom prst="line">
            <a:avLst/>
          </a:prstGeom>
          <a:ln w="19050">
            <a:solidFill>
              <a:srgbClr val="B42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1" name="TextBox 17450"/>
          <p:cNvSpPr txBox="1"/>
          <p:nvPr/>
        </p:nvSpPr>
        <p:spPr>
          <a:xfrm>
            <a:off x="4754880" y="3511296"/>
            <a:ext cx="365760" cy="201168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100" b="1" i="0">
                <a:solidFill>
                  <a:srgbClr val="B42B2B"/>
                </a:solidFill>
                <a:latin typeface="Arial"/>
              </a:rPr>
              <a:t>yes</a:t>
            </a:r>
          </a:p>
        </p:txBody>
      </p:sp>
      <p:sp>
        <p:nvSpPr>
          <p:cNvPr id="17452" name="Rounded Rectangle 17451"/>
          <p:cNvSpPr/>
          <p:nvPr/>
        </p:nvSpPr>
        <p:spPr>
          <a:xfrm>
            <a:off x="3657600" y="37673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CECEA"/>
          </a:solidFill>
          <a:ln w="9525">
            <a:solidFill>
              <a:srgbClr val="F0C4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 i="0">
                <a:solidFill>
                  <a:srgbClr val="B42B2B"/>
                </a:solidFill>
                <a:latin typeface="Arial"/>
              </a:rPr>
              <a:t>Row returned with reason</a:t>
            </a:r>
          </a:p>
        </p:txBody>
      </p:sp>
      <p:cxnSp>
        <p:nvCxnSpPr>
          <p:cNvPr id="17453" name="Connector 17452"/>
          <p:cNvCxnSpPr/>
          <p:nvPr/>
        </p:nvCxnSpPr>
        <p:spPr>
          <a:xfrm flipH="1">
            <a:off x="1115568" y="3995928"/>
            <a:ext cx="2542032" cy="0"/>
          </a:xfrm>
          <a:prstGeom prst="line">
            <a:avLst/>
          </a:prstGeom>
          <a:ln w="19050">
            <a:solidFill>
              <a:srgbClr val="B42B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54" name="Connector 17453"/>
          <p:cNvCxnSpPr/>
          <p:nvPr/>
        </p:nvCxnSpPr>
        <p:spPr>
          <a:xfrm flipV="1">
            <a:off x="1115568" y="3401568"/>
            <a:ext cx="0" cy="594360"/>
          </a:xfrm>
          <a:prstGeom prst="line">
            <a:avLst/>
          </a:prstGeom>
          <a:ln w="19050">
            <a:solidFill>
              <a:srgbClr val="B42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5" name="TextBox 17454"/>
          <p:cNvSpPr txBox="1"/>
          <p:nvPr/>
        </p:nvSpPr>
        <p:spPr>
          <a:xfrm>
            <a:off x="1188720" y="3611880"/>
            <a:ext cx="1828800" cy="201168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100" b="0" i="0">
                <a:solidFill>
                  <a:srgbClr val="B42B2B"/>
                </a:solidFill>
                <a:latin typeface="Arial"/>
              </a:rPr>
              <a:t>fix &amp; re-upload</a:t>
            </a:r>
          </a:p>
        </p:txBody>
      </p:sp>
      <p:cxnSp>
        <p:nvCxnSpPr>
          <p:cNvPr id="17456" name="Connector 17455"/>
          <p:cNvCxnSpPr/>
          <p:nvPr/>
        </p:nvCxnSpPr>
        <p:spPr>
          <a:xfrm>
            <a:off x="5897880" y="3401568"/>
            <a:ext cx="0" cy="1033272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7" name="Rounded Rectangle 17456"/>
          <p:cNvSpPr/>
          <p:nvPr/>
        </p:nvSpPr>
        <p:spPr>
          <a:xfrm>
            <a:off x="4526280" y="4434840"/>
            <a:ext cx="1828800" cy="603504"/>
          </a:xfrm>
          <a:prstGeom prst="roundRect">
            <a:avLst>
              <a:gd name="adj" fmla="val 15151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 i="0">
                <a:solidFill>
                  <a:srgbClr val="1F3864"/>
                </a:solidFill>
                <a:latin typeface="Arial"/>
              </a:rPr>
              <a:t>4  National scan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Arial"/>
              </a:rPr>
              <a:t>duplicates · intake</a:t>
            </a:r>
          </a:p>
        </p:txBody>
      </p:sp>
      <p:cxnSp>
        <p:nvCxnSpPr>
          <p:cNvPr id="17458" name="Connector 17457"/>
          <p:cNvCxnSpPr/>
          <p:nvPr/>
        </p:nvCxnSpPr>
        <p:spPr>
          <a:xfrm flipH="1">
            <a:off x="4251960" y="4736592"/>
            <a:ext cx="27432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9" name="Rounded Rectangle 17458"/>
          <p:cNvSpPr/>
          <p:nvPr/>
        </p:nvSpPr>
        <p:spPr>
          <a:xfrm>
            <a:off x="2423160" y="4434840"/>
            <a:ext cx="1828800" cy="603504"/>
          </a:xfrm>
          <a:prstGeom prst="roundRect">
            <a:avLst>
              <a:gd name="adj" fmla="val 15151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 i="0">
                <a:solidFill>
                  <a:srgbClr val="1F3864"/>
                </a:solidFill>
                <a:latin typeface="Arial"/>
              </a:rPr>
              <a:t>5  ML risk score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Arial"/>
              </a:rPr>
              <a:t>with reasons</a:t>
            </a:r>
          </a:p>
        </p:txBody>
      </p:sp>
      <p:cxnSp>
        <p:nvCxnSpPr>
          <p:cNvPr id="17460" name="Connector 17459"/>
          <p:cNvCxnSpPr/>
          <p:nvPr/>
        </p:nvCxnSpPr>
        <p:spPr>
          <a:xfrm flipH="1">
            <a:off x="2148840" y="4736592"/>
            <a:ext cx="27432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1" name="Rounded Rectangle 17460"/>
          <p:cNvSpPr/>
          <p:nvPr/>
        </p:nvSpPr>
        <p:spPr>
          <a:xfrm>
            <a:off x="320040" y="4434840"/>
            <a:ext cx="1828800" cy="603504"/>
          </a:xfrm>
          <a:prstGeom prst="roundRect">
            <a:avLst>
              <a:gd name="adj" fmla="val 15151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 i="0">
                <a:solidFill>
                  <a:srgbClr val="1F3864"/>
                </a:solidFill>
                <a:latin typeface="Arial"/>
              </a:rPr>
              <a:t>6  Live dashboard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Arial"/>
              </a:rPr>
              <a:t>AICTE review queue</a:t>
            </a:r>
          </a:p>
        </p:txBody>
      </p:sp>
      <p:sp>
        <p:nvSpPr>
          <p:cNvPr id="17462" name="Rounded Rectangle 17461"/>
          <p:cNvSpPr/>
          <p:nvPr/>
        </p:nvSpPr>
        <p:spPr>
          <a:xfrm>
            <a:off x="320040" y="5349240"/>
            <a:ext cx="2880360" cy="603504"/>
          </a:xfrm>
          <a:prstGeom prst="roundRect">
            <a:avLst>
              <a:gd name="adj" fmla="val 15151"/>
            </a:avLst>
          </a:prstGeom>
          <a:solidFill>
            <a:srgbClr val="E8F5EC"/>
          </a:solidFill>
          <a:ln w="9525">
            <a:solidFill>
              <a:srgbClr val="BFE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 i="0">
                <a:solidFill>
                  <a:srgbClr val="1E7B3E"/>
                </a:solidFill>
                <a:latin typeface="Arial"/>
              </a:rPr>
              <a:t>7  Student consent (OTP)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Arial"/>
              </a:rPr>
              <a:t>verifier sees only approved fields</a:t>
            </a:r>
          </a:p>
        </p:txBody>
      </p:sp>
      <p:sp>
        <p:nvSpPr>
          <p:cNvPr id="17463" name="Rounded Rectangle 17462"/>
          <p:cNvSpPr/>
          <p:nvPr/>
        </p:nvSpPr>
        <p:spPr>
          <a:xfrm>
            <a:off x="3429000" y="5349240"/>
            <a:ext cx="2926080" cy="603504"/>
          </a:xfrm>
          <a:prstGeom prst="roundRect">
            <a:avLst>
              <a:gd name="adj" fmla="val 15151"/>
            </a:avLst>
          </a:prstGeom>
          <a:solidFill>
            <a:srgbClr val="E8F5EC"/>
          </a:solidFill>
          <a:ln w="9525">
            <a:solidFill>
              <a:srgbClr val="BFE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 i="0">
                <a:solidFill>
                  <a:srgbClr val="1E7B3E"/>
                </a:solidFill>
                <a:latin typeface="Arial"/>
              </a:rPr>
              <a:t>8  Signed QR on certificate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Arial"/>
              </a:rPr>
              <a:t>anyone verifies; forgery fails</a:t>
            </a:r>
          </a:p>
        </p:txBody>
      </p:sp>
      <p:cxnSp>
        <p:nvCxnSpPr>
          <p:cNvPr id="17464" name="Connector 17463"/>
          <p:cNvCxnSpPr/>
          <p:nvPr/>
        </p:nvCxnSpPr>
        <p:spPr>
          <a:xfrm>
            <a:off x="1234440" y="5038344"/>
            <a:ext cx="0" cy="310896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65" name="Connector 17464"/>
          <p:cNvCxnSpPr/>
          <p:nvPr/>
        </p:nvCxnSpPr>
        <p:spPr>
          <a:xfrm>
            <a:off x="4892040" y="5038344"/>
            <a:ext cx="0" cy="310896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6" name="Rounded Rectangle 17465"/>
          <p:cNvSpPr/>
          <p:nvPr/>
        </p:nvSpPr>
        <p:spPr>
          <a:xfrm>
            <a:off x="6601968" y="2825496"/>
            <a:ext cx="5266944" cy="2361304"/>
          </a:xfrm>
          <a:prstGeom prst="roundRect">
            <a:avLst>
              <a:gd name="adj" fmla="val 1548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7" name="Picture 17466" descr="03_upload_validation.png"/>
          <p:cNvPicPr>
            <a:picLocks noChangeAspect="1"/>
          </p:cNvPicPr>
          <p:nvPr/>
        </p:nvPicPr>
        <p:blipFill>
          <a:blip r:embed="rId10"/>
          <a:srcRect l="17800" t="5800" b="36000"/>
          <a:stretch>
            <a:fillRect/>
          </a:stretch>
        </p:blipFill>
        <p:spPr>
          <a:xfrm>
            <a:off x="6629400" y="2852928"/>
            <a:ext cx="5212080" cy="2306440"/>
          </a:xfrm>
          <a:prstGeom prst="rect">
            <a:avLst/>
          </a:prstGeom>
        </p:spPr>
      </p:pic>
      <p:sp>
        <p:nvSpPr>
          <p:cNvPr id="17468" name="TextBox 17467"/>
          <p:cNvSpPr txBox="1"/>
          <p:nvPr/>
        </p:nvSpPr>
        <p:spPr>
          <a:xfrm>
            <a:off x="6629400" y="5214232"/>
            <a:ext cx="5212080" cy="237744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100" b="0" i="0">
                <a:solidFill>
                  <a:srgbClr val="595959"/>
                </a:solidFill>
                <a:latin typeface="Arial"/>
              </a:rPr>
              <a:t>Working prototype: 77-row upload → 65 accepted, 12 returned with rule codes</a:t>
            </a:r>
          </a:p>
        </p:txBody>
      </p:sp>
      <p:sp>
        <p:nvSpPr>
          <p:cNvPr id="17469" name="Rounded Rectangle 17468"/>
          <p:cNvSpPr/>
          <p:nvPr/>
        </p:nvSpPr>
        <p:spPr>
          <a:xfrm>
            <a:off x="6601968" y="5506840"/>
            <a:ext cx="5266944" cy="756799"/>
          </a:xfrm>
          <a:prstGeom prst="roundRect">
            <a:avLst>
              <a:gd name="adj" fmla="val 14498"/>
            </a:avLst>
          </a:prstGeom>
          <a:solidFill>
            <a:srgbClr val="FDF1E6"/>
          </a:solidFill>
          <a:ln w="9525">
            <a:solidFill>
              <a:srgbClr val="E46C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0" name="TextBox 17469"/>
          <p:cNvSpPr txBox="1"/>
          <p:nvPr/>
        </p:nvSpPr>
        <p:spPr>
          <a:xfrm>
            <a:off x="6693408" y="5552560"/>
            <a:ext cx="5120640" cy="665359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200" b="1" i="0">
                <a:solidFill>
                  <a:srgbClr val="E46C0A"/>
                </a:solidFill>
                <a:latin typeface="Arial"/>
              </a:rPr>
              <a:t>Run locally: </a:t>
            </a:r>
            <a:r>
              <a:rPr sz="1200" b="0" i="0">
                <a:solidFill>
                  <a:srgbClr val="0070C0"/>
                </a:solidFill>
                <a:latin typeface="Arial"/>
              </a:rPr>
              <a:t>./run.sh</a:t>
            </a:r>
          </a:p>
          <a:p>
            <a:pPr algn="l"/>
            <a:r>
              <a:rPr sz="1100" b="0" i="0">
                <a:solidFill>
                  <a:srgbClr val="595959"/>
                </a:solidFill>
                <a:latin typeface="Arial"/>
              </a:rPr>
              <a:t>Demo users for every role · synthetic data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200"/>
              <a:t>AI Riders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20040" y="1097280"/>
            <a:ext cx="11548872" cy="310896"/>
          </a:xfrm>
          <a:prstGeom prst="roundRect">
            <a:avLst>
              <a:gd name="adj" fmla="val 23529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/>
            <a:r>
              <a:rPr sz="1200" b="1" i="0">
                <a:solidFill>
                  <a:srgbClr val="E46C0A"/>
                </a:solidFill>
                <a:latin typeface="Arial"/>
              </a:rPr>
              <a:t>❖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Analysis of the feasibility of the idea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65759" y="1508760"/>
            <a:ext cx="1833372" cy="1188720"/>
          </a:xfrm>
          <a:prstGeom prst="roundRect">
            <a:avLst>
              <a:gd name="adj" fmla="val 9230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Oval 17411"/>
          <p:cNvSpPr/>
          <p:nvPr/>
        </p:nvSpPr>
        <p:spPr>
          <a:xfrm>
            <a:off x="475488" y="1618488"/>
            <a:ext cx="420624" cy="420624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3" name="Picture 17412" descr="LuShieldChe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025" y="1711025"/>
            <a:ext cx="235549" cy="235549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941832" y="1572768"/>
            <a:ext cx="1229868" cy="5029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200" b="1" i="0">
                <a:solidFill>
                  <a:srgbClr val="1F3864"/>
                </a:solidFill>
                <a:latin typeface="Arial"/>
              </a:rPr>
              <a:t>16/16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475488" y="2157984"/>
            <a:ext cx="1650492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00" b="0" i="0">
                <a:solidFill>
                  <a:srgbClr val="1A1A1A"/>
                </a:solidFill>
                <a:latin typeface="Arial"/>
              </a:rPr>
              <a:t>planted error types
caught at upload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2290572" y="1508760"/>
            <a:ext cx="1833372" cy="1188720"/>
          </a:xfrm>
          <a:prstGeom prst="roundRect">
            <a:avLst>
              <a:gd name="adj" fmla="val 9230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7" name="Oval 17416"/>
          <p:cNvSpPr/>
          <p:nvPr/>
        </p:nvSpPr>
        <p:spPr>
          <a:xfrm>
            <a:off x="2400300" y="1618488"/>
            <a:ext cx="420624" cy="420624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8" name="Picture 17417" descr="LuBuilding2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2837" y="1711025"/>
            <a:ext cx="235549" cy="235549"/>
          </a:xfrm>
          <a:prstGeom prst="rect">
            <a:avLst/>
          </a:prstGeom>
        </p:spPr>
      </p:pic>
      <p:sp>
        <p:nvSpPr>
          <p:cNvPr id="17419" name="TextBox 17418"/>
          <p:cNvSpPr txBox="1"/>
          <p:nvPr/>
        </p:nvSpPr>
        <p:spPr>
          <a:xfrm>
            <a:off x="2866644" y="1572768"/>
            <a:ext cx="1229868" cy="5029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200" b="1" i="0">
                <a:solidFill>
                  <a:srgbClr val="1F3864"/>
                </a:solidFill>
                <a:latin typeface="Arial"/>
              </a:rPr>
              <a:t>181/181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2400300" y="2157984"/>
            <a:ext cx="1650492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00" b="0" i="0">
                <a:solidFill>
                  <a:srgbClr val="1A1A1A"/>
                </a:solidFill>
                <a:latin typeface="Arial"/>
              </a:rPr>
              <a:t>dual enrolments
found across colleges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4215383" y="1508760"/>
            <a:ext cx="1833372" cy="1188720"/>
          </a:xfrm>
          <a:prstGeom prst="roundRect">
            <a:avLst>
              <a:gd name="adj" fmla="val 9230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2" name="Oval 17421"/>
          <p:cNvSpPr/>
          <p:nvPr/>
        </p:nvSpPr>
        <p:spPr>
          <a:xfrm>
            <a:off x="4325112" y="1618488"/>
            <a:ext cx="420624" cy="420624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3" name="Picture 17422" descr="LuUser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7649" y="1711025"/>
            <a:ext cx="235549" cy="235549"/>
          </a:xfrm>
          <a:prstGeom prst="rect">
            <a:avLst/>
          </a:prstGeom>
        </p:spPr>
      </p:pic>
      <p:sp>
        <p:nvSpPr>
          <p:cNvPr id="17424" name="TextBox 17423"/>
          <p:cNvSpPr txBox="1"/>
          <p:nvPr/>
        </p:nvSpPr>
        <p:spPr>
          <a:xfrm>
            <a:off x="4791455" y="1572768"/>
            <a:ext cx="1229868" cy="5029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200" b="1" i="0">
                <a:solidFill>
                  <a:srgbClr val="1F3864"/>
                </a:solidFill>
                <a:latin typeface="Arial"/>
              </a:rPr>
              <a:t>60/60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4325112" y="2157984"/>
            <a:ext cx="1650492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00" b="0" i="0">
                <a:solidFill>
                  <a:srgbClr val="1A1A1A"/>
                </a:solidFill>
                <a:latin typeface="Arial"/>
              </a:rPr>
              <a:t>same person, different
APAAR found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6140195" y="1508760"/>
            <a:ext cx="1833372" cy="1188720"/>
          </a:xfrm>
          <a:prstGeom prst="roundRect">
            <a:avLst>
              <a:gd name="adj" fmla="val 9230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7" name="Oval 17426"/>
          <p:cNvSpPr/>
          <p:nvPr/>
        </p:nvSpPr>
        <p:spPr>
          <a:xfrm>
            <a:off x="6249923" y="1618488"/>
            <a:ext cx="420624" cy="420624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8" name="Picture 17427" descr="LuBrainCircuit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42461" y="1711025"/>
            <a:ext cx="235549" cy="235549"/>
          </a:xfrm>
          <a:prstGeom prst="rect">
            <a:avLst/>
          </a:prstGeom>
        </p:spPr>
      </p:pic>
      <p:sp>
        <p:nvSpPr>
          <p:cNvPr id="17429" name="TextBox 17428"/>
          <p:cNvSpPr txBox="1"/>
          <p:nvPr/>
        </p:nvSpPr>
        <p:spPr>
          <a:xfrm>
            <a:off x="6716267" y="1572768"/>
            <a:ext cx="1229868" cy="5029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200" b="1" i="0">
                <a:solidFill>
                  <a:srgbClr val="1F3864"/>
                </a:solidFill>
                <a:latin typeface="Arial"/>
              </a:rPr>
              <a:t>41/42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6249923" y="2157984"/>
            <a:ext cx="1650492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00" b="0" i="0">
                <a:solidFill>
                  <a:srgbClr val="1A1A1A"/>
                </a:solidFill>
                <a:latin typeface="Arial"/>
              </a:rPr>
              <a:t>top-ranked colleges
truly anomalous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8065008" y="1508760"/>
            <a:ext cx="1833372" cy="1188720"/>
          </a:xfrm>
          <a:prstGeom prst="roundRect">
            <a:avLst>
              <a:gd name="adj" fmla="val 9230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2" name="Oval 17431"/>
          <p:cNvSpPr/>
          <p:nvPr/>
        </p:nvSpPr>
        <p:spPr>
          <a:xfrm>
            <a:off x="8174736" y="1618488"/>
            <a:ext cx="420624" cy="420624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3" name="Picture 17432" descr="LuBadgeCheck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7273" y="1711025"/>
            <a:ext cx="235549" cy="235549"/>
          </a:xfrm>
          <a:prstGeom prst="rect">
            <a:avLst/>
          </a:prstGeom>
        </p:spPr>
      </p:pic>
      <p:sp>
        <p:nvSpPr>
          <p:cNvPr id="17434" name="TextBox 17433"/>
          <p:cNvSpPr txBox="1"/>
          <p:nvPr/>
        </p:nvSpPr>
        <p:spPr>
          <a:xfrm>
            <a:off x="8641080" y="1572768"/>
            <a:ext cx="1229868" cy="5029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200" b="1" i="0">
                <a:solidFill>
                  <a:srgbClr val="1F3864"/>
                </a:solidFill>
                <a:latin typeface="Arial"/>
              </a:rPr>
              <a:t>0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8174736" y="2157984"/>
            <a:ext cx="1650492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00" b="0" i="0">
                <a:solidFill>
                  <a:srgbClr val="1A1A1A"/>
                </a:solidFill>
                <a:latin typeface="Arial"/>
              </a:rPr>
              <a:t>false flags on
56 clean rows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9989820" y="1508760"/>
            <a:ext cx="1833372" cy="1188720"/>
          </a:xfrm>
          <a:prstGeom prst="roundRect">
            <a:avLst>
              <a:gd name="adj" fmla="val 9230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7" name="Oval 17436"/>
          <p:cNvSpPr/>
          <p:nvPr/>
        </p:nvSpPr>
        <p:spPr>
          <a:xfrm>
            <a:off x="10099548" y="1618488"/>
            <a:ext cx="420624" cy="420624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8" name="Picture 17437" descr="LuTimer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92085" y="1711025"/>
            <a:ext cx="235549" cy="235549"/>
          </a:xfrm>
          <a:prstGeom prst="rect">
            <a:avLst/>
          </a:prstGeom>
        </p:spPr>
      </p:pic>
      <p:sp>
        <p:nvSpPr>
          <p:cNvPr id="17439" name="TextBox 17438"/>
          <p:cNvSpPr txBox="1"/>
          <p:nvPr/>
        </p:nvSpPr>
        <p:spPr>
          <a:xfrm>
            <a:off x="10565892" y="1572768"/>
            <a:ext cx="1229868" cy="5029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200" b="1" i="0">
                <a:solidFill>
                  <a:srgbClr val="1F3864"/>
                </a:solidFill>
                <a:latin typeface="Arial"/>
              </a:rPr>
              <a:t>~1 s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10099548" y="2157984"/>
            <a:ext cx="1650492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00" b="0" i="0">
                <a:solidFill>
                  <a:srgbClr val="1A1A1A"/>
                </a:solidFill>
                <a:latin typeface="Arial"/>
              </a:rPr>
              <a:t>national scan of
48,053 enrolments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320040" y="2788920"/>
            <a:ext cx="11548872" cy="256032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100" b="0" i="0">
                <a:solidFill>
                  <a:srgbClr val="595959"/>
                </a:solidFill>
                <a:latin typeface="Arial"/>
              </a:rPr>
              <a:t>Measured by scripts/benchmark.py on 48,053 synthetic enrolments with planted anomalies · 25 automated API tests (SQLite + PostgreSQL) · browser walkthrough of all 5 roles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320040" y="3310128"/>
            <a:ext cx="5486400" cy="310896"/>
          </a:xfrm>
          <a:prstGeom prst="roundRect">
            <a:avLst>
              <a:gd name="adj" fmla="val 23529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/>
            <a:r>
              <a:rPr sz="1200" b="1" i="0">
                <a:solidFill>
                  <a:srgbClr val="E46C0A"/>
                </a:solidFill>
                <a:latin typeface="Arial"/>
              </a:rPr>
              <a:t>❖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Potential challenges and risks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6382512" y="3310128"/>
            <a:ext cx="5486400" cy="310896"/>
          </a:xfrm>
          <a:prstGeom prst="roundRect">
            <a:avLst>
              <a:gd name="adj" fmla="val 23529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/>
            <a:r>
              <a:rPr sz="1200" b="1" i="0">
                <a:solidFill>
                  <a:srgbClr val="E46C0A"/>
                </a:solidFill>
                <a:latin typeface="Arial"/>
              </a:rPr>
              <a:t>❖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Strategies for overcoming these challenges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320040" y="3712463"/>
            <a:ext cx="5486400" cy="438912"/>
          </a:xfrm>
          <a:prstGeom prst="roundRect">
            <a:avLst>
              <a:gd name="adj" fmla="val 25000"/>
            </a:avLst>
          </a:prstGeom>
          <a:solidFill>
            <a:srgbClr val="FCECEA"/>
          </a:solidFill>
          <a:ln w="9525">
            <a:solidFill>
              <a:srgbClr val="F0C4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5" name="Oval 17444"/>
          <p:cNvSpPr/>
          <p:nvPr/>
        </p:nvSpPr>
        <p:spPr>
          <a:xfrm>
            <a:off x="384048" y="3758183"/>
            <a:ext cx="347472" cy="347472"/>
          </a:xfrm>
          <a:prstGeom prst="ellipse">
            <a:avLst/>
          </a:prstGeom>
          <a:solidFill>
            <a:srgbClr val="B4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6" name="Picture 17445" descr="LuPlugZap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0491" y="3834627"/>
            <a:ext cx="194584" cy="194584"/>
          </a:xfrm>
          <a:prstGeom prst="rect">
            <a:avLst/>
          </a:prstGeom>
        </p:spPr>
      </p:pic>
      <p:sp>
        <p:nvSpPr>
          <p:cNvPr id="17447" name="TextBox 17446"/>
          <p:cNvSpPr txBox="1"/>
          <p:nvPr/>
        </p:nvSpPr>
        <p:spPr>
          <a:xfrm>
            <a:off x="822960" y="3712463"/>
            <a:ext cx="4937760" cy="438912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200" b="1" i="0">
                <a:solidFill>
                  <a:srgbClr val="1A1A1A"/>
                </a:solidFill>
                <a:latin typeface="Arial"/>
              </a:rPr>
              <a:t>No public APAAR API</a:t>
            </a:r>
          </a:p>
        </p:txBody>
      </p:sp>
      <p:cxnSp>
        <p:nvCxnSpPr>
          <p:cNvPr id="17448" name="Connector 17447"/>
          <p:cNvCxnSpPr/>
          <p:nvPr/>
        </p:nvCxnSpPr>
        <p:spPr>
          <a:xfrm>
            <a:off x="5852160" y="3931920"/>
            <a:ext cx="484632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9" name="Rounded Rectangle 17448"/>
          <p:cNvSpPr/>
          <p:nvPr/>
        </p:nvSpPr>
        <p:spPr>
          <a:xfrm>
            <a:off x="6382512" y="3712463"/>
            <a:ext cx="5486400" cy="438912"/>
          </a:xfrm>
          <a:prstGeom prst="roundRect">
            <a:avLst>
              <a:gd name="adj" fmla="val 25000"/>
            </a:avLst>
          </a:prstGeom>
          <a:solidFill>
            <a:srgbClr val="E8F5EC"/>
          </a:solidFill>
          <a:ln w="9525">
            <a:solidFill>
              <a:srgbClr val="BFE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0" name="TextBox 17449"/>
          <p:cNvSpPr txBox="1"/>
          <p:nvPr/>
        </p:nvSpPr>
        <p:spPr>
          <a:xfrm>
            <a:off x="6446520" y="3712463"/>
            <a:ext cx="5376672" cy="438912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200" b="1" i="0">
                <a:solidFill>
                  <a:srgbClr val="1E7B3E"/>
                </a:solidFill>
                <a:latin typeface="Arial"/>
              </a:rPr>
              <a:t>✔ 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Registry adapter: mock today → DigiLocker / API Setu after partner onboarding</a:t>
            </a:r>
          </a:p>
        </p:txBody>
      </p:sp>
      <p:sp>
        <p:nvSpPr>
          <p:cNvPr id="17451" name="Rounded Rectangle 17450"/>
          <p:cNvSpPr/>
          <p:nvPr/>
        </p:nvSpPr>
        <p:spPr>
          <a:xfrm>
            <a:off x="320040" y="4224527"/>
            <a:ext cx="5486400" cy="438912"/>
          </a:xfrm>
          <a:prstGeom prst="roundRect">
            <a:avLst>
              <a:gd name="adj" fmla="val 25000"/>
            </a:avLst>
          </a:prstGeom>
          <a:solidFill>
            <a:srgbClr val="FCECEA"/>
          </a:solidFill>
          <a:ln w="9525">
            <a:solidFill>
              <a:srgbClr val="F0C4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2" name="Oval 17451"/>
          <p:cNvSpPr/>
          <p:nvPr/>
        </p:nvSpPr>
        <p:spPr>
          <a:xfrm>
            <a:off x="384048" y="4270247"/>
            <a:ext cx="347472" cy="347472"/>
          </a:xfrm>
          <a:prstGeom prst="ellipse">
            <a:avLst/>
          </a:prstGeom>
          <a:solidFill>
            <a:srgbClr val="B4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3" name="Picture 17452" descr="LuUserX_whi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0491" y="4346691"/>
            <a:ext cx="194584" cy="194584"/>
          </a:xfrm>
          <a:prstGeom prst="rect">
            <a:avLst/>
          </a:prstGeom>
        </p:spPr>
      </p:pic>
      <p:sp>
        <p:nvSpPr>
          <p:cNvPr id="17454" name="TextBox 17453"/>
          <p:cNvSpPr txBox="1"/>
          <p:nvPr/>
        </p:nvSpPr>
        <p:spPr>
          <a:xfrm>
            <a:off x="822960" y="4224527"/>
            <a:ext cx="4937760" cy="438912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200" b="1" i="0">
                <a:solidFill>
                  <a:srgbClr val="1A1A1A"/>
                </a:solidFill>
                <a:latin typeface="Arial"/>
              </a:rPr>
              <a:t>Students without APAAR (opt-out, FN / OCI)</a:t>
            </a:r>
          </a:p>
        </p:txBody>
      </p:sp>
      <p:cxnSp>
        <p:nvCxnSpPr>
          <p:cNvPr id="17455" name="Connector 17454"/>
          <p:cNvCxnSpPr/>
          <p:nvPr/>
        </p:nvCxnSpPr>
        <p:spPr>
          <a:xfrm>
            <a:off x="5852160" y="4443983"/>
            <a:ext cx="484632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6" name="Rounded Rectangle 17455"/>
          <p:cNvSpPr/>
          <p:nvPr/>
        </p:nvSpPr>
        <p:spPr>
          <a:xfrm>
            <a:off x="6382512" y="4224527"/>
            <a:ext cx="5486400" cy="438912"/>
          </a:xfrm>
          <a:prstGeom prst="roundRect">
            <a:avLst>
              <a:gd name="adj" fmla="val 25000"/>
            </a:avLst>
          </a:prstGeom>
          <a:solidFill>
            <a:srgbClr val="E8F5EC"/>
          </a:solidFill>
          <a:ln w="9525">
            <a:solidFill>
              <a:srgbClr val="BFE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7" name="TextBox 17456"/>
          <p:cNvSpPr txBox="1"/>
          <p:nvPr/>
        </p:nvSpPr>
        <p:spPr>
          <a:xfrm>
            <a:off x="6446520" y="4224527"/>
            <a:ext cx="5376672" cy="438912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200" b="1" i="0">
                <a:solidFill>
                  <a:srgbClr val="1E7B3E"/>
                </a:solidFill>
                <a:latin typeface="Arial"/>
              </a:rPr>
              <a:t>✔ 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Provisional ID: noted, never rejected</a:t>
            </a:r>
          </a:p>
        </p:txBody>
      </p:sp>
      <p:sp>
        <p:nvSpPr>
          <p:cNvPr id="17458" name="Rounded Rectangle 17457"/>
          <p:cNvSpPr/>
          <p:nvPr/>
        </p:nvSpPr>
        <p:spPr>
          <a:xfrm>
            <a:off x="320040" y="4736592"/>
            <a:ext cx="5486400" cy="438912"/>
          </a:xfrm>
          <a:prstGeom prst="roundRect">
            <a:avLst>
              <a:gd name="adj" fmla="val 25000"/>
            </a:avLst>
          </a:prstGeom>
          <a:solidFill>
            <a:srgbClr val="FCECEA"/>
          </a:solidFill>
          <a:ln w="9525">
            <a:solidFill>
              <a:srgbClr val="F0C4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9" name="Oval 17458"/>
          <p:cNvSpPr/>
          <p:nvPr/>
        </p:nvSpPr>
        <p:spPr>
          <a:xfrm>
            <a:off x="384048" y="4782312"/>
            <a:ext cx="347472" cy="347472"/>
          </a:xfrm>
          <a:prstGeom prst="ellipse">
            <a:avLst/>
          </a:prstGeom>
          <a:solidFill>
            <a:srgbClr val="B4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0" name="Picture 17459" descr="LuLock_whit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60491" y="4858755"/>
            <a:ext cx="194584" cy="194584"/>
          </a:xfrm>
          <a:prstGeom prst="rect">
            <a:avLst/>
          </a:prstGeom>
        </p:spPr>
      </p:pic>
      <p:sp>
        <p:nvSpPr>
          <p:cNvPr id="17461" name="TextBox 17460"/>
          <p:cNvSpPr txBox="1"/>
          <p:nvPr/>
        </p:nvSpPr>
        <p:spPr>
          <a:xfrm>
            <a:off x="822960" y="4736592"/>
            <a:ext cx="4937760" cy="438912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200" b="1" i="0">
                <a:solidFill>
                  <a:srgbClr val="1A1A1A"/>
                </a:solidFill>
                <a:latin typeface="Arial"/>
              </a:rPr>
              <a:t>Student privacy (DPDP Act 2023)</a:t>
            </a:r>
          </a:p>
        </p:txBody>
      </p:sp>
      <p:cxnSp>
        <p:nvCxnSpPr>
          <p:cNvPr id="17462" name="Connector 17461"/>
          <p:cNvCxnSpPr/>
          <p:nvPr/>
        </p:nvCxnSpPr>
        <p:spPr>
          <a:xfrm>
            <a:off x="5852160" y="4956048"/>
            <a:ext cx="484632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3" name="Rounded Rectangle 17462"/>
          <p:cNvSpPr/>
          <p:nvPr/>
        </p:nvSpPr>
        <p:spPr>
          <a:xfrm>
            <a:off x="6382512" y="4736592"/>
            <a:ext cx="5486400" cy="438912"/>
          </a:xfrm>
          <a:prstGeom prst="roundRect">
            <a:avLst>
              <a:gd name="adj" fmla="val 25000"/>
            </a:avLst>
          </a:prstGeom>
          <a:solidFill>
            <a:srgbClr val="E8F5EC"/>
          </a:solidFill>
          <a:ln w="9525">
            <a:solidFill>
              <a:srgbClr val="BFE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4" name="TextBox 17463"/>
          <p:cNvSpPr txBox="1"/>
          <p:nvPr/>
        </p:nvSpPr>
        <p:spPr>
          <a:xfrm>
            <a:off x="6446520" y="4736592"/>
            <a:ext cx="5376672" cy="438912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200" b="1" i="0">
                <a:solidFill>
                  <a:srgbClr val="1E7B3E"/>
                </a:solidFill>
                <a:latin typeface="Arial"/>
              </a:rPr>
              <a:t>✔ 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Consent per request, masked IDs, access log for the student</a:t>
            </a:r>
          </a:p>
        </p:txBody>
      </p:sp>
      <p:sp>
        <p:nvSpPr>
          <p:cNvPr id="17465" name="Rounded Rectangle 17464"/>
          <p:cNvSpPr/>
          <p:nvPr/>
        </p:nvSpPr>
        <p:spPr>
          <a:xfrm>
            <a:off x="320040" y="5248656"/>
            <a:ext cx="5486400" cy="438912"/>
          </a:xfrm>
          <a:prstGeom prst="roundRect">
            <a:avLst>
              <a:gd name="adj" fmla="val 25000"/>
            </a:avLst>
          </a:prstGeom>
          <a:solidFill>
            <a:srgbClr val="FCECEA"/>
          </a:solidFill>
          <a:ln w="9525">
            <a:solidFill>
              <a:srgbClr val="F0C4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6" name="Oval 17465"/>
          <p:cNvSpPr/>
          <p:nvPr/>
        </p:nvSpPr>
        <p:spPr>
          <a:xfrm>
            <a:off x="384048" y="5294376"/>
            <a:ext cx="347472" cy="347472"/>
          </a:xfrm>
          <a:prstGeom prst="ellipse">
            <a:avLst/>
          </a:prstGeom>
          <a:solidFill>
            <a:srgbClr val="B4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7" name="Picture 17466" descr="LuScale_whit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60491" y="5370819"/>
            <a:ext cx="194584" cy="194584"/>
          </a:xfrm>
          <a:prstGeom prst="rect">
            <a:avLst/>
          </a:prstGeom>
        </p:spPr>
      </p:pic>
      <p:sp>
        <p:nvSpPr>
          <p:cNvPr id="17468" name="TextBox 17467"/>
          <p:cNvSpPr txBox="1"/>
          <p:nvPr/>
        </p:nvSpPr>
        <p:spPr>
          <a:xfrm>
            <a:off x="822960" y="5248656"/>
            <a:ext cx="4937760" cy="438912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200" b="1" i="0">
                <a:solidFill>
                  <a:srgbClr val="1A1A1A"/>
                </a:solidFill>
                <a:latin typeface="Arial"/>
              </a:rPr>
              <a:t>Wrong flags could hurt colleges</a:t>
            </a:r>
          </a:p>
        </p:txBody>
      </p:sp>
      <p:cxnSp>
        <p:nvCxnSpPr>
          <p:cNvPr id="17469" name="Connector 17468"/>
          <p:cNvCxnSpPr/>
          <p:nvPr/>
        </p:nvCxnSpPr>
        <p:spPr>
          <a:xfrm>
            <a:off x="5852160" y="5468112"/>
            <a:ext cx="484632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0" name="Rounded Rectangle 17469"/>
          <p:cNvSpPr/>
          <p:nvPr/>
        </p:nvSpPr>
        <p:spPr>
          <a:xfrm>
            <a:off x="6382512" y="5248656"/>
            <a:ext cx="5486400" cy="438912"/>
          </a:xfrm>
          <a:prstGeom prst="roundRect">
            <a:avLst>
              <a:gd name="adj" fmla="val 25000"/>
            </a:avLst>
          </a:prstGeom>
          <a:solidFill>
            <a:srgbClr val="E8F5EC"/>
          </a:solidFill>
          <a:ln w="9525">
            <a:solidFill>
              <a:srgbClr val="BFE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1" name="TextBox 17470"/>
          <p:cNvSpPr txBox="1"/>
          <p:nvPr/>
        </p:nvSpPr>
        <p:spPr>
          <a:xfrm>
            <a:off x="6446520" y="5248656"/>
            <a:ext cx="5376672" cy="438912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200" b="1" i="0">
                <a:solidFill>
                  <a:srgbClr val="1E7B3E"/>
                </a:solidFill>
                <a:latin typeface="Arial"/>
              </a:rPr>
              <a:t>✔ 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Flags are review items; an officer decides; every action audited</a:t>
            </a:r>
          </a:p>
        </p:txBody>
      </p:sp>
      <p:sp>
        <p:nvSpPr>
          <p:cNvPr id="17472" name="Rounded Rectangle 17471"/>
          <p:cNvSpPr/>
          <p:nvPr/>
        </p:nvSpPr>
        <p:spPr>
          <a:xfrm>
            <a:off x="320040" y="5760720"/>
            <a:ext cx="5486400" cy="438912"/>
          </a:xfrm>
          <a:prstGeom prst="roundRect">
            <a:avLst>
              <a:gd name="adj" fmla="val 25000"/>
            </a:avLst>
          </a:prstGeom>
          <a:solidFill>
            <a:srgbClr val="FCECEA"/>
          </a:solidFill>
          <a:ln w="9525">
            <a:solidFill>
              <a:srgbClr val="F0C4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3" name="Oval 17472"/>
          <p:cNvSpPr/>
          <p:nvPr/>
        </p:nvSpPr>
        <p:spPr>
          <a:xfrm>
            <a:off x="384048" y="5806440"/>
            <a:ext cx="347472" cy="347472"/>
          </a:xfrm>
          <a:prstGeom prst="ellipse">
            <a:avLst/>
          </a:prstGeom>
          <a:solidFill>
            <a:srgbClr val="B4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74" name="Picture 17473" descr="LuSmartphone_whit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60491" y="5882883"/>
            <a:ext cx="194584" cy="194584"/>
          </a:xfrm>
          <a:prstGeom prst="rect">
            <a:avLst/>
          </a:prstGeom>
        </p:spPr>
      </p:pic>
      <p:sp>
        <p:nvSpPr>
          <p:cNvPr id="17475" name="TextBox 17474"/>
          <p:cNvSpPr txBox="1"/>
          <p:nvPr/>
        </p:nvSpPr>
        <p:spPr>
          <a:xfrm>
            <a:off x="822960" y="5760720"/>
            <a:ext cx="4937760" cy="438912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200" b="1" i="0">
                <a:solidFill>
                  <a:srgbClr val="1A1A1A"/>
                </a:solidFill>
                <a:latin typeface="Arial"/>
              </a:rPr>
              <a:t>Low digital readiness of small colleges</a:t>
            </a:r>
          </a:p>
        </p:txBody>
      </p:sp>
      <p:cxnSp>
        <p:nvCxnSpPr>
          <p:cNvPr id="17476" name="Connector 17475"/>
          <p:cNvCxnSpPr/>
          <p:nvPr/>
        </p:nvCxnSpPr>
        <p:spPr>
          <a:xfrm>
            <a:off x="5852160" y="5980176"/>
            <a:ext cx="484632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7" name="Rounded Rectangle 17476"/>
          <p:cNvSpPr/>
          <p:nvPr/>
        </p:nvSpPr>
        <p:spPr>
          <a:xfrm>
            <a:off x="6382512" y="5760720"/>
            <a:ext cx="5486400" cy="438912"/>
          </a:xfrm>
          <a:prstGeom prst="roundRect">
            <a:avLst>
              <a:gd name="adj" fmla="val 25000"/>
            </a:avLst>
          </a:prstGeom>
          <a:solidFill>
            <a:srgbClr val="E8F5EC"/>
          </a:solidFill>
          <a:ln w="9525">
            <a:solidFill>
              <a:srgbClr val="BFE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8" name="TextBox 17477"/>
          <p:cNvSpPr txBox="1"/>
          <p:nvPr/>
        </p:nvSpPr>
        <p:spPr>
          <a:xfrm>
            <a:off x="6446520" y="5760720"/>
            <a:ext cx="5376672" cy="438912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200" b="1" i="0">
                <a:solidFill>
                  <a:srgbClr val="1E7B3E"/>
                </a:solidFill>
                <a:latin typeface="Arial"/>
              </a:rPr>
              <a:t>✔ 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Excel template with drop-downs, plain errors, Hindi toggle, mobile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200"/>
              <a:t>AI Riders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20040" y="1097280"/>
            <a:ext cx="6035040" cy="310896"/>
          </a:xfrm>
          <a:prstGeom prst="roundRect">
            <a:avLst>
              <a:gd name="adj" fmla="val 23529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/>
            <a:r>
              <a:rPr sz="1200" b="1" i="0">
                <a:solidFill>
                  <a:srgbClr val="E46C0A"/>
                </a:solidFill>
                <a:latin typeface="Arial"/>
              </a:rPr>
              <a:t>❖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Potential impact on the target audience</a:t>
            </a:r>
          </a:p>
        </p:txBody>
      </p:sp>
      <p:cxnSp>
        <p:nvCxnSpPr>
          <p:cNvPr id="17411" name="Connector 17410"/>
          <p:cNvCxnSpPr/>
          <p:nvPr/>
        </p:nvCxnSpPr>
        <p:spPr>
          <a:xfrm flipH="1" flipV="1">
            <a:off x="1216152" y="2039112"/>
            <a:ext cx="2121408" cy="1618488"/>
          </a:xfrm>
          <a:prstGeom prst="line">
            <a:avLst/>
          </a:prstGeom>
          <a:ln w="31750">
            <a:solidFill>
              <a:srgbClr val="C9D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12" name="Connector 17411"/>
          <p:cNvCxnSpPr/>
          <p:nvPr/>
        </p:nvCxnSpPr>
        <p:spPr>
          <a:xfrm flipV="1">
            <a:off x="3337560" y="2039112"/>
            <a:ext cx="2084832" cy="1618488"/>
          </a:xfrm>
          <a:prstGeom prst="line">
            <a:avLst/>
          </a:prstGeom>
          <a:ln w="31750">
            <a:solidFill>
              <a:srgbClr val="C9D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13" name="Connector 17412"/>
          <p:cNvCxnSpPr/>
          <p:nvPr/>
        </p:nvCxnSpPr>
        <p:spPr>
          <a:xfrm flipH="1">
            <a:off x="1216152" y="3657600"/>
            <a:ext cx="2121408" cy="0"/>
          </a:xfrm>
          <a:prstGeom prst="line">
            <a:avLst/>
          </a:prstGeom>
          <a:ln w="31750">
            <a:solidFill>
              <a:srgbClr val="C9D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14" name="Connector 17413"/>
          <p:cNvCxnSpPr/>
          <p:nvPr/>
        </p:nvCxnSpPr>
        <p:spPr>
          <a:xfrm>
            <a:off x="3337560" y="3657600"/>
            <a:ext cx="2084832" cy="0"/>
          </a:xfrm>
          <a:prstGeom prst="line">
            <a:avLst/>
          </a:prstGeom>
          <a:ln w="31750">
            <a:solidFill>
              <a:srgbClr val="C9D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15" name="Connector 17414"/>
          <p:cNvCxnSpPr/>
          <p:nvPr/>
        </p:nvCxnSpPr>
        <p:spPr>
          <a:xfrm>
            <a:off x="3337560" y="3657600"/>
            <a:ext cx="9144" cy="2011680"/>
          </a:xfrm>
          <a:prstGeom prst="line">
            <a:avLst/>
          </a:prstGeom>
          <a:ln w="31750">
            <a:solidFill>
              <a:srgbClr val="C9D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6" name="Rounded Rectangle 17415"/>
          <p:cNvSpPr/>
          <p:nvPr/>
        </p:nvSpPr>
        <p:spPr>
          <a:xfrm>
            <a:off x="2167128" y="2852928"/>
            <a:ext cx="2340864" cy="1483614"/>
          </a:xfrm>
          <a:prstGeom prst="roundRect">
            <a:avLst>
              <a:gd name="adj" fmla="val 2465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7" name="Picture 17416" descr="10_aicte_dashboard.png"/>
          <p:cNvPicPr>
            <a:picLocks noChangeAspect="1"/>
          </p:cNvPicPr>
          <p:nvPr/>
        </p:nvPicPr>
        <p:blipFill>
          <a:blip r:embed="rId4"/>
          <a:srcRect l="17800" t="5800" b="12000"/>
          <a:stretch>
            <a:fillRect/>
          </a:stretch>
        </p:blipFill>
        <p:spPr>
          <a:xfrm>
            <a:off x="2194560" y="2880360"/>
            <a:ext cx="2286000" cy="1428750"/>
          </a:xfrm>
          <a:prstGeom prst="rect">
            <a:avLst/>
          </a:prstGeom>
        </p:spPr>
      </p:pic>
      <p:sp>
        <p:nvSpPr>
          <p:cNvPr id="17418" name="TextBox 17417"/>
          <p:cNvSpPr txBox="1"/>
          <p:nvPr/>
        </p:nvSpPr>
        <p:spPr>
          <a:xfrm>
            <a:off x="2194560" y="4345686"/>
            <a:ext cx="2286000" cy="219456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100" b="1" i="0">
                <a:solidFill>
                  <a:srgbClr val="1F3864"/>
                </a:solidFill>
                <a:latin typeface="Arial"/>
              </a:rPr>
              <a:t>One national view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320040" y="1536192"/>
            <a:ext cx="17830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0" name="Oval 17419"/>
          <p:cNvSpPr/>
          <p:nvPr/>
        </p:nvSpPr>
        <p:spPr>
          <a:xfrm>
            <a:off x="393192" y="1627632"/>
            <a:ext cx="420624" cy="420624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1" name="Picture 17420" descr="LuLandmark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729" y="1720169"/>
            <a:ext cx="235549" cy="235549"/>
          </a:xfrm>
          <a:prstGeom prst="rect">
            <a:avLst/>
          </a:prstGeom>
        </p:spPr>
      </p:pic>
      <p:sp>
        <p:nvSpPr>
          <p:cNvPr id="17422" name="TextBox 17421"/>
          <p:cNvSpPr txBox="1"/>
          <p:nvPr/>
        </p:nvSpPr>
        <p:spPr>
          <a:xfrm>
            <a:off x="868680" y="1609344"/>
            <a:ext cx="1216152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200" b="1" i="0">
                <a:solidFill>
                  <a:srgbClr val="1F3864"/>
                </a:solidFill>
                <a:latin typeface="Arial"/>
              </a:rPr>
              <a:t>AICTE &amp; regulators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393192" y="2084831"/>
            <a:ext cx="1691640" cy="438912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050" b="0" i="0">
                <a:solidFill>
                  <a:srgbClr val="1A1A1A"/>
                </a:solidFill>
                <a:latin typeface="Arial"/>
              </a:rPr>
              <a:t>excess &amp; dual enrolment
caught at submission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4526280" y="1536192"/>
            <a:ext cx="17830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5" name="Oval 17424"/>
          <p:cNvSpPr/>
          <p:nvPr/>
        </p:nvSpPr>
        <p:spPr>
          <a:xfrm>
            <a:off x="4599432" y="1627632"/>
            <a:ext cx="420624" cy="420624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6" name="Picture 17425" descr="LuBuilding2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91969" y="1720169"/>
            <a:ext cx="235549" cy="235549"/>
          </a:xfrm>
          <a:prstGeom prst="rect">
            <a:avLst/>
          </a:prstGeom>
        </p:spPr>
      </p:pic>
      <p:sp>
        <p:nvSpPr>
          <p:cNvPr id="17427" name="TextBox 17426"/>
          <p:cNvSpPr txBox="1"/>
          <p:nvPr/>
        </p:nvSpPr>
        <p:spPr>
          <a:xfrm>
            <a:off x="5074920" y="1609344"/>
            <a:ext cx="1216152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200" b="1" i="0">
                <a:solidFill>
                  <a:srgbClr val="1F3864"/>
                </a:solidFill>
                <a:latin typeface="Arial"/>
              </a:rPr>
              <a:t>Institutions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4599432" y="2084831"/>
            <a:ext cx="1691640" cy="438912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050" b="0" i="0">
                <a:solidFill>
                  <a:srgbClr val="1A1A1A"/>
                </a:solidFill>
                <a:latin typeface="Arial"/>
              </a:rPr>
              <a:t>one upload, errors
explained row by row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320040" y="3154680"/>
            <a:ext cx="17830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0" name="Oval 17429"/>
          <p:cNvSpPr/>
          <p:nvPr/>
        </p:nvSpPr>
        <p:spPr>
          <a:xfrm>
            <a:off x="393192" y="3246120"/>
            <a:ext cx="420624" cy="420624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1" name="Picture 17430" descr="LuLineChart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5729" y="3338657"/>
            <a:ext cx="235549" cy="235549"/>
          </a:xfrm>
          <a:prstGeom prst="rect">
            <a:avLst/>
          </a:prstGeom>
        </p:spPr>
      </p:pic>
      <p:sp>
        <p:nvSpPr>
          <p:cNvPr id="17432" name="TextBox 17431"/>
          <p:cNvSpPr txBox="1"/>
          <p:nvPr/>
        </p:nvSpPr>
        <p:spPr>
          <a:xfrm>
            <a:off x="868680" y="3227832"/>
            <a:ext cx="1216152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200" b="1" i="0">
                <a:solidFill>
                  <a:srgbClr val="1F3864"/>
                </a:solidFill>
                <a:latin typeface="Arial"/>
              </a:rPr>
              <a:t>Policy makers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393192" y="3703320"/>
            <a:ext cx="1691640" cy="438912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050" b="0" i="0">
                <a:solidFill>
                  <a:srgbClr val="1A1A1A"/>
                </a:solidFill>
                <a:latin typeface="Arial"/>
              </a:rPr>
              <a:t>state / gender / category
analytics &amp; reports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4526280" y="3154680"/>
            <a:ext cx="17830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5" name="Oval 17434"/>
          <p:cNvSpPr/>
          <p:nvPr/>
        </p:nvSpPr>
        <p:spPr>
          <a:xfrm>
            <a:off x="4599432" y="3246120"/>
            <a:ext cx="420624" cy="420624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6" name="Picture 17435" descr="LuBriefcase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1969" y="3338657"/>
            <a:ext cx="235549" cy="235549"/>
          </a:xfrm>
          <a:prstGeom prst="rect">
            <a:avLst/>
          </a:prstGeom>
        </p:spPr>
      </p:pic>
      <p:sp>
        <p:nvSpPr>
          <p:cNvPr id="17437" name="TextBox 17436"/>
          <p:cNvSpPr txBox="1"/>
          <p:nvPr/>
        </p:nvSpPr>
        <p:spPr>
          <a:xfrm>
            <a:off x="5074920" y="3227832"/>
            <a:ext cx="1216152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200" b="1" i="0">
                <a:solidFill>
                  <a:srgbClr val="1F3864"/>
                </a:solidFill>
                <a:latin typeface="Arial"/>
              </a:rPr>
              <a:t>Employers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4599432" y="3703320"/>
            <a:ext cx="1691640" cy="438912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050" b="0" i="0">
                <a:solidFill>
                  <a:srgbClr val="1A1A1A"/>
                </a:solidFill>
                <a:latin typeface="Arial"/>
              </a:rPr>
              <a:t>instant QR check,
consent-based facts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2450592" y="5166360"/>
            <a:ext cx="17830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0" name="Oval 17439"/>
          <p:cNvSpPr/>
          <p:nvPr/>
        </p:nvSpPr>
        <p:spPr>
          <a:xfrm>
            <a:off x="2523744" y="5257800"/>
            <a:ext cx="420624" cy="420624"/>
          </a:xfrm>
          <a:prstGeom prst="ellipse">
            <a:avLst/>
          </a:prstGeom>
          <a:solidFill>
            <a:srgbClr val="E4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1" name="Picture 17440" descr="LuGraduationCap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16281" y="5350337"/>
            <a:ext cx="235549" cy="235549"/>
          </a:xfrm>
          <a:prstGeom prst="rect">
            <a:avLst/>
          </a:prstGeom>
        </p:spPr>
      </p:pic>
      <p:sp>
        <p:nvSpPr>
          <p:cNvPr id="17442" name="TextBox 17441"/>
          <p:cNvSpPr txBox="1"/>
          <p:nvPr/>
        </p:nvSpPr>
        <p:spPr>
          <a:xfrm>
            <a:off x="2999232" y="5239512"/>
            <a:ext cx="1216152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200" b="1" i="0">
                <a:solidFill>
                  <a:srgbClr val="1F3864"/>
                </a:solidFill>
                <a:latin typeface="Arial"/>
              </a:rPr>
              <a:t>Students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2523744" y="5715000"/>
            <a:ext cx="1691640" cy="438912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050" b="0" i="0">
                <a:solidFill>
                  <a:srgbClr val="1A1A1A"/>
                </a:solidFill>
                <a:latin typeface="Arial"/>
              </a:rPr>
              <a:t>lifelong record + control
over who sees it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6583680" y="1097280"/>
            <a:ext cx="5285232" cy="310896"/>
          </a:xfrm>
          <a:prstGeom prst="roundRect">
            <a:avLst>
              <a:gd name="adj" fmla="val 23529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/>
            <a:r>
              <a:rPr sz="1200" b="1" i="0">
                <a:solidFill>
                  <a:srgbClr val="E46C0A"/>
                </a:solidFill>
                <a:latin typeface="Arial"/>
              </a:rPr>
              <a:t>❖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Benefits of the solution (social, economic, environmental, etc.)</a:t>
            </a:r>
          </a:p>
        </p:txBody>
      </p:sp>
      <p:sp>
        <p:nvSpPr>
          <p:cNvPr id="17445" name="Rounded Rectangle 17444"/>
          <p:cNvSpPr/>
          <p:nvPr/>
        </p:nvSpPr>
        <p:spPr>
          <a:xfrm>
            <a:off x="6583680" y="1508760"/>
            <a:ext cx="2587752" cy="1261872"/>
          </a:xfrm>
          <a:prstGeom prst="roundRect">
            <a:avLst>
              <a:gd name="adj" fmla="val 8695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6" name="Oval 17445"/>
          <p:cNvSpPr/>
          <p:nvPr/>
        </p:nvSpPr>
        <p:spPr>
          <a:xfrm>
            <a:off x="6693408" y="1618488"/>
            <a:ext cx="457200" cy="457200"/>
          </a:xfrm>
          <a:prstGeom prst="ellipse">
            <a:avLst/>
          </a:prstGeom>
          <a:solidFill>
            <a:srgbClr val="1E7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7" name="Picture 17446" descr="LuHeartHandshake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93992" y="1719072"/>
            <a:ext cx="256032" cy="256032"/>
          </a:xfrm>
          <a:prstGeom prst="rect">
            <a:avLst/>
          </a:prstGeom>
        </p:spPr>
      </p:pic>
      <p:sp>
        <p:nvSpPr>
          <p:cNvPr id="17448" name="TextBox 17447"/>
          <p:cNvSpPr txBox="1"/>
          <p:nvPr/>
        </p:nvSpPr>
        <p:spPr>
          <a:xfrm>
            <a:off x="7242048" y="1618488"/>
            <a:ext cx="1856232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 i="0">
                <a:solidFill>
                  <a:srgbClr val="1F3864"/>
                </a:solidFill>
                <a:latin typeface="Arial"/>
              </a:rPr>
              <a:t>Social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6693408" y="2148839"/>
            <a:ext cx="2404872" cy="56692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00" b="0" i="0">
                <a:solidFill>
                  <a:srgbClr val="1A1A1A"/>
                </a:solidFill>
                <a:latin typeface="Arial"/>
              </a:rPr>
              <a:t>fair admissions; students own
and control their record</a:t>
            </a:r>
          </a:p>
        </p:txBody>
      </p:sp>
      <p:sp>
        <p:nvSpPr>
          <p:cNvPr id="17450" name="Rounded Rectangle 17449"/>
          <p:cNvSpPr/>
          <p:nvPr/>
        </p:nvSpPr>
        <p:spPr>
          <a:xfrm>
            <a:off x="9281160" y="1508760"/>
            <a:ext cx="2587752" cy="1261872"/>
          </a:xfrm>
          <a:prstGeom prst="roundRect">
            <a:avLst>
              <a:gd name="adj" fmla="val 8695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1" name="Oval 17450"/>
          <p:cNvSpPr/>
          <p:nvPr/>
        </p:nvSpPr>
        <p:spPr>
          <a:xfrm>
            <a:off x="9390888" y="1618488"/>
            <a:ext cx="457200" cy="45720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2" name="Picture 17451" descr="LuIndianRupee_whi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91472" y="1719072"/>
            <a:ext cx="256032" cy="256032"/>
          </a:xfrm>
          <a:prstGeom prst="rect">
            <a:avLst/>
          </a:prstGeom>
        </p:spPr>
      </p:pic>
      <p:sp>
        <p:nvSpPr>
          <p:cNvPr id="17453" name="TextBox 17452"/>
          <p:cNvSpPr txBox="1"/>
          <p:nvPr/>
        </p:nvSpPr>
        <p:spPr>
          <a:xfrm>
            <a:off x="9939528" y="1618488"/>
            <a:ext cx="1856232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 i="0">
                <a:solidFill>
                  <a:srgbClr val="1F3864"/>
                </a:solidFill>
                <a:latin typeface="Arial"/>
              </a:rPr>
              <a:t>Economic</a:t>
            </a:r>
          </a:p>
        </p:txBody>
      </p:sp>
      <p:sp>
        <p:nvSpPr>
          <p:cNvPr id="17454" name="TextBox 17453"/>
          <p:cNvSpPr txBox="1"/>
          <p:nvPr/>
        </p:nvSpPr>
        <p:spPr>
          <a:xfrm>
            <a:off x="9390888" y="2148839"/>
            <a:ext cx="2404872" cy="56692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00" b="0" i="0">
                <a:solidFill>
                  <a:srgbClr val="1A1A1A"/>
                </a:solidFill>
                <a:latin typeface="Arial"/>
              </a:rPr>
              <a:t>open-source, no licence cost;
less manual scrutiny &amp; fraud</a:t>
            </a:r>
          </a:p>
        </p:txBody>
      </p:sp>
      <p:sp>
        <p:nvSpPr>
          <p:cNvPr id="17455" name="Rounded Rectangle 17454"/>
          <p:cNvSpPr/>
          <p:nvPr/>
        </p:nvSpPr>
        <p:spPr>
          <a:xfrm>
            <a:off x="6583680" y="2862072"/>
            <a:ext cx="2587752" cy="1261872"/>
          </a:xfrm>
          <a:prstGeom prst="roundRect">
            <a:avLst>
              <a:gd name="adj" fmla="val 8695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6" name="Oval 17455"/>
          <p:cNvSpPr/>
          <p:nvPr/>
        </p:nvSpPr>
        <p:spPr>
          <a:xfrm>
            <a:off x="6693408" y="2971800"/>
            <a:ext cx="457200" cy="457200"/>
          </a:xfrm>
          <a:prstGeom prst="ellipse">
            <a:avLst/>
          </a:prstGeom>
          <a:solidFill>
            <a:srgbClr val="1E7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7" name="Picture 17456" descr="LuLeaf_whit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93992" y="3072384"/>
            <a:ext cx="256032" cy="256032"/>
          </a:xfrm>
          <a:prstGeom prst="rect">
            <a:avLst/>
          </a:prstGeom>
        </p:spPr>
      </p:pic>
      <p:sp>
        <p:nvSpPr>
          <p:cNvPr id="17458" name="TextBox 17457"/>
          <p:cNvSpPr txBox="1"/>
          <p:nvPr/>
        </p:nvSpPr>
        <p:spPr>
          <a:xfrm>
            <a:off x="7242048" y="2971800"/>
            <a:ext cx="1856232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 i="0">
                <a:solidFill>
                  <a:srgbClr val="1F3864"/>
                </a:solidFill>
                <a:latin typeface="Arial"/>
              </a:rPr>
              <a:t>Environmental</a:t>
            </a:r>
          </a:p>
        </p:txBody>
      </p:sp>
      <p:sp>
        <p:nvSpPr>
          <p:cNvPr id="17459" name="TextBox 17458"/>
          <p:cNvSpPr txBox="1"/>
          <p:nvPr/>
        </p:nvSpPr>
        <p:spPr>
          <a:xfrm>
            <a:off x="6693408" y="3502152"/>
            <a:ext cx="2404872" cy="56692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00" b="0" i="0">
                <a:solidFill>
                  <a:srgbClr val="1A1A1A"/>
                </a:solidFill>
                <a:latin typeface="Arial"/>
              </a:rPr>
              <a:t>paperless returns and
verification; no courier checks</a:t>
            </a:r>
          </a:p>
        </p:txBody>
      </p:sp>
      <p:sp>
        <p:nvSpPr>
          <p:cNvPr id="17460" name="Rounded Rectangle 17459"/>
          <p:cNvSpPr/>
          <p:nvPr/>
        </p:nvSpPr>
        <p:spPr>
          <a:xfrm>
            <a:off x="9281160" y="2862072"/>
            <a:ext cx="2587752" cy="1261872"/>
          </a:xfrm>
          <a:prstGeom prst="roundRect">
            <a:avLst>
              <a:gd name="adj" fmla="val 8695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1" name="Oval 17460"/>
          <p:cNvSpPr/>
          <p:nvPr/>
        </p:nvSpPr>
        <p:spPr>
          <a:xfrm>
            <a:off x="9390888" y="2971800"/>
            <a:ext cx="457200" cy="45720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2" name="Picture 17461" descr="LuLandmark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91472" y="3072384"/>
            <a:ext cx="256032" cy="256032"/>
          </a:xfrm>
          <a:prstGeom prst="rect">
            <a:avLst/>
          </a:prstGeom>
        </p:spPr>
      </p:pic>
      <p:sp>
        <p:nvSpPr>
          <p:cNvPr id="17463" name="TextBox 17462"/>
          <p:cNvSpPr txBox="1"/>
          <p:nvPr/>
        </p:nvSpPr>
        <p:spPr>
          <a:xfrm>
            <a:off x="9939528" y="2971800"/>
            <a:ext cx="1856232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 i="0">
                <a:solidFill>
                  <a:srgbClr val="1F3864"/>
                </a:solidFill>
                <a:latin typeface="Arial"/>
              </a:rPr>
              <a:t>Governance</a:t>
            </a:r>
          </a:p>
        </p:txBody>
      </p:sp>
      <p:sp>
        <p:nvSpPr>
          <p:cNvPr id="17464" name="TextBox 17463"/>
          <p:cNvSpPr txBox="1"/>
          <p:nvPr/>
        </p:nvSpPr>
        <p:spPr>
          <a:xfrm>
            <a:off x="9390888" y="3502152"/>
            <a:ext cx="2404872" cy="56692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00" b="0" i="0">
                <a:solidFill>
                  <a:srgbClr val="1A1A1A"/>
                </a:solidFill>
                <a:latin typeface="Arial"/>
              </a:rPr>
              <a:t>real-time evidence for
approvals &amp; show-cause</a:t>
            </a:r>
          </a:p>
        </p:txBody>
      </p:sp>
      <p:sp>
        <p:nvSpPr>
          <p:cNvPr id="17465" name="Rounded Rectangle 17464"/>
          <p:cNvSpPr/>
          <p:nvPr/>
        </p:nvSpPr>
        <p:spPr>
          <a:xfrm>
            <a:off x="6601968" y="4288536"/>
            <a:ext cx="2340864" cy="1671227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6" name="Picture 17465" descr="25_certificate.png"/>
          <p:cNvPicPr>
            <a:picLocks noChangeAspect="1"/>
          </p:cNvPicPr>
          <p:nvPr/>
        </p:nvPicPr>
        <p:blipFill>
          <a:blip r:embed="rId13"/>
          <a:srcRect/>
          <a:stretch>
            <a:fillRect/>
          </a:stretch>
        </p:blipFill>
        <p:spPr>
          <a:xfrm>
            <a:off x="6629400" y="4315968"/>
            <a:ext cx="2286000" cy="1616363"/>
          </a:xfrm>
          <a:prstGeom prst="rect">
            <a:avLst/>
          </a:prstGeom>
        </p:spPr>
      </p:pic>
      <p:sp>
        <p:nvSpPr>
          <p:cNvPr id="17467" name="Rounded Rectangle 17466"/>
          <p:cNvSpPr/>
          <p:nvPr/>
        </p:nvSpPr>
        <p:spPr>
          <a:xfrm>
            <a:off x="9235440" y="4288536"/>
            <a:ext cx="2633472" cy="1439858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8" name="Picture 17467" descr="23_public_qr_verified.png"/>
          <p:cNvPicPr>
            <a:picLocks noChangeAspect="1"/>
          </p:cNvPicPr>
          <p:nvPr/>
        </p:nvPicPr>
        <p:blipFill>
          <a:blip r:embed="rId14"/>
          <a:srcRect l="17000" t="47000" r="51000" b="25500"/>
          <a:stretch>
            <a:fillRect/>
          </a:stretch>
        </p:blipFill>
        <p:spPr>
          <a:xfrm>
            <a:off x="9262872" y="4315968"/>
            <a:ext cx="2578608" cy="1384994"/>
          </a:xfrm>
          <a:prstGeom prst="rect">
            <a:avLst/>
          </a:prstGeom>
        </p:spPr>
      </p:pic>
      <p:sp>
        <p:nvSpPr>
          <p:cNvPr id="17469" name="TextBox 17468"/>
          <p:cNvSpPr txBox="1"/>
          <p:nvPr/>
        </p:nvSpPr>
        <p:spPr>
          <a:xfrm>
            <a:off x="6583680" y="5978051"/>
            <a:ext cx="2468880" cy="237744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050" b="0" i="0">
                <a:solidFill>
                  <a:srgbClr val="595959"/>
                </a:solidFill>
                <a:latin typeface="Arial"/>
              </a:rPr>
              <a:t>Certificate: APAAR ID + student ID + QR</a:t>
            </a:r>
          </a:p>
        </p:txBody>
      </p:sp>
      <p:sp>
        <p:nvSpPr>
          <p:cNvPr id="17470" name="TextBox 17469"/>
          <p:cNvSpPr txBox="1"/>
          <p:nvPr/>
        </p:nvSpPr>
        <p:spPr>
          <a:xfrm>
            <a:off x="9235440" y="5746682"/>
            <a:ext cx="2633472" cy="237744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050" b="0" i="0">
                <a:solidFill>
                  <a:srgbClr val="595959"/>
                </a:solidFill>
                <a:latin typeface="Arial"/>
              </a:rPr>
              <a:t>QR scan: signature verified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200"/>
              <a:t>AI Riders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20040" y="1097280"/>
            <a:ext cx="11548872" cy="310896"/>
          </a:xfrm>
          <a:prstGeom prst="roundRect">
            <a:avLst>
              <a:gd name="adj" fmla="val 23529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/>
            <a:r>
              <a:rPr sz="1200" b="1" i="0">
                <a:solidFill>
                  <a:srgbClr val="E46C0A"/>
                </a:solidFill>
                <a:latin typeface="Arial"/>
              </a:rPr>
              <a:t>❖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Details / Links of the reference and research work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320040" y="1481328"/>
            <a:ext cx="6217920" cy="2743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 i="0">
                <a:solidFill>
                  <a:srgbClr val="1F3864"/>
                </a:solidFill>
                <a:latin typeface="Arial"/>
              </a:rPr>
              <a:t>What our research changed in the design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20040" y="1828800"/>
            <a:ext cx="3246120" cy="512064"/>
          </a:xfrm>
          <a:prstGeom prst="roundRect">
            <a:avLst>
              <a:gd name="adj" fmla="val 21428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3" name="Oval 17412"/>
          <p:cNvSpPr/>
          <p:nvPr/>
        </p:nvSpPr>
        <p:spPr>
          <a:xfrm>
            <a:off x="384048" y="1892807"/>
            <a:ext cx="384048" cy="38404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4" name="Picture 17413" descr="LuFingerprint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538" y="1977298"/>
            <a:ext cx="215066" cy="215066"/>
          </a:xfrm>
          <a:prstGeom prst="rect">
            <a:avLst/>
          </a:prstGeom>
        </p:spPr>
      </p:pic>
      <p:sp>
        <p:nvSpPr>
          <p:cNvPr id="17415" name="TextBox 17414"/>
          <p:cNvSpPr txBox="1"/>
          <p:nvPr/>
        </p:nvSpPr>
        <p:spPr>
          <a:xfrm>
            <a:off x="841248" y="1828800"/>
            <a:ext cx="2697480" cy="512064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100" b="0" i="0">
                <a:solidFill>
                  <a:srgbClr val="1A1A1A"/>
                </a:solidFill>
                <a:latin typeface="Arial"/>
              </a:rPr>
              <a:t>APAAR is created through Aadhaar-based verification</a:t>
            </a:r>
          </a:p>
        </p:txBody>
      </p:sp>
      <p:cxnSp>
        <p:nvCxnSpPr>
          <p:cNvPr id="17416" name="Connector 17415"/>
          <p:cNvCxnSpPr/>
          <p:nvPr/>
        </p:nvCxnSpPr>
        <p:spPr>
          <a:xfrm>
            <a:off x="3611880" y="2084832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7" name="Rounded Rectangle 17416"/>
          <p:cNvSpPr/>
          <p:nvPr/>
        </p:nvSpPr>
        <p:spPr>
          <a:xfrm>
            <a:off x="3931920" y="1828800"/>
            <a:ext cx="2606040" cy="512064"/>
          </a:xfrm>
          <a:prstGeom prst="roundRect">
            <a:avLst>
              <a:gd name="adj" fmla="val 21428"/>
            </a:avLst>
          </a:prstGeom>
          <a:solidFill>
            <a:srgbClr val="E8F5EC"/>
          </a:solidFill>
          <a:ln w="9525">
            <a:solidFill>
              <a:srgbClr val="BFE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8" name="TextBox 17417"/>
          <p:cNvSpPr txBox="1"/>
          <p:nvPr/>
        </p:nvSpPr>
        <p:spPr>
          <a:xfrm>
            <a:off x="3995928" y="1828800"/>
            <a:ext cx="2514600" cy="512064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100" b="0" i="0">
                <a:solidFill>
                  <a:srgbClr val="1A1A1A"/>
                </a:solidFill>
                <a:latin typeface="Arial"/>
              </a:rPr>
              <a:t>FN / OCI students get a provisional ID (APR-007)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320040" y="2432304"/>
            <a:ext cx="3246120" cy="512064"/>
          </a:xfrm>
          <a:prstGeom prst="roundRect">
            <a:avLst>
              <a:gd name="adj" fmla="val 21428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0" name="Oval 17419"/>
          <p:cNvSpPr/>
          <p:nvPr/>
        </p:nvSpPr>
        <p:spPr>
          <a:xfrm>
            <a:off x="384048" y="2496312"/>
            <a:ext cx="384048" cy="38404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1" name="Picture 17420" descr="LuShieldAlert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538" y="2580802"/>
            <a:ext cx="215066" cy="215066"/>
          </a:xfrm>
          <a:prstGeom prst="rect">
            <a:avLst/>
          </a:prstGeom>
        </p:spPr>
      </p:pic>
      <p:sp>
        <p:nvSpPr>
          <p:cNvPr id="17422" name="TextBox 17421"/>
          <p:cNvSpPr txBox="1"/>
          <p:nvPr/>
        </p:nvSpPr>
        <p:spPr>
          <a:xfrm>
            <a:off x="841248" y="2432304"/>
            <a:ext cx="2697480" cy="512064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100" b="0" i="0">
                <a:solidFill>
                  <a:srgbClr val="1A1A1A"/>
                </a:solidFill>
                <a:latin typeface="Arial"/>
              </a:rPr>
              <a:t>APAAR consent is voluntary</a:t>
            </a:r>
          </a:p>
        </p:txBody>
      </p:sp>
      <p:cxnSp>
        <p:nvCxnSpPr>
          <p:cNvPr id="17423" name="Connector 17422"/>
          <p:cNvCxnSpPr/>
          <p:nvPr/>
        </p:nvCxnSpPr>
        <p:spPr>
          <a:xfrm>
            <a:off x="3611880" y="2688336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4" name="Rounded Rectangle 17423"/>
          <p:cNvSpPr/>
          <p:nvPr/>
        </p:nvSpPr>
        <p:spPr>
          <a:xfrm>
            <a:off x="3931920" y="2432304"/>
            <a:ext cx="2606040" cy="512064"/>
          </a:xfrm>
          <a:prstGeom prst="roundRect">
            <a:avLst>
              <a:gd name="adj" fmla="val 21428"/>
            </a:avLst>
          </a:prstGeom>
          <a:solidFill>
            <a:srgbClr val="E8F5EC"/>
          </a:solidFill>
          <a:ln w="9525">
            <a:solidFill>
              <a:srgbClr val="BFE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5" name="TextBox 17424"/>
          <p:cNvSpPr txBox="1"/>
          <p:nvPr/>
        </p:nvSpPr>
        <p:spPr>
          <a:xfrm>
            <a:off x="3995928" y="2432304"/>
            <a:ext cx="2514600" cy="512064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100" b="0" i="0">
                <a:solidFill>
                  <a:srgbClr val="1A1A1A"/>
                </a:solidFill>
                <a:latin typeface="Arial"/>
              </a:rPr>
              <a:t>Opt-out recorded, never rejected (APR-005)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320040" y="3035808"/>
            <a:ext cx="3246120" cy="512064"/>
          </a:xfrm>
          <a:prstGeom prst="roundRect">
            <a:avLst>
              <a:gd name="adj" fmla="val 21428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7" name="Oval 17426"/>
          <p:cNvSpPr/>
          <p:nvPr/>
        </p:nvSpPr>
        <p:spPr>
          <a:xfrm>
            <a:off x="384048" y="3099816"/>
            <a:ext cx="384048" cy="38404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8" name="Picture 17427" descr="LuLock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538" y="3184306"/>
            <a:ext cx="215066" cy="215066"/>
          </a:xfrm>
          <a:prstGeom prst="rect">
            <a:avLst/>
          </a:prstGeom>
        </p:spPr>
      </p:pic>
      <p:sp>
        <p:nvSpPr>
          <p:cNvPr id="17429" name="TextBox 17428"/>
          <p:cNvSpPr txBox="1"/>
          <p:nvPr/>
        </p:nvSpPr>
        <p:spPr>
          <a:xfrm>
            <a:off x="841248" y="3035808"/>
            <a:ext cx="2697480" cy="512064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100" b="0" i="0">
                <a:solidFill>
                  <a:srgbClr val="1A1A1A"/>
                </a:solidFill>
                <a:latin typeface="Arial"/>
              </a:rPr>
              <a:t>DPDP Rules 2025 phase in to 2027</a:t>
            </a:r>
          </a:p>
        </p:txBody>
      </p:sp>
      <p:cxnSp>
        <p:nvCxnSpPr>
          <p:cNvPr id="17430" name="Connector 17429"/>
          <p:cNvCxnSpPr/>
          <p:nvPr/>
        </p:nvCxnSpPr>
        <p:spPr>
          <a:xfrm>
            <a:off x="3611880" y="3291840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1" name="Rounded Rectangle 17430"/>
          <p:cNvSpPr/>
          <p:nvPr/>
        </p:nvSpPr>
        <p:spPr>
          <a:xfrm>
            <a:off x="3931920" y="3035808"/>
            <a:ext cx="2606040" cy="512064"/>
          </a:xfrm>
          <a:prstGeom prst="roundRect">
            <a:avLst>
              <a:gd name="adj" fmla="val 21428"/>
            </a:avLst>
          </a:prstGeom>
          <a:solidFill>
            <a:srgbClr val="E8F5EC"/>
          </a:solidFill>
          <a:ln w="9525">
            <a:solidFill>
              <a:srgbClr val="BFE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2" name="TextBox 17431"/>
          <p:cNvSpPr txBox="1"/>
          <p:nvPr/>
        </p:nvSpPr>
        <p:spPr>
          <a:xfrm>
            <a:off x="3995928" y="3035808"/>
            <a:ext cx="2514600" cy="512064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100" b="0" i="0">
                <a:solidFill>
                  <a:srgbClr val="1A1A1A"/>
                </a:solidFill>
                <a:latin typeface="Arial"/>
              </a:rPr>
              <a:t>Consent, purpose limits, student access log built in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320040" y="3639312"/>
            <a:ext cx="3246120" cy="512064"/>
          </a:xfrm>
          <a:prstGeom prst="roundRect">
            <a:avLst>
              <a:gd name="adj" fmla="val 21428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4" name="Oval 17433"/>
          <p:cNvSpPr/>
          <p:nvPr/>
        </p:nvSpPr>
        <p:spPr>
          <a:xfrm>
            <a:off x="384048" y="3703320"/>
            <a:ext cx="384048" cy="38404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5" name="Picture 17434" descr="LuDatabase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8538" y="3787810"/>
            <a:ext cx="215066" cy="215066"/>
          </a:xfrm>
          <a:prstGeom prst="rect">
            <a:avLst/>
          </a:prstGeom>
        </p:spPr>
      </p:pic>
      <p:sp>
        <p:nvSpPr>
          <p:cNvPr id="17436" name="TextBox 17435"/>
          <p:cNvSpPr txBox="1"/>
          <p:nvPr/>
        </p:nvSpPr>
        <p:spPr>
          <a:xfrm>
            <a:off x="841248" y="3639312"/>
            <a:ext cx="2697480" cy="512064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100" b="0" i="0">
                <a:solidFill>
                  <a:srgbClr val="1A1A1A"/>
                </a:solidFill>
                <a:latin typeface="Arial"/>
              </a:rPr>
              <a:t>AICTE asks for APAAR-linked records on NAD / ABC</a:t>
            </a:r>
          </a:p>
        </p:txBody>
      </p:sp>
      <p:cxnSp>
        <p:nvCxnSpPr>
          <p:cNvPr id="17437" name="Connector 17436"/>
          <p:cNvCxnSpPr/>
          <p:nvPr/>
        </p:nvCxnSpPr>
        <p:spPr>
          <a:xfrm>
            <a:off x="3611880" y="3895344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8" name="Rounded Rectangle 17437"/>
          <p:cNvSpPr/>
          <p:nvPr/>
        </p:nvSpPr>
        <p:spPr>
          <a:xfrm>
            <a:off x="3931920" y="3639312"/>
            <a:ext cx="2606040" cy="512064"/>
          </a:xfrm>
          <a:prstGeom prst="roundRect">
            <a:avLst>
              <a:gd name="adj" fmla="val 21428"/>
            </a:avLst>
          </a:prstGeom>
          <a:solidFill>
            <a:srgbClr val="E8F5EC"/>
          </a:solidFill>
          <a:ln w="9525">
            <a:solidFill>
              <a:srgbClr val="BFE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9" name="TextBox 17438"/>
          <p:cNvSpPr txBox="1"/>
          <p:nvPr/>
        </p:nvSpPr>
        <p:spPr>
          <a:xfrm>
            <a:off x="3995928" y="3639312"/>
            <a:ext cx="2514600" cy="512064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100" b="0" i="0">
                <a:solidFill>
                  <a:srgbClr val="1A1A1A"/>
                </a:solidFill>
                <a:latin typeface="Arial"/>
              </a:rPr>
              <a:t>Feed NAD / ABC, not a parallel silo</a:t>
            </a:r>
          </a:p>
        </p:txBody>
      </p:sp>
      <p:sp>
        <p:nvSpPr>
          <p:cNvPr id="17440" name="Rounded Rectangle 17439"/>
          <p:cNvSpPr/>
          <p:nvPr/>
        </p:nvSpPr>
        <p:spPr>
          <a:xfrm>
            <a:off x="320040" y="4242816"/>
            <a:ext cx="3246120" cy="512064"/>
          </a:xfrm>
          <a:prstGeom prst="roundRect">
            <a:avLst>
              <a:gd name="adj" fmla="val 21428"/>
            </a:avLst>
          </a:prstGeom>
          <a:solidFill>
            <a:srgbClr val="EEF3FA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1" name="Oval 17440"/>
          <p:cNvSpPr/>
          <p:nvPr/>
        </p:nvSpPr>
        <p:spPr>
          <a:xfrm>
            <a:off x="384048" y="4306824"/>
            <a:ext cx="384048" cy="38404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2" name="Picture 17441" descr="LuGauge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8538" y="4391314"/>
            <a:ext cx="215066" cy="215066"/>
          </a:xfrm>
          <a:prstGeom prst="rect">
            <a:avLst/>
          </a:prstGeom>
        </p:spPr>
      </p:pic>
      <p:sp>
        <p:nvSpPr>
          <p:cNvPr id="17443" name="TextBox 17442"/>
          <p:cNvSpPr txBox="1"/>
          <p:nvPr/>
        </p:nvSpPr>
        <p:spPr>
          <a:xfrm>
            <a:off x="841248" y="4242816"/>
            <a:ext cx="2697480" cy="512064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100" b="0" i="0">
                <a:solidFill>
                  <a:srgbClr val="1A1A1A"/>
                </a:solidFill>
                <a:latin typeface="Arial"/>
              </a:rPr>
              <a:t>APH sets supernumerary quotas</a:t>
            </a:r>
          </a:p>
        </p:txBody>
      </p:sp>
      <p:cxnSp>
        <p:nvCxnSpPr>
          <p:cNvPr id="17444" name="Connector 17443"/>
          <p:cNvCxnSpPr/>
          <p:nvPr/>
        </p:nvCxnSpPr>
        <p:spPr>
          <a:xfrm>
            <a:off x="3611880" y="449884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5" name="Rounded Rectangle 17444"/>
          <p:cNvSpPr/>
          <p:nvPr/>
        </p:nvSpPr>
        <p:spPr>
          <a:xfrm>
            <a:off x="3931920" y="4242816"/>
            <a:ext cx="2606040" cy="512064"/>
          </a:xfrm>
          <a:prstGeom prst="roundRect">
            <a:avLst>
              <a:gd name="adj" fmla="val 21428"/>
            </a:avLst>
          </a:prstGeom>
          <a:solidFill>
            <a:srgbClr val="E8F5EC"/>
          </a:solidFill>
          <a:ln w="9525">
            <a:solidFill>
              <a:srgbClr val="BFE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6" name="TextBox 17445"/>
          <p:cNvSpPr txBox="1"/>
          <p:nvPr/>
        </p:nvSpPr>
        <p:spPr>
          <a:xfrm>
            <a:off x="3995928" y="4242816"/>
            <a:ext cx="2514600" cy="512064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100" b="0" i="0">
                <a:solidFill>
                  <a:srgbClr val="1A1A1A"/>
                </a:solidFill>
                <a:latin typeface="Arial"/>
              </a:rPr>
              <a:t>Quota caps are configuration, versioned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6812280" y="1481328"/>
            <a:ext cx="5029200" cy="2743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 i="0">
                <a:solidFill>
                  <a:srgbClr val="1F3864"/>
                </a:solidFill>
                <a:latin typeface="Arial"/>
              </a:rPr>
              <a:t>References</a:t>
            </a:r>
          </a:p>
        </p:txBody>
      </p:sp>
      <p:sp>
        <p:nvSpPr>
          <p:cNvPr id="17448" name="TextBox 17447"/>
          <p:cNvSpPr txBox="1"/>
          <p:nvPr/>
        </p:nvSpPr>
        <p:spPr>
          <a:xfrm>
            <a:off x="6812280" y="1783080"/>
            <a:ext cx="5056632" cy="30175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1. AICTE PS SIH26263, SIH 2026 portal  </a:t>
            </a:r>
            <a:r>
              <a:rPr sz="1000" b="0" i="0">
                <a:solidFill>
                  <a:srgbClr val="0070C0"/>
                </a:solidFill>
                <a:latin typeface="Arial"/>
              </a:rPr>
              <a:t>sih.gov.in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2. AICTE Approval Process Handbook 2024-27  </a:t>
            </a:r>
            <a:r>
              <a:rPr sz="1000" b="0" i="0">
                <a:solidFill>
                  <a:srgbClr val="0070C0"/>
                </a:solidFill>
                <a:latin typeface="Arial"/>
              </a:rPr>
              <a:t>aicte.gov.in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3. APAAR / Academic Bank of Credits  </a:t>
            </a:r>
            <a:r>
              <a:rPr sz="1000" b="0" i="0">
                <a:solidFill>
                  <a:srgbClr val="0070C0"/>
                </a:solidFill>
                <a:latin typeface="Arial"/>
              </a:rPr>
              <a:t>abc.gov.in · digilocker.gov.in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4. DigiLocker Requester &amp; Issuer APIs  </a:t>
            </a:r>
            <a:r>
              <a:rPr sz="1000" b="0" i="0">
                <a:solidFill>
                  <a:srgbClr val="0070C0"/>
                </a:solidFill>
                <a:latin typeface="Arial"/>
              </a:rPr>
              <a:t>apisetu.gov.in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5. Digital Personal Data Protection Act 2023; DPDP Rules 2025  </a:t>
            </a:r>
            <a:r>
              <a:rPr sz="1000" b="0" i="0">
                <a:solidFill>
                  <a:srgbClr val="0070C0"/>
                </a:solidFill>
                <a:latin typeface="Arial"/>
              </a:rPr>
              <a:t>meity.gov.in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6. W3C Verifiable Credentials Data Model; RFC 8032 (Ed25519)  </a:t>
            </a:r>
            <a:r>
              <a:rPr sz="1000" b="0" i="0">
                <a:solidFill>
                  <a:srgbClr val="0070C0"/>
                </a:solidFill>
                <a:latin typeface="Arial"/>
              </a:rPr>
              <a:t>w3.org/TR/vc-data-model · rfc-editor.org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7. Liu, Ting &amp; Zhou (2008) Isolation Forest, IEEE ICDM  </a:t>
            </a:r>
            <a:r>
              <a:rPr sz="1000" b="0" i="0">
                <a:solidFill>
                  <a:srgbClr val="0070C0"/>
                </a:solidFill>
                <a:latin typeface="Arial"/>
              </a:rPr>
              <a:t>doi.org/10.1109/ICDM.2008.17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8. Fellegi &amp; Sunter (1969) A Theory for Record Linkage, JASA  </a:t>
            </a:r>
            <a:r>
              <a:rPr sz="1000" b="0" i="0">
                <a:solidFill>
                  <a:srgbClr val="0070C0"/>
                </a:solidFill>
                <a:latin typeface="Arial"/>
              </a:rPr>
              <a:t>doi.org/10.1080/01621459.1969.10501049</a:t>
            </a:r>
          </a:p>
        </p:txBody>
      </p:sp>
      <p:sp>
        <p:nvSpPr>
          <p:cNvPr id="17449" name="Rounded Rectangle 17448"/>
          <p:cNvSpPr/>
          <p:nvPr/>
        </p:nvSpPr>
        <p:spPr>
          <a:xfrm>
            <a:off x="320040" y="4983480"/>
            <a:ext cx="11548872" cy="1261872"/>
          </a:xfrm>
          <a:prstGeom prst="roundRect">
            <a:avLst>
              <a:gd name="adj" fmla="val 8695"/>
            </a:avLst>
          </a:prstGeom>
          <a:solidFill>
            <a:srgbClr val="FDF1E6"/>
          </a:solidFill>
          <a:ln w="9525">
            <a:solidFill>
              <a:srgbClr val="E46C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0" name="Picture 17449" descr="qr_rep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5074920"/>
            <a:ext cx="1078992" cy="1078992"/>
          </a:xfrm>
          <a:prstGeom prst="rect">
            <a:avLst/>
          </a:prstGeom>
        </p:spPr>
      </p:pic>
      <p:sp>
        <p:nvSpPr>
          <p:cNvPr id="17451" name="TextBox 17450"/>
          <p:cNvSpPr txBox="1"/>
          <p:nvPr/>
        </p:nvSpPr>
        <p:spPr>
          <a:xfrm>
            <a:off x="1664208" y="5093208"/>
            <a:ext cx="4389120" cy="1042415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 i="0">
                <a:solidFill>
                  <a:srgbClr val="E46C0A"/>
                </a:solidFill>
                <a:latin typeface="Arial"/>
              </a:rPr>
              <a:t>Source code &amp; tests</a:t>
            </a:r>
          </a:p>
          <a:p>
            <a:pPr algn="l"/>
            <a:r>
              <a:rPr sz="1200" b="0" i="0">
                <a:solidFill>
                  <a:srgbClr val="0070C0"/>
                </a:solidFill>
                <a:latin typeface="Arial"/>
              </a:rPr>
              <a:t>https://github.com/Pulkitkh/AI_Riders_</a:t>
            </a:r>
          </a:p>
          <a:p>
            <a:pPr algn="l"/>
            <a:r>
              <a:rPr sz="1050" b="0" i="0">
                <a:solidFill>
                  <a:srgbClr val="595959"/>
                </a:solidFill>
                <a:latin typeface="Arial"/>
              </a:rPr>
              <a:t>25 API tests + browser walkthrough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